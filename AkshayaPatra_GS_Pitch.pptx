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5331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Proven pathway out of poverty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86868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1737360"/>
            <a:ext cx="7589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53312" y="1737360"/>
            <a:ext cx="3054096" cy="1005840"/>
          </a:xfrm>
          <a:prstGeom prst="roundRect">
            <a:avLst>
              <a:gd name="adj" fmla="val 10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801368"/>
            <a:ext cx="28529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0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52928"/>
            <a:ext cx="4041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B3E6E"/>
                </a:solidFill>
                <a:latin typeface="Arial"/>
              </a:rPr>
              <a:t>Beneficiary outcomes [dummy]: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+18% enrolment &amp; +12% attendance after programme entry  ·  </a:t>
            </a:r>
            <a:r>
              <a:rPr sz="760" b="1" i="0">
                <a:solidFill>
                  <a:srgbClr val="333333"/>
                </a:solidFill>
                <a:latin typeface="Arial"/>
              </a:rPr>
              <a:t>92% secondary completion</a:t>
            </a:r>
            <a:r>
              <a:rPr sz="760" b="0" i="0">
                <a:solidFill>
                  <a:srgbClr val="333333"/>
                </a:solidFill>
                <a:latin typeface="Arial"/>
              </a:rPr>
              <a:t> vs 74% national avg  ·  alumni across banking, engineering, civil services &amp; medicine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47872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520440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Recognition &amp; acknowledgements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86200"/>
            <a:ext cx="40416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Padma Shri (2016)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Chairman Madhu Pandit Dasa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World's largest NGO school-lunch programme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global record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4-billionth meal</a:t>
            </a:r>
            <a:r>
              <a:rPr sz="760" b="0" i="0">
                <a:solidFill>
                  <a:srgbClr val="333333"/>
                </a:solidFill>
                <a:latin typeface="Arial"/>
              </a:rPr>
              <a:t> milestone celebrated with Hon'ble PM of India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UK PM Rishi Sunak's kitchen visit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lauded hygiene &amp;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92040"/>
            <a:ext cx="54864" cy="18288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8646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Trusted by leading corporates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389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8511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3376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1263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6127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4015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79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6767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51631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79519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34383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42432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+ 200 corporate &amp; institutional donors [replace with logos]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135331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162763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681727" y="1810512"/>
            <a:ext cx="969264" cy="841248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7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43" name="Plus 42"/>
          <p:cNvSpPr/>
          <p:nvPr/>
        </p:nvSpPr>
        <p:spPr>
          <a:xfrm>
            <a:off x="5760720" y="2112264"/>
            <a:ext cx="237744" cy="237744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08192" y="1810512"/>
            <a:ext cx="969264" cy="841248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46" name="Equal 45"/>
          <p:cNvSpPr/>
          <p:nvPr/>
        </p:nvSpPr>
        <p:spPr>
          <a:xfrm>
            <a:off x="7187184" y="2112264"/>
            <a:ext cx="237744" cy="237744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34656" y="1810512"/>
            <a:ext cx="969264" cy="841248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34656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2724912"/>
            <a:ext cx="4187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One-time capital → permanent capability → recurring savings → more children in school, every year after Year 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90288" y="2971800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36592" y="294436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90288" y="321868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0288" y="3310128"/>
            <a:ext cx="418795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1 · Structural, not sustenance: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2 · Plays to GS DNA: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forecasting, optimisation &amp; risk controls — GS engineering can mentor the build pro bono.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3 · Measurable ROI: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$310k/yr audited savings; KPI dashboard shared quarterly with GS.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4 · Scalable blueprint: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90288" y="485546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482803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ask &amp; next steps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90288" y="510235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0288" y="5193792"/>
            <a:ext cx="41879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The ask: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$250,000 over 12 months in milestone-based tranches; joint GS–AP steering committee &amp; quarterly KPI reviews.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98025"/>
                </a:solidFill>
                <a:latin typeface="Arial"/>
              </a:rPr>
              <a:t>Month 12: </a:t>
            </a:r>
            <a:r>
              <a:rPr sz="750" b="1" i="0">
                <a:solidFill>
                  <a:srgbClr val="333333"/>
                </a:solidFill>
                <a:latin typeface="Arial"/>
              </a:rPr>
              <a:t>both platforms live in all 68 kitchens — the savings flywheel spinning on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A — diagram-led, symmetric</a:t>
            </a:r>
          </a:p>
        </p:txBody>
      </p:sp>
      <p:sp>
        <p:nvSpPr>
          <p:cNvPr id="10" name="Oval 9"/>
          <p:cNvSpPr/>
          <p:nvPr/>
        </p:nvSpPr>
        <p:spPr>
          <a:xfrm>
            <a:off x="2231136" y="1389888"/>
            <a:ext cx="1207008" cy="950976"/>
          </a:xfrm>
          <a:prstGeom prst="ellipse">
            <a:avLst/>
          </a:prstGeom>
          <a:solidFill>
            <a:srgbClr val="EEF3F9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113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12" name="Plus 11"/>
          <p:cNvSpPr/>
          <p:nvPr/>
        </p:nvSpPr>
        <p:spPr>
          <a:xfrm>
            <a:off x="3566160" y="1746504"/>
            <a:ext cx="274320" cy="237744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68496" y="1389888"/>
            <a:ext cx="1207008" cy="950976"/>
          </a:xfrm>
          <a:prstGeom prst="ellipse">
            <a:avLst/>
          </a:prstGeom>
          <a:solidFill>
            <a:srgbClr val="FDF6E0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15" name="Equal 14"/>
          <p:cNvSpPr/>
          <p:nvPr/>
        </p:nvSpPr>
        <p:spPr>
          <a:xfrm>
            <a:off x="5303520" y="1746504"/>
            <a:ext cx="274320" cy="237744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05856" y="1389888"/>
            <a:ext cx="1207008" cy="950976"/>
          </a:xfrm>
          <a:prstGeom prst="ellipse">
            <a:avLst/>
          </a:prstGeom>
          <a:solidFill>
            <a:srgbClr val="EAF3E6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4140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34640"/>
            <a:ext cx="8412480" cy="148132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834640"/>
            <a:ext cx="8412480" cy="41148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GOLDMAN SACHS GRANT STANDS OUT 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1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Structural, not sustenance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39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Plays to GS DNA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Measurable ROI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4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Scalable blueprint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3712" y="4572000"/>
            <a:ext cx="10972" cy="13258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53712"/>
            <a:ext cx="39776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5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98025"/>
                </a:solidFill>
                <a:latin typeface="Arial"/>
              </a:rPr>
              <a:t>92% secondary-school completion </a:t>
            </a:r>
            <a:r>
              <a:rPr sz="750" b="0" i="0">
                <a:solidFill>
                  <a:srgbClr val="727375"/>
                </a:solidFill>
                <a:latin typeface="Arial"/>
              </a:rPr>
              <a:t>among beneficiaries vs 74% national avg [dummy]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553712"/>
            <a:ext cx="39776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Recognised &amp; trusted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Padma Shri (2016) — Chairman Madhu Pandit Dasa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World's largest NGO school-lunch programme — global record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4-billionth meal celebrated with Hon'ble PM of India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Partners: </a:t>
            </a:r>
            <a:r>
              <a:rPr sz="720" b="0" i="0">
                <a:solidFill>
                  <a:srgbClr val="727375"/>
                </a:solidFill>
                <a:latin typeface="Arial"/>
              </a:rPr>
              <a:t>Infosys Foundation · TCS · HDFC · Amazon · Airbus · SBI + 200 more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B — typographic, ranked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31136"/>
            <a:ext cx="0" cy="274320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2596896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46703"/>
            <a:ext cx="0" cy="274321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3712463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4462272"/>
            <a:ext cx="0" cy="274320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4828031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1463040"/>
            <a:ext cx="10972" cy="44348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54680" y="1444752"/>
            <a:ext cx="310896" cy="310896"/>
          </a:xfrm>
          <a:prstGeom prst="ellipse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145846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1408176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Structural, not sustenance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21" name="Oval 20"/>
          <p:cNvSpPr/>
          <p:nvPr/>
        </p:nvSpPr>
        <p:spPr>
          <a:xfrm>
            <a:off x="3154680" y="2048256"/>
            <a:ext cx="310896" cy="310896"/>
          </a:xfrm>
          <a:prstGeom prst="ellipse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20619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3592" y="2011680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Plays to GS DNA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24" name="Oval 23"/>
          <p:cNvSpPr/>
          <p:nvPr/>
        </p:nvSpPr>
        <p:spPr>
          <a:xfrm>
            <a:off x="3154680" y="2651760"/>
            <a:ext cx="310896" cy="310896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266547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93592" y="2615184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Measurable ROI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27" name="Oval 26"/>
          <p:cNvSpPr/>
          <p:nvPr/>
        </p:nvSpPr>
        <p:spPr>
          <a:xfrm>
            <a:off x="3154680" y="3255264"/>
            <a:ext cx="310896" cy="310896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54680" y="326898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3592" y="3218688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Scalable blueprint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3950208"/>
            <a:ext cx="56235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A typical $250k grant  vs  this proposal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4498848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4242816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Feeds children for ~1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6460" y="4242816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Feeds 105,000 more children — every year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4828032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4572000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Impact ends when funds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6460" y="4572000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Savings outlive the cheque: 1.24x returned / 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5157216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80" y="4901184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Comes back for renewal next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460" y="4901184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Self-funding flywheel from month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5266944"/>
            <a:ext cx="5623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3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0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C — timeline narrative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2697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Two decades of delivery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Padma Shri (2016) — Chairman Madhu Pandit Dasa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World's largest NGO school-lunch programme — global record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4-billionth meal celebrated with Hon'ble PM of India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333333"/>
                </a:solidFill>
                <a:latin typeface="Arial"/>
              </a:rPr>
              <a:t>“…I manage portfolios instead of an empty stomach.” </a:t>
            </a:r>
            <a:r>
              <a:rPr sz="700" b="1" i="1">
                <a:solidFill>
                  <a:srgbClr val="727375"/>
                </a:solidFill>
                <a:latin typeface="Arial"/>
              </a:rPr>
              <a:t>— Krishna Kumar, AVP HSBC, beneficiary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697480" cy="1847088"/>
          </a:xfrm>
          <a:prstGeom prst="roundRect">
            <a:avLst>
              <a:gd name="adj" fmla="val 6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2424" y="1536192"/>
            <a:ext cx="2404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$250,000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over 12 months · milestone-based tranches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Joint GS–AP steering committee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Quarterly KPI reviews with 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Independent waste &amp; delivery audits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GS volunteering &amp; engineering mentorship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417320"/>
            <a:ext cx="2697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What compounds after Year 1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$310k/yr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audited savings — every year, in perpetuity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+105,000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children fed annually at zero extra donor cost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~70% </a:t>
            </a:r>
            <a:r>
              <a:rPr sz="740" b="0" i="0">
                <a:solidFill>
                  <a:srgbClr val="333333"/>
                </a:solidFill>
                <a:latin typeface="Arial"/>
              </a:rPr>
              <a:t>less food waste; 99%+ on-time delivery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Blueprint </a:t>
            </a:r>
            <a:r>
              <a:rPr sz="740" b="0" i="0">
                <a:solidFill>
                  <a:srgbClr val="333333"/>
                </a:solidFill>
                <a:latin typeface="Arial"/>
              </a:rPr>
              <a:t>extends to school-feeding programmes across South Asia &amp; Africa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5760" y="3456432"/>
            <a:ext cx="8412480" cy="310896"/>
          </a:xfrm>
          <a:prstGeom prst="rightArrow">
            <a:avLst>
              <a:gd name="adj1" fmla="val 55000"/>
              <a:gd name="adj2" fmla="val 45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08A1E"/>
                </a:solidFill>
                <a:latin typeface="Arial"/>
              </a:rPr>
              <a:t>PROVEN PAST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ASK —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COMPOUNDING FUTURE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9692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grant signed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2188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5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4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pilot live in 3 kitchens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4684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12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both platforms in all 68 kitchens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7180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58968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Yr 2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flywheel self-funding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9676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41464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Yr 3+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blueprint scales abroad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36592"/>
            <a:ext cx="8412480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GS stands out: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structural fix, not sustenance  ·  plays to GS forecasting &amp; optimisation DNA  ·  $310k/yr measurable ROI  ·  a blueprint the firm can scale globally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13248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1">
                <a:solidFill>
                  <a:srgbClr val="727375"/>
                </a:solidFill>
                <a:latin typeface="Arial"/>
              </a:rPr>
              <a:t>In the company of: </a:t>
            </a:r>
            <a:r>
              <a:rPr sz="720" b="0" i="1">
                <a:solidFill>
                  <a:srgbClr val="727375"/>
                </a:solidFill>
                <a:latin typeface="Arial"/>
              </a:rPr>
              <a:t>Infosys Foundation · TCS · HDFC Bank · Amazon · Airbus · SBI Foundation + 200 corporate donors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D — sidebar emphasis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331720" cy="457200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36192"/>
            <a:ext cx="2002536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3C43F"/>
                </a:solidFill>
                <a:latin typeface="Arial"/>
              </a:rPr>
              <a:t>THE ASK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$250,000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over 12 months, in milestone-based tranches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Joint GS–AP steering committee  ·  quarterly KPI reviews  ·  independent waste &amp; delivery audits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3C43F"/>
                </a:solidFill>
                <a:latin typeface="Arial"/>
              </a:rPr>
              <a:t>WHAT IT RETURNS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$310k / yr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audited savings, every year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+105,000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children fed annually, zero extra cost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&lt; 10 months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payback on the full grant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389888"/>
            <a:ext cx="5669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Why Goldman Sachs — and only Goldman Sachs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682496"/>
            <a:ext cx="5669279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792224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67712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43200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218688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3803904"/>
            <a:ext cx="73152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63824" y="3803904"/>
            <a:ext cx="6217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822191"/>
            <a:ext cx="48005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2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4809744"/>
            <a:ext cx="5669279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882896"/>
            <a:ext cx="5669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Recognition:  </a:t>
            </a:r>
            <a:r>
              <a:rPr sz="720" b="0" i="0">
                <a:solidFill>
                  <a:srgbClr val="333333"/>
                </a:solidFill>
                <a:latin typeface="Arial"/>
              </a:rPr>
              <a:t>Padma Shri (2016) · world's largest school-lunch programme · 4-billionth meal with Hon'ble PM · UK PM Sunak's kitchen visit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3824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2984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7847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7008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1871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71031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5895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5055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9919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79079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3943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