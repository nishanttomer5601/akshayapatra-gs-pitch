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Meals/day (M)</c:v>
                </c:pt>
              </c:strCache>
            </c:strRef>
          </c:tx>
          <c:spPr>
            <a:ln w="28575">
              <a:solidFill>
                <a:srgbClr val="1B3E6E"/>
              </a:solidFill>
            </a:ln>
          </c:spPr>
          <c:cat>
            <c:strRef>
              <c:f>Sheet1!$A$2:$A$8</c:f>
              <c:strCache>
                <c:ptCount val="7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2023</c:v>
                </c:pt>
                <c:pt idx="6">
                  <c:v>2026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0.001</c:v>
                </c:pt>
                <c:pt idx="1">
                  <c:v>0.33</c:v>
                </c:pt>
                <c:pt idx="2">
                  <c:v>1.2</c:v>
                </c:pt>
                <c:pt idx="3">
                  <c:v>1.44</c:v>
                </c:pt>
                <c:pt idx="4">
                  <c:v>1.8</c:v>
                </c:pt>
                <c:pt idx="5">
                  <c:v>2.0</c:v>
                </c:pt>
                <c:pt idx="6">
                  <c:v>2.3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75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70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Waste %</c:v>
                </c:pt>
              </c:strCache>
            </c:strRef>
          </c:tx>
          <c:spPr>
            <a:solidFill>
              <a:srgbClr val="C2231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Today</c:v>
                </c:pt>
                <c:pt idx="1">
                  <c:v>Yr 1</c:v>
                </c:pt>
                <c:pt idx="2">
                  <c:v>Yr 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9.0</c:v>
                </c:pt>
                <c:pt idx="1">
                  <c:v>4.5</c:v>
                </c:pt>
                <c:pt idx="2">
                  <c:v>2.7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 b="1">
                  <a:solidFill>
                    <a:srgbClr val="1B3E6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70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1B3E6E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297C5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A6428C"/>
              </a:solidFill>
              <a:ln w="127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F3C43F"/>
              </a:solidFill>
              <a:ln w="1270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727375"/>
              </a:solidFill>
              <a:ln w="12700">
                <a:solidFill>
                  <a:srgbClr val="FFFFFF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Platform $60k</c:v>
                </c:pt>
                <c:pt idx="1">
                  <c:v>Data infra $30k</c:v>
                </c:pt>
                <c:pt idx="2">
                  <c:v>Team $25k</c:v>
                </c:pt>
                <c:pt idx="3">
                  <c:v>ERP integr. $20k</c:v>
                </c:pt>
                <c:pt idx="4">
                  <c:v>Conting. $15k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30</c:v>
                </c:pt>
                <c:pt idx="2">
                  <c:v>25</c:v>
                </c:pt>
                <c:pt idx="3">
                  <c:v>20</c:v>
                </c:pt>
                <c:pt idx="4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750"/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333333"/>
          </a:solidFill>
          <a:latin typeface="Arial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$k/yr</c:v>
                </c:pt>
              </c:strCache>
            </c:strRef>
          </c:tx>
          <c:spPr>
            <a:solidFill>
              <a:srgbClr val="398025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Waste</c:v>
                </c:pt>
                <c:pt idx="1">
                  <c:v>Buying</c:v>
                </c:pt>
                <c:pt idx="2">
                  <c:v>Wkg cap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120</c:v>
                </c:pt>
                <c:pt idx="1">
                  <c:v>85</c:v>
                </c:pt>
                <c:pt idx="2">
                  <c:v>25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 b="1">
                  <a:solidFill>
                    <a:srgbClr val="1B3E6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68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398025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095F61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1B3E6E"/>
              </a:solidFill>
              <a:ln w="127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F3C43F"/>
              </a:solidFill>
              <a:ln w="1270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727375"/>
              </a:solidFill>
              <a:ln w="12700">
                <a:solidFill>
                  <a:srgbClr val="FFFFFF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Routing sw $35k</c:v>
                </c:pt>
                <c:pt idx="1">
                  <c:v>Telematics $30k</c:v>
                </c:pt>
                <c:pt idx="2">
                  <c:v>Smart locks $20k</c:v>
                </c:pt>
                <c:pt idx="3">
                  <c:v>RFID $10k</c:v>
                </c:pt>
                <c:pt idx="4">
                  <c:v>Ops $5k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</c:v>
                </c:pt>
                <c:pt idx="1">
                  <c:v>30</c:v>
                </c:pt>
                <c:pt idx="2">
                  <c:v>20</c:v>
                </c:pt>
                <c:pt idx="3">
                  <c:v>10</c:v>
                </c:pt>
                <c:pt idx="4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750"/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333333"/>
          </a:solidFill>
          <a:latin typeface="Arial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$k/yr</c:v>
                </c:pt>
              </c:strCache>
            </c:strRef>
          </c:tx>
          <c:spPr>
            <a:solidFill>
              <a:srgbClr val="398025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Fuel</c:v>
                </c:pt>
                <c:pt idx="1">
                  <c:v>Vessels</c:v>
                </c:pt>
                <c:pt idx="2">
                  <c:v>Food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</c:v>
                </c:pt>
                <c:pt idx="1">
                  <c:v>20</c:v>
                </c:pt>
                <c:pt idx="2">
                  <c:v>15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 b="1">
                  <a:solidFill>
                    <a:srgbClr val="1B3E6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68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Who is The Akshaya Patra Foundation?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The world's largest NGO-run school meal programme — serving 2.3 million children every school day, so that hunger never interrupts education.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“No child shall be deprived of education because of hunger” — at a scale no other NGO matches.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98448"/>
            <a:ext cx="8412480" cy="73152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1380744"/>
            <a:ext cx="896112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380744"/>
            <a:ext cx="78638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AKSHAYA PATRA
logo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1298448"/>
            <a:ext cx="716889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Over 1 in 3 children in India show signs of undernourishment</a:t>
            </a:r>
            <a:r>
              <a:rPr sz="800" b="0" i="0">
                <a:solidFill>
                  <a:srgbClr val="FFFFFF"/>
                </a:solidFill>
                <a:latin typeface="Arial"/>
              </a:rPr>
              <a:t> — and hunger is a leading reason children drop out of school. Founded in 2000 in Bengaluru with </a:t>
            </a:r>
            <a:r>
              <a:rPr sz="800" b="1" i="0">
                <a:solidFill>
                  <a:srgbClr val="FFFFFF"/>
                </a:solidFill>
                <a:latin typeface="Arial"/>
              </a:rPr>
              <a:t>1,500 children across 5 schools</a:t>
            </a:r>
            <a:r>
              <a:rPr sz="800" b="0" i="0">
                <a:solidFill>
                  <a:srgbClr val="FFFFFF"/>
                </a:solidFill>
                <a:latin typeface="Arial"/>
              </a:rPr>
              <a:t>, Akshaya Patra now runs the world's largest NGO-operated mid-day meal programme — a PPP with the Government of India that has served </a:t>
            </a:r>
            <a:r>
              <a:rPr sz="800" b="1" i="0">
                <a:solidFill>
                  <a:srgbClr val="FFFFFF"/>
                </a:solidFill>
                <a:latin typeface="Arial"/>
              </a:rPr>
              <a:t>4+ billion cumulative meals.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61688" y="2212848"/>
            <a:ext cx="10972" cy="368503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203703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176272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Who they are &amp; why we chose them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50591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542032"/>
            <a:ext cx="4041648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Mission: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eliminate classroom hunger by implementing the Mid-Day Meal Scheme in government schools while fighting child malnutrition across India.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Why Akshaya Patra: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our on-ground kitchen inspections and supply-chain review found world-class production — and </a:t>
            </a:r>
            <a:r>
              <a:rPr sz="800" b="1" i="0">
                <a:solidFill>
                  <a:srgbClr val="333333"/>
                </a:solidFill>
                <a:latin typeface="Arial"/>
              </a:rPr>
              <a:t>two clearly identified, fixable gaps</a:t>
            </a:r>
            <a:r>
              <a:rPr sz="800" b="0" i="0">
                <a:solidFill>
                  <a:srgbClr val="333333"/>
                </a:solidFill>
                <a:latin typeface="Arial"/>
              </a:rPr>
              <a:t> where $250k unlocks compounding, year-on-year impact rather than one-off sustenance.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25+ yrs of proven delivery   ✓ Govt-audited PPP   ✓ Tech-forward leadership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977640"/>
            <a:ext cx="54864" cy="182880"/>
          </a:xfrm>
          <a:prstGeom prst="rect">
            <a:avLst/>
          </a:prstGeom>
          <a:solidFill>
            <a:srgbClr val="7297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950208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journey — daily meals served (millions)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224528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365760" y="4334256"/>
          <a:ext cx="4041648" cy="12984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365760" y="5687568"/>
            <a:ext cx="4041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3333"/>
                </a:solidFill>
                <a:latin typeface="Arial"/>
              </a:rPr>
              <a:t>2012: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1 billionth meal   ·   </a:t>
            </a:r>
            <a:r>
              <a:rPr sz="680" b="1" i="0">
                <a:solidFill>
                  <a:srgbClr val="333333"/>
                </a:solidFill>
                <a:latin typeface="Arial"/>
              </a:rPr>
              <a:t>2019: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3 billionth served by Hon'ble PM   ·   </a:t>
            </a:r>
            <a:r>
              <a:rPr sz="680" b="1" i="0">
                <a:solidFill>
                  <a:srgbClr val="333333"/>
                </a:solidFill>
                <a:latin typeface="Arial"/>
              </a:rPr>
              <a:t>2024: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4 billion meals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90288" y="2203703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36592" y="2176272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What they do — the hub-and-spoke model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90288" y="2450591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0288" y="2542032"/>
            <a:ext cx="418795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Centralised mega-kitchens </a:t>
            </a:r>
            <a:r>
              <a:rPr sz="780" b="0" i="0">
                <a:solidFill>
                  <a:srgbClr val="333333"/>
                </a:solidFill>
                <a:latin typeface="Arial"/>
              </a:rPr>
              <a:t>cook up to 100,000 meals each before 6 AM daily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Hub-and-spoke delivery </a:t>
            </a:r>
            <a:r>
              <a:rPr sz="780" b="0" i="0">
                <a:solidFill>
                  <a:srgbClr val="333333"/>
                </a:solidFill>
                <a:latin typeface="Arial"/>
              </a:rPr>
              <a:t>of hot, locally-adapted menus to school doorsteps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PPP funding </a:t>
            </a:r>
            <a:r>
              <a:rPr sz="780" b="0" i="0">
                <a:solidFill>
                  <a:srgbClr val="333333"/>
                </a:solidFill>
                <a:latin typeface="Arial"/>
              </a:rPr>
              <a:t>— govt subsidies + philanthropy; every $ leveraged ~3x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Beyond food: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scholarships, anganwadi feeding, disaster-relief kitchens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90288" y="3630168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36592" y="3602736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Scale at a glance (FY26)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90288" y="3877056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90288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2.3M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meals served
every day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37275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68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mega-kitchens
across India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84264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16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states &amp;
2 UTs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31252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24,000+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govt schools
served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90288" y="4709160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36592" y="4681728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Aligned to UN SDGs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90288" y="4956048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90288" y="5084064"/>
            <a:ext cx="585216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45151" y="5084064"/>
            <a:ext cx="47548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SDG 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Zero Hunger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48655" y="5084064"/>
            <a:ext cx="585216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19" y="5084064"/>
            <a:ext cx="47548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SDG 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Quality Educ.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07023" y="5084064"/>
            <a:ext cx="585216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61887" y="5084064"/>
            <a:ext cx="47548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SDG 17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Partners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75119" y="5084064"/>
            <a:ext cx="210312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29983" y="5084064"/>
            <a:ext cx="1993392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📷 PHOTO: children at mid-day meal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A world-class supply chain — with two blind spots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We walked their kitchens, interviewed staff and mapped the end-to-end flow: production is best-in-class; the gaps sit at the first and last mile.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A Formula-1 production line — fed by guesswork, delivered on hand-drawn maps. That is where we intervene.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8412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727375"/>
                </a:solidFill>
                <a:latin typeface="Arial"/>
              </a:rPr>
              <a:t>Our diligence: 2 kitchen visits  •  12 staff interviews  •  procurement &amp; route data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591056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398025"/>
                </a:solidFill>
                <a:latin typeface="Arial"/>
              </a:rPr>
              <a:t>✓ Audited &amp; certified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FSSAI-licensed, ISO 22000-certified kitchens; govt &amp; third-party audits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591056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398025"/>
                </a:solidFill>
                <a:latin typeface="Arial"/>
              </a:rPr>
              <a:t>✓ Global recognition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UK PM Rishi Sunak toured the Bengaluru kitchen — praised hygiene &amp; automation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591056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398025"/>
                </a:solidFill>
                <a:latin typeface="Arial"/>
              </a:rPr>
              <a:t>✓ Our on-ground audit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Gravity-flow cooking, 2-hr batch cycles, near-zero contamination risk</a:t>
            </a:r>
          </a:p>
        </p:txBody>
      </p:sp>
      <p:sp>
        <p:nvSpPr>
          <p:cNvPr id="13" name="Chevron 12"/>
          <p:cNvSpPr/>
          <p:nvPr/>
        </p:nvSpPr>
        <p:spPr>
          <a:xfrm>
            <a:off x="365760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FBECEA"/>
          </a:solidFill>
          <a:ln w="19050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C22310"/>
                </a:solidFill>
                <a:latin typeface="Arial"/>
              </a:rPr>
              <a:t>PROCUREMENT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Grains, dairy
from mandis</a:t>
            </a:r>
          </a:p>
        </p:txBody>
      </p:sp>
      <p:sp>
        <p:nvSpPr>
          <p:cNvPr id="15" name="Chevron 14"/>
          <p:cNvSpPr/>
          <p:nvPr/>
        </p:nvSpPr>
        <p:spPr>
          <a:xfrm>
            <a:off x="1773936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56816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STORAGE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Silos, cold
rooms; FIFO</a:t>
            </a:r>
          </a:p>
        </p:txBody>
      </p:sp>
      <p:sp>
        <p:nvSpPr>
          <p:cNvPr id="17" name="Chevron 16"/>
          <p:cNvSpPr/>
          <p:nvPr/>
        </p:nvSpPr>
        <p:spPr>
          <a:xfrm>
            <a:off x="3182112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4992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PREPROCESS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Auto roti lines,
veg prep</a:t>
            </a:r>
          </a:p>
        </p:txBody>
      </p:sp>
      <p:sp>
        <p:nvSpPr>
          <p:cNvPr id="19" name="Chevron 18"/>
          <p:cNvSpPr/>
          <p:nvPr/>
        </p:nvSpPr>
        <p:spPr>
          <a:xfrm>
            <a:off x="4590288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COOKING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Steam cauldrons;
100k by 6 AM</a:t>
            </a:r>
          </a:p>
        </p:txBody>
      </p:sp>
      <p:sp>
        <p:nvSpPr>
          <p:cNvPr id="21" name="Chevron 20"/>
          <p:cNvSpPr/>
          <p:nvPr/>
        </p:nvSpPr>
        <p:spPr>
          <a:xfrm>
            <a:off x="5998464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81344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QC &amp;
PACKING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Lab-tested;
sealed vessels</a:t>
            </a:r>
          </a:p>
        </p:txBody>
      </p:sp>
      <p:sp>
        <p:nvSpPr>
          <p:cNvPr id="23" name="Chevron 22"/>
          <p:cNvSpPr/>
          <p:nvPr/>
        </p:nvSpPr>
        <p:spPr>
          <a:xfrm>
            <a:off x="7406640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FBECEA"/>
          </a:solidFill>
          <a:ln w="19050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19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C22310"/>
                </a:solidFill>
                <a:latin typeface="Arial"/>
              </a:rPr>
              <a:t>DISTRIBUTION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Van fleet to
schools by lunch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023360" y="2212848"/>
            <a:ext cx="457200" cy="237744"/>
          </a:xfrm>
          <a:prstGeom prst="curvedConnector3">
            <a:avLst/>
          </a:prstGeom>
          <a:ln w="12700">
            <a:solidFill>
              <a:srgbClr val="39802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583680" y="2212848"/>
            <a:ext cx="365760" cy="237744"/>
          </a:xfrm>
          <a:prstGeom prst="curvedConnector3">
            <a:avLst/>
          </a:prstGeom>
          <a:ln w="12700">
            <a:solidFill>
              <a:srgbClr val="39802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65760" y="3456432"/>
            <a:ext cx="8412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98025"/>
                </a:solidFill>
                <a:latin typeface="Arial"/>
              </a:rPr>
              <a:t>Steps 2–5 are best-in-class </a:t>
            </a:r>
            <a:r>
              <a:rPr sz="850" b="0" i="0">
                <a:solidFill>
                  <a:srgbClr val="727375"/>
                </a:solidFill>
                <a:latin typeface="Arial"/>
              </a:rPr>
              <a:t>— automated, audited, built to scale. No intervention needed.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023360"/>
            <a:ext cx="4114800" cy="1664208"/>
          </a:xfrm>
          <a:prstGeom prst="rect">
            <a:avLst/>
          </a:prstGeom>
          <a:solidFill>
            <a:srgbClr val="FFFFFF"/>
          </a:solidFill>
          <a:ln w="15875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023360"/>
            <a:ext cx="4114800" cy="292608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4064508"/>
            <a:ext cx="3895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GAP 1 — PROCUREMENT: no demand forecasting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" y="4407408"/>
            <a:ext cx="385876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Manual estimates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no view of school-level attendance, holidays or menu uptake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~8–10% over-production</a:t>
            </a:r>
            <a:r>
              <a:rPr sz="750" b="0" i="0">
                <a:solidFill>
                  <a:srgbClr val="333333"/>
                </a:solidFill>
                <a:latin typeface="Arial"/>
              </a:rPr>
              <a:t> wasted on low-attendance days [dummy]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Reactive spot-buying</a:t>
            </a:r>
            <a:r>
              <a:rPr sz="750" b="0" i="0">
                <a:solidFill>
                  <a:srgbClr val="333333"/>
                </a:solidFill>
                <a:latin typeface="Arial"/>
              </a:rPr>
              <a:t> at mandi peak prices — up to 12% above plan [dummy]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No price intelligence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cheapest forward-buying windows are missed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Result: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higher cost per meal → fewer children fed per donor $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→ addressed by Solution 1 ($150k)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4023360"/>
            <a:ext cx="4114800" cy="1664208"/>
          </a:xfrm>
          <a:prstGeom prst="rect">
            <a:avLst/>
          </a:prstGeom>
          <a:solidFill>
            <a:srgbClr val="FFFFFF"/>
          </a:solidFill>
          <a:ln w="15875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63440" y="4023360"/>
            <a:ext cx="4114800" cy="292608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73168" y="4064508"/>
            <a:ext cx="3895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GAP 2 — DISTRIBUTION: no route intelligence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91456" y="4407408"/>
            <a:ext cx="385876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Static, driver-memory routes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15–30 min past the lunch bell means children stay hungry all day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No telematics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vessels &amp; utensils untracked; losses recur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Adulteration / diversion risk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unsealed vans can be offloaded at roadside dhabas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No proof-of-delivery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school shortfall disputes unresolved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Result: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missed lunch windows, fuel burn, shrinkage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→ addressed by Solution 2 ($100k)</a:t>
            </a:r>
          </a:p>
        </p:txBody>
      </p:sp>
      <p:cxnSp>
        <p:nvCxnSpPr>
          <p:cNvPr id="36" name="Connector 35"/>
          <p:cNvCxnSpPr/>
          <p:nvPr/>
        </p:nvCxnSpPr>
        <p:spPr>
          <a:xfrm flipH="1" flipV="1">
            <a:off x="1051560" y="3410712"/>
            <a:ext cx="45720" cy="612648"/>
          </a:xfrm>
          <a:prstGeom prst="curvedConnector3">
            <a:avLst/>
          </a:prstGeom>
          <a:ln w="15875">
            <a:solidFill>
              <a:srgbClr val="C22310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 flipV="1">
            <a:off x="8092440" y="3410712"/>
            <a:ext cx="137160" cy="612648"/>
          </a:xfrm>
          <a:prstGeom prst="curvedConnector3">
            <a:avLst/>
          </a:prstGeom>
          <a:ln w="15875">
            <a:solidFill>
              <a:srgbClr val="C22310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Our proposal — $250k deployed on the first &amp; last mile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Two targeted, technology-led interventions that convert the grant into permanent capability — not one year of operating expense.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Not funding a year of operations — installing a permanent upgrade that pays for itself, every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0744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1353312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Allocation of the $250,000 grant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27632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73936"/>
            <a:ext cx="4882895" cy="438912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85815" y="1773936"/>
            <a:ext cx="3255263" cy="438912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773936"/>
            <a:ext cx="4882895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$150k — Solution 1: Predictive demand planning (60%)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5815" y="1773936"/>
            <a:ext cx="3255263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$100k — Solution 2:
Smart distribution (40%)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258568"/>
            <a:ext cx="48828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Fixes the costliest gap first: waste &amp; procurement inefficiency at source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5815" y="2258568"/>
            <a:ext cx="32552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Every meal on time, intact &amp; untouched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61688" y="2715768"/>
            <a:ext cx="10972" cy="15087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697479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2670048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Solution 1 — “Annapurna AI” · $150k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44368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035808"/>
            <a:ext cx="404164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ML demand-forecasting &amp; procurement-planning platform across all 68 kitchens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predicts school-level attendance from history, calendars &amp; seasonality; auto-generates indents and forward procurement schedules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Impact: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cuts food waste ~70%, buys ahead of price spikes</a:t>
            </a:r>
            <a:r>
              <a:rPr sz="780" b="1" i="0">
                <a:solidFill>
                  <a:srgbClr val="398025"/>
                </a:solidFill>
                <a:latin typeface="Arial"/>
              </a:rPr>
              <a:t>  →  est. $230k saved / yr [dummy]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90288" y="2697479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36592" y="2670048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Solution 2 — “Last-Mile Shield” · $100k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90288" y="2944368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0288" y="3035808"/>
            <a:ext cx="41879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AI route optimisation + van telematics (GPS, cameras, RFID tags) + geofenced smart locks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routes sequenced to each school's lunch bell; van doors unlock only within 150 m of a registered school — no diversion, no adulteration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Impact: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99%+ on-time, −18% fleet km, zero shrinkage</a:t>
            </a:r>
            <a:r>
              <a:rPr sz="780" b="1" i="0">
                <a:solidFill>
                  <a:srgbClr val="398025"/>
                </a:solidFill>
                <a:latin typeface="Arial"/>
              </a:rPr>
              <a:t>  →  est. $80k saved / yr [dummy]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187952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" y="4160520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savings flywheel — how impact compounds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434840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7200" y="4562856"/>
            <a:ext cx="1691640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1B3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581144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1B3E6E"/>
                </a:solidFill>
                <a:latin typeface="Arial"/>
              </a:rPr>
              <a:t>Grant funds
tech — once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60320" y="4562856"/>
            <a:ext cx="1691640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0" y="4581144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98025"/>
                </a:solidFill>
                <a:latin typeface="Arial"/>
              </a:rPr>
              <a:t>Savings of
$310k / yr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4562856"/>
            <a:ext cx="1691640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63440" y="4581144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E08A1E"/>
                </a:solidFill>
                <a:latin typeface="Arial"/>
              </a:rPr>
              <a:t>Reinvested in
more meals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766560" y="4562856"/>
            <a:ext cx="1691640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0" y="4581144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B6EA5"/>
                </a:solidFill>
                <a:latin typeface="Arial"/>
              </a:rPr>
              <a:t>More data →
better models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185416" y="4800600"/>
            <a:ext cx="338328" cy="0"/>
          </a:xfrm>
          <a:prstGeom prst="line">
            <a:avLst/>
          </a:prstGeom>
          <a:ln w="1397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288536" y="4800600"/>
            <a:ext cx="338328" cy="0"/>
          </a:xfrm>
          <a:prstGeom prst="line">
            <a:avLst/>
          </a:prstGeom>
          <a:ln w="1397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391656" y="4800600"/>
            <a:ext cx="338328" cy="0"/>
          </a:xfrm>
          <a:prstGeom prst="line">
            <a:avLst/>
          </a:prstGeom>
          <a:ln w="1397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65760" y="5074920"/>
            <a:ext cx="8412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…and the cycle repeats — every year, without further funding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5276088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2064" y="5248656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What the grant unlocks — every year, in perpetuity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5522976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$310k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combined annual
savings (1.24x grant)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48255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+105,000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additional children
fed per year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30752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~70%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reduction in
food wastage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13248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99%+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meals inside the
lunch window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95744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&lt;10 mo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payback on the
full $250k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Solution 1 — “Annapurna AI”: predict demand, buy smart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$150k builds a demand-forecasting and procurement-planning engine that ends over-production and peak-price buying across all 68 kitchens.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Every rupee not wasted is a meal served — forecasting turns waste into 105,000 more children fed each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074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1353312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problem today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27632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719072"/>
            <a:ext cx="31546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Manual, gut-feel indenting</a:t>
            </a:r>
            <a:r>
              <a:rPr sz="760" b="0" i="0">
                <a:solidFill>
                  <a:srgbClr val="333333"/>
                </a:solidFill>
                <a:latin typeface="Arial"/>
              </a:rPr>
              <a:t> 3 days ahead — blind to attendance swings &amp; holidays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Spot purchases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at mandi peak prices when stocks run short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No feedback loop</a:t>
            </a:r>
            <a:r>
              <a:rPr sz="760" b="0" i="0">
                <a:solidFill>
                  <a:srgbClr val="333333"/>
                </a:solidFill>
                <a:latin typeface="Arial"/>
              </a:rPr>
              <a:t> from schools on actual meal uptake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5176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8–10%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meals over-produced
&amp; wasted [dummy]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265176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+12%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paid over plan on
spot buys [dummy]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227832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200400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Rollout plan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474720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566160"/>
            <a:ext cx="31546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40" b="1" i="0">
                <a:solidFill>
                  <a:srgbClr val="1B3E6E"/>
                </a:solidFill>
                <a:latin typeface="Arial"/>
              </a:rPr>
              <a:t>Mo 1–4: </a:t>
            </a:r>
            <a:r>
              <a:rPr sz="740" b="0" i="0">
                <a:solidFill>
                  <a:srgbClr val="333333"/>
                </a:solidFill>
                <a:latin typeface="Arial"/>
              </a:rPr>
              <a:t>pilot in 3 Bengaluru kitchens; baseline waste audit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40" b="1" i="0">
                <a:solidFill>
                  <a:srgbClr val="1B3E6E"/>
                </a:solidFill>
                <a:latin typeface="Arial"/>
              </a:rPr>
              <a:t>Mo 5–8: </a:t>
            </a:r>
            <a:r>
              <a:rPr sz="740" b="0" i="0">
                <a:solidFill>
                  <a:srgbClr val="333333"/>
                </a:solidFill>
                <a:latin typeface="Arial"/>
              </a:rPr>
              <a:t>model tuning; procurement-ERP integration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1B3E6E"/>
                </a:solidFill>
                <a:latin typeface="Arial"/>
              </a:rPr>
              <a:t>Mo 9–12: </a:t>
            </a:r>
            <a:r>
              <a:rPr sz="740" b="0" i="0">
                <a:solidFill>
                  <a:srgbClr val="333333"/>
                </a:solidFill>
                <a:latin typeface="Arial"/>
              </a:rPr>
              <a:t>scale to all 68 kitchens; hand over to in-house tech team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361688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4334256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Food waste — % of production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608576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65760" y="4700016"/>
          <a:ext cx="3154680" cy="1188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3" name="Rectangle 22"/>
          <p:cNvSpPr/>
          <p:nvPr/>
        </p:nvSpPr>
        <p:spPr>
          <a:xfrm>
            <a:off x="3611880" y="1417320"/>
            <a:ext cx="10972" cy="44805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94760" y="1380744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41064" y="1353312"/>
            <a:ext cx="4837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How it works — from signals to indents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94760" y="1627632"/>
            <a:ext cx="49834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794760" y="1755648"/>
            <a:ext cx="4983479" cy="603504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04488" y="1801368"/>
            <a:ext cx="4764023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1B3E6E"/>
                </a:solidFill>
                <a:latin typeface="Arial"/>
              </a:rPr>
              <a:t>1 · DATA INPUTS   </a:t>
            </a:r>
            <a:r>
              <a:rPr sz="740" b="0" i="0">
                <a:solidFill>
                  <a:srgbClr val="333333"/>
                </a:solidFill>
                <a:latin typeface="Arial"/>
              </a:rPr>
              <a:t>school attendance feeds • academic calendars &amp; holidays • menu cycles • mandi price APIs • weather &amp; seasonality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286500" y="2377440"/>
            <a:ext cx="0" cy="164592"/>
          </a:xfrm>
          <a:prstGeom prst="line">
            <a:avLst/>
          </a:prstGeom>
          <a:ln w="15875">
            <a:solidFill>
              <a:srgbClr val="3B6EA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794760" y="2560320"/>
            <a:ext cx="4983479" cy="603504"/>
          </a:xfrm>
          <a:prstGeom prst="roundRect">
            <a:avLst>
              <a:gd name="adj" fmla="val 8000"/>
            </a:avLst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04488" y="2606040"/>
            <a:ext cx="4764023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FFFFFF"/>
                </a:solidFill>
                <a:latin typeface="Arial"/>
              </a:rPr>
              <a:t>2 · ML FORECASTING ENGINE   </a:t>
            </a:r>
            <a:r>
              <a:rPr sz="740" b="0" i="0">
                <a:solidFill>
                  <a:srgbClr val="FFFFFF"/>
                </a:solidFill>
                <a:latin typeface="Arial"/>
              </a:rPr>
              <a:t>kitchen-wise meal-demand prediction (±2% target) • price-trend models flag the cheapest buying windows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286500" y="3182112"/>
            <a:ext cx="0" cy="164592"/>
          </a:xfrm>
          <a:prstGeom prst="line">
            <a:avLst/>
          </a:prstGeom>
          <a:ln w="15875">
            <a:solidFill>
              <a:srgbClr val="3B6EA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3794760" y="3364991"/>
            <a:ext cx="4983479" cy="731520"/>
          </a:xfrm>
          <a:prstGeom prst="roundRect">
            <a:avLst>
              <a:gd name="adj" fmla="val 8000"/>
            </a:avLst>
          </a:prstGeom>
          <a:solidFill>
            <a:srgbClr val="EAF3E6"/>
          </a:solidFill>
          <a:ln w="1143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04488" y="3419856"/>
            <a:ext cx="476402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398025"/>
                </a:solidFill>
                <a:latin typeface="Arial"/>
              </a:rPr>
              <a:t>3 · OUTPUTS   </a:t>
            </a:r>
            <a:r>
              <a:rPr sz="740" b="0" i="0">
                <a:solidFill>
                  <a:srgbClr val="333333"/>
                </a:solidFill>
                <a:latin typeface="Arial"/>
              </a:rPr>
              <a:t>auto-generated daily indents per kitchen • forward procurement schedule &amp; contract calendar • live waste dashboard • monthly savings report to donors (incl. GS)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94760" y="4361688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41064" y="4334256"/>
            <a:ext cx="23682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Where the $150k goes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94760" y="4608576"/>
            <a:ext cx="25146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3749040" y="4663440"/>
          <a:ext cx="2606040" cy="13533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9" name="Rectangle 38"/>
          <p:cNvSpPr/>
          <p:nvPr/>
        </p:nvSpPr>
        <p:spPr>
          <a:xfrm>
            <a:off x="6537960" y="4361688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84264" y="4334256"/>
            <a:ext cx="20939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Annual savings ($k)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608576"/>
            <a:ext cx="22402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2" name="Chart 41"/>
          <p:cNvGraphicFramePr>
            <a:graphicFrameLocks noGrp="1"/>
          </p:cNvGraphicFramePr>
          <p:nvPr/>
        </p:nvGraphicFramePr>
        <p:xfrm>
          <a:off x="6492240" y="4700016"/>
          <a:ext cx="2331719" cy="1170432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6492240" y="5907024"/>
            <a:ext cx="23317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= $230k/yr → +105,000 children [dummy]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Solution 2 — “Last-Mile Shield”: on time, intact, untouched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$100k puts every van on an intelligent route and seals the last mile with telematics and geofenced locks — diversion becomes physically impossible.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Every meal arrives on time, intact and untouched — by design, not by luck.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074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1353312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problem today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27632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719072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Missed lunch windows: </a:t>
            </a:r>
            <a:r>
              <a:rPr sz="760" b="0" i="0">
                <a:solidFill>
                  <a:srgbClr val="333333"/>
                </a:solidFill>
                <a:latin typeface="Arial"/>
              </a:rPr>
              <a:t>15–30 min late means children go hungry all day — non-negotiable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Static routes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from driver memory — no live traffic, no lunch-bell sequencing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Untracked vessels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leave daily with no tagging; losses recur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Open vans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— meals can be offloaded / adulterated at dhabas en route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01752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6.2%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deliveries miss the
lunch window [dummy]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301752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$35k/yr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vessel &amp; shrinkage
losses [dummy]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666744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639312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Route redesign — 1 hub, 40 schools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913632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4023359"/>
            <a:ext cx="3154680" cy="1234440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" y="4023359"/>
            <a:ext cx="3044952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🗺 MAP: before vs after routes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(insert optimised-route schematic; −18% km)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30352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3 vans freed per hub </a:t>
            </a:r>
            <a:r>
              <a:rPr sz="700" b="0" i="0">
                <a:solidFill>
                  <a:srgbClr val="333333"/>
                </a:solidFill>
                <a:latin typeface="Arial"/>
              </a:rPr>
              <a:t>→ redeployed to 12 new schools [dummy]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1417320"/>
            <a:ext cx="10972" cy="44805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94760" y="1380744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41064" y="1353312"/>
            <a:ext cx="4837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fix — three integrated layers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94760" y="1627632"/>
            <a:ext cx="49834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794760" y="1755648"/>
            <a:ext cx="4983479" cy="713232"/>
          </a:xfrm>
          <a:prstGeom prst="roundRect">
            <a:avLst>
              <a:gd name="adj" fmla="val 7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04488" y="1810512"/>
            <a:ext cx="476402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1 · ROUTE INTELLIGENCE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AI planner sequences every drop to each school's lunch bell • live traffic re-routing • delay alerts to school + kitchen 30 min ahead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94760" y="2523744"/>
            <a:ext cx="4983479" cy="713232"/>
          </a:xfrm>
          <a:prstGeom prst="roundRect">
            <a:avLst>
              <a:gd name="adj" fmla="val 7000"/>
            </a:avLst>
          </a:prstGeom>
          <a:solidFill>
            <a:srgbClr val="FDF6E0"/>
          </a:solidFill>
          <a:ln w="1143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04488" y="2578608"/>
            <a:ext cx="476402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2 · VEHICLE TELEMATICS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GPS + in-van cameras on every vehicle • RFID tags on all vessels &amp; utensils • automated end-of-day reconciliation — zero missing inventory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94760" y="3291839"/>
            <a:ext cx="4983479" cy="713232"/>
          </a:xfrm>
          <a:prstGeom prst="roundRect">
            <a:avLst>
              <a:gd name="adj" fmla="val 7000"/>
            </a:avLst>
          </a:prstGeom>
          <a:solidFill>
            <a:srgbClr val="EAF3E6"/>
          </a:solidFill>
          <a:ln w="1143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04488" y="3346703"/>
            <a:ext cx="476402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3 · GEOFENCED INTEGRITY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Smart-locked doors open only within 150 m of a registered school • real-time tamper alerts • en-route offloading &amp; adulteration made impossible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4078223"/>
            <a:ext cx="49834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B3E6E"/>
                </a:solidFill>
                <a:latin typeface="Arial"/>
              </a:rPr>
              <a:t>After implementation:  </a:t>
            </a:r>
            <a:r>
              <a:rPr sz="819" b="1" i="0">
                <a:solidFill>
                  <a:srgbClr val="398025"/>
                </a:solidFill>
                <a:latin typeface="Arial"/>
              </a:rPr>
              <a:t>99.5% in lunch window   ·   −18% fleet km   ·   0 unaccounted vessels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94760" y="4361688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4" y="4334256"/>
            <a:ext cx="23682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Where the $100k goes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94760" y="4608576"/>
            <a:ext cx="25146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5" name="Chart 34"/>
          <p:cNvGraphicFramePr>
            <a:graphicFrameLocks noGrp="1"/>
          </p:cNvGraphicFramePr>
          <p:nvPr/>
        </p:nvGraphicFramePr>
        <p:xfrm>
          <a:off x="3749040" y="4663440"/>
          <a:ext cx="2606040" cy="135331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6" name="Rectangle 35"/>
          <p:cNvSpPr/>
          <p:nvPr/>
        </p:nvSpPr>
        <p:spPr>
          <a:xfrm>
            <a:off x="6537960" y="4361688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84264" y="4334256"/>
            <a:ext cx="20939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Annual savings ($k)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37960" y="4608576"/>
            <a:ext cx="22402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6492240" y="4700016"/>
          <a:ext cx="2331719" cy="117043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6492240" y="5907024"/>
            <a:ext cx="23317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= $80k/yr + trust that is priceless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Conclusion — why Akshaya Patra, and why this proposal 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A proven engine of social mobility, a grant that compounds instead of depletes, and a partnership only Goldman Sachs can power.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$250k that doesn't feed children for a year — it upgrades the engine that feeds them forever.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89888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B3E6E"/>
                </a:solidFill>
                <a:latin typeface="Arial"/>
              </a:rPr>
              <a:t>THE FUND &amp; ITS IMPACT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45920"/>
            <a:ext cx="2331720" cy="12801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792224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1B3E6E"/>
                </a:solidFill>
                <a:latin typeface="Georgia"/>
              </a:rPr>
              <a:t>$250k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one-time grant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67512" y="2432304"/>
            <a:ext cx="0" cy="219456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2706624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398025"/>
                </a:solidFill>
                <a:latin typeface="Georgia"/>
              </a:rPr>
              <a:t>$310k / yr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returned in audited savings — every single year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7512" y="3346704"/>
            <a:ext cx="0" cy="219456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5760" y="3621024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1B3E6E"/>
                </a:solidFill>
                <a:latin typeface="Georgia"/>
              </a:rPr>
              <a:t>+105,000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children fed per year at zero extra cost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7512" y="4261104"/>
            <a:ext cx="0" cy="219456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65760" y="4535424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08A1E"/>
                </a:solidFill>
                <a:latin typeface="Georgia"/>
              </a:rPr>
              <a:t>&lt; 10 months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payback on the full grant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88920" y="1417320"/>
            <a:ext cx="10972" cy="34290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63240" y="1399032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9544" y="1371600"/>
            <a:ext cx="55686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The partnership equation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63240" y="1645920"/>
            <a:ext cx="57150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009644" y="1755648"/>
            <a:ext cx="969264" cy="804672"/>
          </a:xfrm>
          <a:prstGeom prst="ellipse">
            <a:avLst/>
          </a:prstGeom>
          <a:solidFill>
            <a:srgbClr val="EEF3F9"/>
          </a:solidFill>
          <a:ln w="13970">
            <a:solidFill>
              <a:srgbClr val="1B3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09644" y="1856231"/>
            <a:ext cx="96926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B3E6E"/>
                </a:solidFill>
                <a:latin typeface="Arial"/>
              </a:rPr>
              <a:t>GS $250k
catalytic
capital</a:t>
            </a:r>
          </a:p>
        </p:txBody>
      </p:sp>
      <p:sp>
        <p:nvSpPr>
          <p:cNvPr id="24" name="Plus 23"/>
          <p:cNvSpPr/>
          <p:nvPr/>
        </p:nvSpPr>
        <p:spPr>
          <a:xfrm>
            <a:off x="5088636" y="2048255"/>
            <a:ext cx="237744" cy="219456"/>
          </a:xfrm>
          <a:prstGeom prst="mathPlus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36108" y="1755648"/>
            <a:ext cx="969264" cy="804672"/>
          </a:xfrm>
          <a:prstGeom prst="ellipse">
            <a:avLst/>
          </a:prstGeom>
          <a:solidFill>
            <a:srgbClr val="FDF6E0"/>
          </a:solidFill>
          <a:ln w="1397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36108" y="1856231"/>
            <a:ext cx="96926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E08A1E"/>
                </a:solidFill>
                <a:latin typeface="Arial"/>
              </a:rPr>
              <a:t>AP's 2.3M
meals-a-day
engine</a:t>
            </a:r>
          </a:p>
        </p:txBody>
      </p:sp>
      <p:sp>
        <p:nvSpPr>
          <p:cNvPr id="27" name="Equal 26"/>
          <p:cNvSpPr/>
          <p:nvPr/>
        </p:nvSpPr>
        <p:spPr>
          <a:xfrm>
            <a:off x="6515100" y="2048255"/>
            <a:ext cx="237744" cy="219456"/>
          </a:xfrm>
          <a:prstGeom prst="mathEqual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862572" y="1755648"/>
            <a:ext cx="969264" cy="804672"/>
          </a:xfrm>
          <a:prstGeom prst="ellipse">
            <a:avLst/>
          </a:prstGeom>
          <a:solidFill>
            <a:srgbClr val="EAF3E6"/>
          </a:solidFill>
          <a:ln w="1397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62572" y="1856231"/>
            <a:ext cx="96926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Impact that
compounds
yearly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3240" y="2606039"/>
            <a:ext cx="5715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One-time capital → permanent capability → recurring savings → more children in school, every year after Year 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63240" y="2916936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9544" y="2889504"/>
            <a:ext cx="55686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Why the GS grant stands out here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63240" y="3163824"/>
            <a:ext cx="57150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63240" y="3255264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Structural, not sustenance: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others fund meals for a year; GS funds the technology that makes every future meal cheaper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63240" y="3570732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Plays to GS DNA: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forecasting, optimisation &amp; risk controls — GS engineering mentors the build pro bono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63240" y="3886200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Measurable ROI: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$310k/yr audited savings; KPI dashboard shared quarterly with 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63240" y="4201668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Partnership beyond capital: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GS volunteering days at kitchens &amp; co-branded impact reporting — a partner, not a donor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4517136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Scalable blueprint: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proven once, extends to school-feeding programmes across South Asia &amp; Africa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983480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2064" y="4956048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Proven track record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230368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5340096"/>
            <a:ext cx="5669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4" y="5340096"/>
            <a:ext cx="457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📷 Krishna
Kumar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" y="5340096"/>
            <a:ext cx="35204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20" b="0" i="1">
                <a:solidFill>
                  <a:srgbClr val="333333"/>
                </a:solidFill>
                <a:latin typeface="Arial"/>
              </a:rPr>
              <a:t>“The mid-day meal was the reason I stayed in school. Today I manage portfolios instead of an empty stomach.”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1B3E6E"/>
                </a:solidFill>
                <a:latin typeface="Arial"/>
              </a:rPr>
              <a:t>— Krishna Kumar, </a:t>
            </a:r>
            <a:r>
              <a:rPr sz="680" b="0" i="0">
                <a:solidFill>
                  <a:srgbClr val="727375"/>
                </a:solidFill>
                <a:latin typeface="Arial"/>
              </a:rPr>
              <a:t>AVP, HSBC — former mid-day meal beneficiary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36592" y="5340096"/>
            <a:ext cx="10972" cy="566928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01184" y="5340096"/>
            <a:ext cx="38770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Trusted by leading corporates </a:t>
            </a:r>
            <a:r>
              <a:rPr sz="800" b="0" i="0">
                <a:solidFill>
                  <a:srgbClr val="727375"/>
                </a:solidFill>
                <a:latin typeface="Arial"/>
              </a:rPr>
              <a:t>(+200 more)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01184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56048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Infosys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54980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09844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TCS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08776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63640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HDFC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62572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17436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Amazon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516368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71232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Airbus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170164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25028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SBI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