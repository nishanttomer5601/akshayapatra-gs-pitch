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98025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Solution 1 — $150k</c:v>
                </c:pt>
                <c:pt idx="1">
                  <c:v>Solution 2 — $100k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100</c:v>
                </c:pt>
              </c:numCache>
            </c:numRef>
          </c:val>
        </c:ser>
        <c:dLbls>
          <c:numFmt formatCode="&quot;$&quot;0&quot;k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GS funding</c:v>
                </c:pt>
              </c:strCache>
            </c:strRef>
          </c:tx>
          <c:spPr>
            <a:solidFill>
              <a:srgbClr val="E08A1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10.8</c:v>
                </c:pt>
                <c:pt idx="1">
                  <c:v>11.4</c:v>
                </c:pt>
                <c:pt idx="2">
                  <c:v>12.0</c:v>
                </c:pt>
                <c:pt idx="3">
                  <c:v>12.6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GS funding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9.4</c:v>
                </c:pt>
                <c:pt idx="1">
                  <c:v>9.2</c:v>
                </c:pt>
                <c:pt idx="2">
                  <c:v>9.1</c:v>
                </c:pt>
                <c:pt idx="3">
                  <c:v>9.0</c:v>
                </c:pt>
              </c:numCache>
            </c:numRef>
          </c:val>
        </c:ser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0&quot;M&quot;" sourceLinked="0"/>
        <c:majorTickMark val="out"/>
        <c:minorTickMark val="none"/>
        <c:tickLblPos val="nextTo"/>
        <c:txPr>
          <a:bodyPr/>
          <a:lstStyle/>
          <a:p>
            <a:pPr>
              <a:defRPr sz="6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0.0015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98025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Solution 1 — $150k</c:v>
                </c:pt>
                <c:pt idx="1">
                  <c:v>Solution 2 — $100k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100</c:v>
                </c:pt>
              </c:numCache>
            </c:numRef>
          </c:val>
        </c:ser>
        <c:dLbls>
          <c:numFmt formatCode="&quot;$&quot;0&quot;k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spPr>
    <a:noFill/>
    <a:ln>
      <a:noFill/>
    </a:ln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GS funding</c:v>
                </c:pt>
              </c:strCache>
            </c:strRef>
          </c:tx>
          <c:spPr>
            <a:solidFill>
              <a:srgbClr val="E08A1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10.8</c:v>
                </c:pt>
                <c:pt idx="1">
                  <c:v>11.4</c:v>
                </c:pt>
                <c:pt idx="2">
                  <c:v>12.0</c:v>
                </c:pt>
                <c:pt idx="3">
                  <c:v>12.6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GS funding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9.4</c:v>
                </c:pt>
                <c:pt idx="1">
                  <c:v>9.2</c:v>
                </c:pt>
                <c:pt idx="2">
                  <c:v>9.1</c:v>
                </c:pt>
                <c:pt idx="3">
                  <c:v>9.0</c:v>
                </c:pt>
              </c:numCache>
            </c:numRef>
          </c:val>
        </c:ser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0&quot;M&quot;" sourceLinked="0"/>
        <c:majorTickMark val="out"/>
        <c:minorTickMark val="none"/>
        <c:tickLblPos val="nextTo"/>
        <c:txPr>
          <a:bodyPr/>
          <a:lstStyle/>
          <a:p>
            <a:pPr>
              <a:defRPr sz="6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saved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1.8</c:v>
                </c:pt>
                <c:pt idx="1">
                  <c:v>3.6</c:v>
                </c:pt>
                <c:pt idx="2">
                  <c:v>5.1</c:v>
                </c:pt>
                <c:pt idx="3">
                  <c:v>5.1</c:v>
                </c:pt>
              </c:numCache>
            </c:numRef>
          </c:val>
        </c:ser>
        <c:dLbls>
          <c:txPr>
            <a:bodyPr/>
            <a:lstStyle/>
            <a:p>
              <a:pPr>
                <a:defRPr sz="6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5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gaps highlighted in the supply chain, the grant that closes them, and the solution we build for each — all in one 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$250k of capital becomes $310k of savings,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5152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45152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792224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blind to attendance swings, exams &amp; holidays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800" b="0" i="0">
                <a:solidFill>
                  <a:srgbClr val="333333"/>
                </a:solidFill>
                <a:latin typeface="Arial"/>
              </a:rPr>
              <a:t> at mandi peak prices; no price intelligence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80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22310"/>
                </a:solidFill>
                <a:latin typeface="Arial"/>
              </a:rPr>
              <a:t>Cost today:  8–10% meals over-produced · +12% spot premium [dummy]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33872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792224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late vans mean children stay hungry all day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Untracked vessels &amp; utensils</a:t>
            </a:r>
            <a:r>
              <a:rPr sz="800" b="0" i="0">
                <a:solidFill>
                  <a:srgbClr val="333333"/>
                </a:solidFill>
                <a:latin typeface="Arial"/>
              </a:rPr>
              <a:t>; adulteration &amp; diversion risk en route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school shortfall disputes go unresolved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22310"/>
                </a:solidFill>
                <a:latin typeface="Arial"/>
              </a:rPr>
              <a:t>Cost today:  6.2% miss the lunch window · $35k/yr shrinkage [dummy]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1304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ML demand-forecasting &amp; procurement planning across all 68 kitchens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predicts school-level attendance; auto-generates daily indents &amp; forward buying schedules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Rollout: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3-kitchen pilot (Mo 1–4) → all 68 kitchens by Mo 12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~70% less food waste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est. $230k saved / yr [dummy]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33872" y="381304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1032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AI route optimisation + telematics (GPS, cameras, RFID) + geofenced smart locks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drops sequenced to each school's lunch bell; doors unlock only near a registered school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Bonus: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 vans freed per hub redeployed to reach new schools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99%+ on-time · −18% fleet km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est. $80k saved / yr [dummy]</a:t>
            </a:r>
          </a:p>
        </p:txBody>
      </p:sp>
      <p:sp>
        <p:nvSpPr>
          <p:cNvPr id="25" name="Oval 24"/>
          <p:cNvSpPr/>
          <p:nvPr/>
        </p:nvSpPr>
        <p:spPr>
          <a:xfrm>
            <a:off x="3337560" y="2386584"/>
            <a:ext cx="2468880" cy="2468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3406140" y="2455164"/>
          <a:ext cx="23317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3520440" y="483717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48600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THE $250k GRANT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1">
                <a:solidFill>
                  <a:srgbClr val="727375"/>
                </a:solidFill>
                <a:latin typeface="Arial"/>
              </a:rPr>
              <a:t>60 / 40 — weighted to the costlier gap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the AI-enabled planning &amp; procurement build ($150k)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Connecting real-time demand signals to kitchen production and procurement — the technology that closes Gap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“Feeding more children with the same rupee” — AI plus GS capital makes it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35024"/>
            <a:ext cx="4133087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35024"/>
            <a:ext cx="4133087" cy="274320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1 — Predictive Demand Forecasting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5152" y="1335024"/>
            <a:ext cx="4133087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45152" y="1335024"/>
            <a:ext cx="4133087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2 — Spatial-Temporal Procurement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1700784"/>
            <a:ext cx="3877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Predicts exact meal &amp; ingredient needs per centre by ingesting: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Attendance &amp; enrolment trends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estimate how many meals each centre should prepare daily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Holiday calendars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capture local demand spikes or dips before production quantities are finalised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Menu consumption history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converts expected meals into ingredient quantities for key staples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Weather signals &amp; feedback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continuously refine the next centre-level forecast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700784"/>
            <a:ext cx="3877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Decides when and where to buy each commodity to minimise total landed cost: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Seasonal price troughs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identify when each commodity should be bought before prices rise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Surplus-region signals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identify where each commodity can be sourced at lower landed cost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Logistics, handling &amp; storage costs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are included in every sourcing recommendation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Quality grades &amp; shelf-life rules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are locked into the final buying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44951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017520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The self-learning operations loop — sharper every 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91839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75103" y="3785615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75103" y="380390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 · INGEST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7943" y="34381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pulls live prices,
weather &amp; attendance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820" y="4291083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0820" y="4309371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2 · FORECAST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33660" y="471170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ingredient-level
demand per centre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05080" y="5108948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05080" y="51272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3 · OPTIMIZE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7920" y="55295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computes when &amp;
where to buy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45127" y="5108948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45127" y="51272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4 · RECOMMEND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7967" y="55295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actionable buying
sheet for kitchens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79387" y="4291083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A64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9387" y="4309371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5 · LEARN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2227" y="471170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outcome feedback
trains the model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17220" y="4064632"/>
            <a:ext cx="222629" cy="16174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030900" y="4768324"/>
            <a:ext cx="85037" cy="261717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294711" y="5364980"/>
            <a:ext cx="275185" cy="0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1748670" y="4768324"/>
            <a:ext cx="85037" cy="261717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924758" y="4064632"/>
            <a:ext cx="222629" cy="16174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29383" y="45994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↻  runs daily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45152" y="3044951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91456" y="3017520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Rice procurement cost — with vs. without GS funding ($M)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45152" y="3291839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4645152" y="3364991"/>
          <a:ext cx="4133087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4645152" y="5212079"/>
            <a:ext cx="4133087" cy="621792"/>
          </a:xfrm>
          <a:prstGeom prst="roundRect">
            <a:avLst>
              <a:gd name="adj" fmla="val 1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36592" y="5248656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CUMULATIVE 2026–29 IMPACT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~$10.1M saved  |  21.6% reduction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FFFFFF"/>
                </a:solidFill>
                <a:latin typeface="Arial"/>
              </a:rPr>
              <a:t>freed capital feeds more children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922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" y="24323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7066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33467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36210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42611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45354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417320"/>
            <a:ext cx="10972" cy="3429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4" name="Plus 23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27" name="Equal 26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255264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570732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886200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201668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Partnership beyond capital: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GS volunteering days at kitchens &amp; co-branded impact reporting — a partner, not a donor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51713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83480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" y="4956048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30368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340096"/>
            <a:ext cx="5669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5340096"/>
            <a:ext cx="457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Krishna
Kumar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" y="5340096"/>
            <a:ext cx="3520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8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6592" y="5340096"/>
            <a:ext cx="10972" cy="56692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1184" y="5340096"/>
            <a:ext cx="38770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Trusted by leading corporates </a:t>
            </a:r>
            <a:r>
              <a:rPr sz="800" b="0" i="0">
                <a:solidFill>
                  <a:srgbClr val="727375"/>
                </a:solidFill>
                <a:latin typeface="Arial"/>
              </a:rPr>
              <a:t>(+200 more)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0118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54980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09844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08776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62572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17436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16368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71232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016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502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2.35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in India shall be deprived of education because of hunger” — 5 billion meals over 25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54864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FINAL CONTENT — SLIDE 1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6492240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Team: Nishant Tomer · Pratham Goenka · Aadithya Muralidharan · Somya Sethi · Mohajit Neog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Founded in 2000 serving 1,500 children, </a:t>
            </a:r>
            <a:r>
              <a:rPr sz="800" b="0" i="0">
                <a:solidFill>
                  <a:srgbClr val="FFFFFF"/>
                </a:solidFill>
                <a:latin typeface="Arial"/>
              </a:rPr>
              <a:t>Akshaya Patra is a Government-partnered PPP that has grown into the world's largest NGO-run school meal programme — </a:t>
            </a:r>
            <a:r>
              <a:rPr sz="800" b="1" i="0">
                <a:solidFill>
                  <a:srgbClr val="FFFFFF"/>
                </a:solidFill>
                <a:latin typeface="Arial"/>
              </a:rPr>
              <a:t>5 billion cumulative meals over 25 years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 milestone celebrated with the Hon'ble President of India in March 2026.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serve mid-day meals to 3 million children every day and achieve 3 million servings of morning nutrition.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that TAPF itself ranks as its top technology priorities, where $250k unlocks compounding year-on-year impact.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25 yrs of proven delivery   ✓ Govt-audited PPP   ✓ Tech-forward ops (ERP, OS1 dispatch, kitchen automation)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5687568"/>
            <a:ext cx="4041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Mar 2026: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5-billionth meal celebrated by the Hon'ble President of India  ·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Apr 2026: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80th kitchen opens in Pune (Deutsche Bank CSR)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rice for 1,000 students in 15 min; 40,000 rotis/hour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1,100+ vehicles move 2 lakh+ insulated vessels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economics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funds ₹8.56 of every ₹17 meal; donors bridge ₹6.56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lunch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morning nutrition, school rejuvenation, scholarships (NEST)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2.35M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80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kitchens across
81 locations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16+3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union territories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25,000+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opportunity — India context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0288" y="5065776"/>
            <a:ext cx="10241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B3E6E"/>
                </a:solidFill>
                <a:latin typeface="Arial"/>
              </a:rPr>
              <a:t>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of India's 130M govt-
school children reached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9" y="5065776"/>
            <a:ext cx="10241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B3E6E"/>
                </a:solidFill>
                <a:latin typeface="Arial"/>
              </a:rPr>
              <a:t>8.2%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secondary dropout
rate (UDISE+)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8271" y="5065776"/>
            <a:ext cx="10241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B3E6E"/>
                </a:solidFill>
                <a:latin typeface="Arial"/>
              </a:rPr>
              <a:t>102/123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India, Global Hunger
Index 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82127" y="5084064"/>
            <a:ext cx="896112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084064"/>
            <a:ext cx="78638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
at mid-day meal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gaps sit exactly where TAPF's own leadership says they are — its top-ranked technology priorities, confirmed in writing.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both at the top of TAPF's own priority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54864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FINAL CONTENT — SLIDE 3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45152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45152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1792224"/>
            <a:ext cx="27889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Periodic, manual planning</a:t>
            </a:r>
            <a:r>
              <a:rPr sz="780" b="0" i="0">
                <a:solidFill>
                  <a:srgbClr val="333333"/>
                </a:solidFill>
                <a:latin typeface="Arial"/>
              </a:rPr>
              <a:t> vs demand that shifts daily — weather, off-season supply, attendance swings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No buffer day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a planning miss is a same-day miss for children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Complexity: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₹450 Cr+ food spend · 700 items · 655 vendors · 78 buyers, 145 approvers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Today: 4–5.6% monthly vegetable wastage · spot buys above seasonal price troughs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33872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71032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1792224"/>
            <a:ext cx="27889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No real-time vehicle location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schools phone kitchens to confirm deliveries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No maintenance or driver-safety data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issues surface only after incidents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4-hour cook-to-consume window</a:t>
            </a:r>
            <a:r>
              <a:rPr sz="780" b="0" i="0">
                <a:solidFill>
                  <a:srgbClr val="333333"/>
                </a:solidFill>
                <a:latin typeface="Arial"/>
              </a:rPr>
              <a:t> at 65°C across ~70 km routes — zero slack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TAPF's #1 strategic headwind: last-mile traceability &amp; food-safety risk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81304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demand forecasting &amp; procurement planning across all 80 kitchens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attendance, calendars, menus &amp; weather → daily indents; buy-timing tuned to seasonal price troughs across 655 vendors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→  cuts veg wastage toward ~1–2%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→  savings recur every year (team est.)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33872" y="381304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1032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AIS-140 GPS + BLE door sensors fleet-wide; geofenced delivery confirmation; smart locks on high-risk routes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accelerates TAPF's own in-house blueprint (Traccar + DOUP) — auto delivery confirmation to schools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→  on-time within the 4-hr window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→  maintenance &amp; driver-safety telemetry included</a:t>
            </a:r>
          </a:p>
        </p:txBody>
      </p:sp>
      <p:sp>
        <p:nvSpPr>
          <p:cNvPr id="27" name="Oval 26"/>
          <p:cNvSpPr/>
          <p:nvPr/>
        </p:nvSpPr>
        <p:spPr>
          <a:xfrm>
            <a:off x="3337560" y="2386584"/>
            <a:ext cx="2468880" cy="2468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3406140" y="2455164"/>
          <a:ext cx="23317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3406140" y="4837176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6140" y="4860036"/>
            <a:ext cx="2331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THE $250k GRANT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1">
                <a:solidFill>
                  <a:srgbClr val="727375"/>
                </a:solidFill>
                <a:latin typeface="Arial"/>
              </a:rPr>
              <a:t>both gaps: TAPF's self-ranked top priorities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the AI-enabled planning &amp; procurement build ($150k)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Connecting real-time demand signals to kitchen production and procurement — the technology that closes Gap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“Feeding more children with the same rupee” — AI plus GS capital makes it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54864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FINAL CONTENT — SLIDE 4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35024"/>
            <a:ext cx="4133087" cy="170078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35024"/>
            <a:ext cx="4133087" cy="274320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1 — Predictive Demand Forecasting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5152" y="1335024"/>
            <a:ext cx="4133087" cy="170078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5152" y="1335024"/>
            <a:ext cx="4133087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2 — Spatial-Temporal Procurement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1700784"/>
            <a:ext cx="3877056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1">
                <a:solidFill>
                  <a:srgbClr val="727375"/>
                </a:solidFill>
                <a:latin typeface="Arial"/>
              </a:rPr>
              <a:t>Predicts exact meal &amp; ingredient needs per centre by ingesting: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Attendance &amp; enrolment trends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estimate how many meals each centre should prepare daily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Holiday calendars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capture local demand spikes or dips before production is finalised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Menu consumption history </a:t>
            </a:r>
            <a:r>
              <a:rPr sz="740" b="0" i="0">
                <a:solidFill>
                  <a:srgbClr val="333333"/>
                </a:solidFill>
                <a:latin typeface="Arial"/>
              </a:rPr>
              <a:t>converts expected meals into ingredient quantities for key staples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Weather &amp; consumption feedback </a:t>
            </a:r>
            <a:r>
              <a:rPr sz="740" b="0" i="0">
                <a:solidFill>
                  <a:srgbClr val="333333"/>
                </a:solidFill>
                <a:latin typeface="Arial"/>
              </a:rPr>
              <a:t>continuously refine the next centre-level forecast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Perishables (veg, dairy) </a:t>
            </a:r>
            <a:r>
              <a:rPr sz="740" b="0" i="0">
                <a:solidFill>
                  <a:srgbClr val="333333"/>
                </a:solidFill>
                <a:latin typeface="Arial"/>
              </a:rPr>
              <a:t>get shorter forecast cycles than staples (grains, dhals, oils)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1700784"/>
            <a:ext cx="3877056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1">
                <a:solidFill>
                  <a:srgbClr val="727375"/>
                </a:solidFill>
                <a:latin typeface="Arial"/>
              </a:rPr>
              <a:t>Decides when and where to buy each commodity to minimise total landed cost: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Seasonal price troughs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identify when each commodity should be bought before prices rise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Surplus-region signals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identify where each commodity can be sourced at lower landed cost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Logistics, handling &amp; storage costs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are included in every sourcing recommendation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Quality grades &amp; shelf-life rules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are locked into the final buying plan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Full procure-to-pay coverage </a:t>
            </a:r>
            <a:r>
              <a:rPr sz="740" b="0" i="0">
                <a:solidFill>
                  <a:srgbClr val="333333"/>
                </a:solidFill>
                <a:latin typeface="Arial"/>
              </a:rPr>
              <a:t>— requisition → PO → goods receipt → invoice → payment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90672"/>
            <a:ext cx="8412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Annual volumes:  </a:t>
            </a:r>
            <a:r>
              <a:rPr sz="740" b="0" i="0">
                <a:solidFill>
                  <a:srgbClr val="727375"/>
                </a:solidFill>
                <a:latin typeface="Arial"/>
              </a:rPr>
              <a:t>120 T vegetables · 55 T dhals · 20 T dairy · 18 T oils · 6 T spices — against ₹450 Cr+ annual food spend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741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346704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The self-learning operations loop — sharper every 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21024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75103" y="4023360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75103" y="404164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 · INGEST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37943" y="36896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pulls live prices,
weather &amp; attendance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18642" y="4490917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18642" y="4509205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2 · FORECAST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1482" y="4888681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ingredient-level
demand per centre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2832" y="5247442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72832" y="526573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3 · OPTIMIZE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5672" y="5645206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computes when &amp;
where to buy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7375" y="5247442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7375" y="526573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4 · RECOMMEND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0215" y="5645206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actionable buying
sheet for kitchens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31565" y="4490917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A64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31565" y="4509205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5 · LEARN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4405" y="4888681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outcome feedback
trains the model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699479" y="4280342"/>
            <a:ext cx="205932" cy="14961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991875" y="4938158"/>
            <a:ext cx="78659" cy="242088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305030" y="5494330"/>
            <a:ext cx="254547" cy="0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1794073" y="4938158"/>
            <a:ext cx="78659" cy="242088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959196" y="4280342"/>
            <a:ext cx="205932" cy="14961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9383" y="477316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↻  runs daily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45152" y="3374136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91456" y="3346704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Rice procurement cost — with vs. without GS funding ($M)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45152" y="3621024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4645152" y="3694176"/>
          <a:ext cx="4133087" cy="15361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ounded Rectangle 47"/>
          <p:cNvSpPr/>
          <p:nvPr/>
        </p:nvSpPr>
        <p:spPr>
          <a:xfrm>
            <a:off x="4645152" y="5303520"/>
            <a:ext cx="4133087" cy="603504"/>
          </a:xfrm>
          <a:prstGeom prst="roundRect">
            <a:avLst>
              <a:gd name="adj" fmla="val 1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36592" y="5340096"/>
            <a:ext cx="395020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CUMULATIVE 2026–29 IMPACT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~$10.1M saved  |  21.6% reduction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1">
                <a:solidFill>
                  <a:srgbClr val="FFFFFF"/>
                </a:solidFill>
                <a:latin typeface="Arial"/>
              </a:rPr>
              <a:t>team estimate on TAPF's ₹450 Cr+ annual food spend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economics where every donor rupee is matched by government subsidy, and a grant that compounds.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54864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FINAL CONTENT — SLIDE 6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92224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27375"/>
                </a:solidFill>
                <a:latin typeface="Arial"/>
              </a:rPr>
              <a:t>one-time grant ≈ ₹2.1 Cr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239572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2660904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398025"/>
                </a:solidFill>
                <a:latin typeface="Georgia"/>
              </a:rPr>
              <a:t>₹6.56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27375"/>
                </a:solidFill>
                <a:latin typeface="Arial"/>
              </a:rPr>
              <a:t>donor cost per meal — govt funds ₹8.56 of every ₹17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326440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3529584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3E6E"/>
                </a:solidFill>
                <a:latin typeface="Georgia"/>
              </a:rPr>
              <a:t>₹1,500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27375"/>
                </a:solidFill>
                <a:latin typeface="Arial"/>
              </a:rPr>
              <a:t>feeds one child for a full year (232 school days)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7512" y="413308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5760" y="4398264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E08A1E"/>
                </a:solidFill>
                <a:latin typeface="Georgia"/>
              </a:rPr>
              <a:t>14,000+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27375"/>
                </a:solidFill>
                <a:latin typeface="Arial"/>
              </a:rPr>
              <a:t>children fed for a year by the grant alone — before savings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1417320"/>
            <a:ext cx="10972" cy="3447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6" name="Plus 25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2.35M
meals-a-day
engine</a:t>
            </a:r>
          </a:p>
        </p:txBody>
      </p:sp>
      <p:sp>
        <p:nvSpPr>
          <p:cNvPr id="29" name="Equal 28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63240" y="325526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TAPF's own words: restricted funds “deliver meals today” but cannot build “the systems behind every meal” — GS funds exactly those systems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362102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Co-designed priorities: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forecasting &amp; real-time fleet visibility are TAPF's self-declared top tech gaps; logistics tech ranked #1 for grant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398678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forecasting, optimisation &amp; risk controls — with GS engineering mentorship pro bono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435254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audited savings against a ₹450 Cr+ procurement base; quarterly KPI dashboard to 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3240" y="471830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Compounding &amp; green: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savings recur yearly and support TAPF's 50% renewable-by-2030 and EV-fleet-by-2035 goals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0017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" y="497433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24865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376672"/>
            <a:ext cx="502920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" y="5376672"/>
            <a:ext cx="393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376672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0" i="1">
                <a:solidFill>
                  <a:srgbClr val="333333"/>
                </a:solidFill>
                <a:latin typeface="Arial"/>
              </a:rPr>
              <a:t>“Everybody used to get enough food and it was very tasty.”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60" b="0" i="0">
                <a:solidFill>
                  <a:srgbClr val="727375"/>
                </a:solidFill>
                <a:latin typeface="Arial"/>
              </a:rPr>
              <a:t>AVP, HSBC — programme alumnus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01568" y="5376672"/>
            <a:ext cx="10972" cy="658367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547872" y="5376672"/>
            <a:ext cx="502920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02736" y="5376672"/>
            <a:ext cx="393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51376" y="5376672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0" i="1">
                <a:solidFill>
                  <a:srgbClr val="333333"/>
                </a:solidFill>
                <a:latin typeface="Arial"/>
              </a:rPr>
              <a:t>“My dream is to become financially strong so I can support others the way I was supported.”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B3E6E"/>
                </a:solidFill>
                <a:latin typeface="Arial"/>
              </a:rPr>
              <a:t>— Suma, </a:t>
            </a:r>
            <a:r>
              <a:rPr sz="660" b="0" i="0">
                <a:solidFill>
                  <a:srgbClr val="727375"/>
                </a:solidFill>
                <a:latin typeface="Arial"/>
              </a:rPr>
              <a:t>Purchasing Analyst, Palo Alto Networks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10528" y="5376672"/>
            <a:ext cx="10972" cy="658367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56832" y="5358384"/>
            <a:ext cx="212140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1" i="0">
                <a:solidFill>
                  <a:srgbClr val="1B3E6E"/>
                </a:solidFill>
                <a:latin typeface="Arial"/>
              </a:rPr>
              <a:t>Recognition: </a:t>
            </a:r>
            <a:r>
              <a:rPr sz="660" b="0" i="0">
                <a:solidFill>
                  <a:srgbClr val="333333"/>
                </a:solidFill>
                <a:latin typeface="Arial"/>
              </a:rPr>
              <a:t>Padma Shri · Gandhi Peace Prize 2016 · BBC Global Champion · Nikkei Asia Award · CII Food Safety 2026 · HBS case study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B3E6E"/>
                </a:solidFill>
                <a:latin typeface="Arial"/>
              </a:rPr>
              <a:t>Partners incl.: </a:t>
            </a:r>
            <a:r>
              <a:rPr sz="660" b="0" i="0">
                <a:solidFill>
                  <a:srgbClr val="333333"/>
                </a:solidFill>
                <a:latin typeface="Arial"/>
              </a:rPr>
              <a:t>Deutsche Bank (Pune kitchen '26) · IOCL (solar) + leading corporates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where the savings come from, and what they buy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Every bar is a number from TAPF's own data — wastage logs and seasonal price spreads — built up transparently into recurring annual impact.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₹6 Cr saved every year = 9M+ more meals = 40,000+ children fed for a full year — recurring, audited, conservative.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5486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PROPOSED SLIDE 4 GRAPH — v2 (compare with slide 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99032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71600"/>
            <a:ext cx="4974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Annual savings build-up (₹ Cr / year)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45920"/>
            <a:ext cx="512064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846320"/>
            <a:ext cx="50749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421684"/>
            <a:ext cx="731520" cy="1424635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320222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+4.1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" y="4901183"/>
            <a:ext cx="1024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1" i="0">
                <a:solidFill>
                  <a:srgbClr val="333333"/>
                </a:solidFill>
                <a:latin typeface="Arial"/>
              </a:rPr>
              <a:t>Veg waste cut
4.9% → 2%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727375"/>
                </a:solidFill>
                <a:latin typeface="Arial"/>
              </a:rPr>
              <a:t>TAPF wastage logs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761487"/>
            <a:ext cx="731520" cy="660196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2542031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+1.9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8176" y="4901183"/>
            <a:ext cx="1024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1" i="0">
                <a:solidFill>
                  <a:srgbClr val="333333"/>
                </a:solidFill>
                <a:latin typeface="Arial"/>
              </a:rPr>
              <a:t>Dhals buy-timing
6–7% spread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727375"/>
                </a:solidFill>
                <a:latin typeface="Arial"/>
              </a:rPr>
              <a:t>TAPF price data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98448" y="3421684"/>
            <a:ext cx="256032" cy="0"/>
          </a:xfrm>
          <a:prstGeom prst="line">
            <a:avLst/>
          </a:prstGeom>
          <a:ln w="11430">
            <a:solidFill>
              <a:srgbClr val="727375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542032" y="2483510"/>
            <a:ext cx="731520" cy="277977"/>
          </a:xfrm>
          <a:prstGeom prst="rect">
            <a:avLst/>
          </a:prstGeom>
          <a:solidFill>
            <a:srgbClr val="F3C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04872" y="2264054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+0.8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7" y="4901183"/>
            <a:ext cx="1024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1" i="0">
                <a:solidFill>
                  <a:srgbClr val="333333"/>
                </a:solidFill>
                <a:latin typeface="Arial"/>
              </a:rPr>
              <a:t>Oils buy-timing
4–5% spread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727375"/>
                </a:solidFill>
                <a:latin typeface="Arial"/>
              </a:rPr>
              <a:t>TAPF price data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286000" y="2761487"/>
            <a:ext cx="256032" cy="0"/>
          </a:xfrm>
          <a:prstGeom prst="line">
            <a:avLst/>
          </a:prstGeom>
          <a:ln w="11430">
            <a:solidFill>
              <a:srgbClr val="727375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529584" y="2483510"/>
            <a:ext cx="731520" cy="277977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92424" y="2264054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22310"/>
                </a:solidFill>
                <a:latin typeface="Arial"/>
              </a:rPr>
              <a:t>−0.8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901183"/>
            <a:ext cx="1024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1" i="0">
                <a:solidFill>
                  <a:srgbClr val="333333"/>
                </a:solidFill>
                <a:latin typeface="Arial"/>
              </a:rPr>
              <a:t>Storage &amp;
carry cost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727375"/>
                </a:solidFill>
                <a:latin typeface="Arial"/>
              </a:rPr>
              <a:t>netted off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73552" y="2483510"/>
            <a:ext cx="256032" cy="0"/>
          </a:xfrm>
          <a:prstGeom prst="line">
            <a:avLst/>
          </a:prstGeom>
          <a:ln w="11430">
            <a:solidFill>
              <a:srgbClr val="727375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4517136" y="2761487"/>
            <a:ext cx="731520" cy="2084832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9976" y="2542031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₹6.0 Cr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2" y="4901183"/>
            <a:ext cx="1024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1" i="0">
                <a:solidFill>
                  <a:srgbClr val="333333"/>
                </a:solidFill>
                <a:latin typeface="Arial"/>
              </a:rPr>
              <a:t>NET SAVINGS
every year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727375"/>
                </a:solidFill>
                <a:latin typeface="Arial"/>
              </a:rPr>
              <a:t>recurring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261104" y="2761487"/>
            <a:ext cx="256032" cy="0"/>
          </a:xfrm>
          <a:prstGeom prst="line">
            <a:avLst/>
          </a:prstGeom>
          <a:ln w="11430">
            <a:solidFill>
              <a:srgbClr val="727375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870448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16752" y="1371600"/>
            <a:ext cx="27614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Capture ramp (₹ Cr saved / yr)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70448" y="1645920"/>
            <a:ext cx="2907791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5870448" y="1737360"/>
          <a:ext cx="2907791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5870448" y="2962656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pilot 30% → scale 60% → steady-state 85% capture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70448" y="33375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16752" y="3310128"/>
            <a:ext cx="27614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What ₹6 Cr/yr buys — every year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70448" y="3584448"/>
            <a:ext cx="2907791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0448" y="3694176"/>
            <a:ext cx="29077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₹6.0 Cr  </a:t>
            </a:r>
            <a:r>
              <a:rPr sz="950" b="0" i="0">
                <a:solidFill>
                  <a:srgbClr val="333333"/>
                </a:solidFill>
                <a:latin typeface="Arial"/>
              </a:rPr>
              <a:t>saved annually, steady-state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144768" y="395020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70448" y="4242816"/>
            <a:ext cx="29077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27375"/>
                </a:solidFill>
                <a:latin typeface="Arial"/>
              </a:rPr>
              <a:t>at ₹6.56  </a:t>
            </a:r>
            <a:r>
              <a:rPr sz="800" b="0" i="0">
                <a:solidFill>
                  <a:srgbClr val="333333"/>
                </a:solidFill>
                <a:latin typeface="Arial"/>
              </a:rPr>
              <a:t>donor cost per meal (govt funds the rest)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144768" y="449884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870448" y="4791455"/>
            <a:ext cx="29077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98025"/>
                </a:solidFill>
                <a:latin typeface="Arial"/>
              </a:rPr>
              <a:t>9.1M+  </a:t>
            </a:r>
            <a:r>
              <a:rPr sz="950" b="0" i="0">
                <a:solidFill>
                  <a:srgbClr val="333333"/>
                </a:solidFill>
                <a:latin typeface="Arial"/>
              </a:rPr>
              <a:t>additional meals every year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144768" y="504748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870448" y="5340095"/>
            <a:ext cx="29077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08A1E"/>
                </a:solidFill>
                <a:latin typeface="Arial"/>
              </a:rPr>
              <a:t>40,000+  </a:t>
            </a:r>
            <a:r>
              <a:rPr sz="950" b="0" i="0">
                <a:solidFill>
                  <a:srgbClr val="333333"/>
                </a:solidFill>
                <a:latin typeface="Arial"/>
              </a:rPr>
              <a:t>children fed for a full year — every year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577840"/>
            <a:ext cx="5120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1">
                <a:solidFill>
                  <a:srgbClr val="727375"/>
                </a:solidFill>
                <a:latin typeface="Arial"/>
              </a:rPr>
              <a:t>Assumptions: illustrative commodity split of TAPF's ₹450 Cr+ food spend; seasonal spreads per TAPF (dhals 6–7%, oils 4–5%, excl. taxation &amp; global events); wastage per TAPF supply-chain data (4.1–5.6%/month). Spatial sourcing &amp; spot-premium avoidance: not modelled — upside.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