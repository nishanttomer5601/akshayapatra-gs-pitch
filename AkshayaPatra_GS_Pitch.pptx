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Waste %</c:v>
                </c:pt>
              </c:strCache>
            </c:strRef>
          </c:tx>
          <c:spPr>
            <a:solidFill>
              <a:srgbClr val="C2231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Today</c:v>
                </c:pt>
                <c:pt idx="1">
                  <c:v>Yr 1</c:v>
                </c:pt>
                <c:pt idx="2">
                  <c:v>Yr 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9.0</c:v>
                </c:pt>
                <c:pt idx="1">
                  <c:v>4.5</c:v>
                </c:pt>
                <c:pt idx="2">
                  <c:v>2.7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297C5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A6428C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Platform $60k</c:v>
                </c:pt>
                <c:pt idx="1">
                  <c:v>Data infra $30k</c:v>
                </c:pt>
                <c:pt idx="2">
                  <c:v>Team $25k</c:v>
                </c:pt>
                <c:pt idx="3">
                  <c:v>ERP integr. $20k</c:v>
                </c:pt>
                <c:pt idx="4">
                  <c:v>Conting. $15k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30</c:v>
                </c:pt>
                <c:pt idx="2">
                  <c:v>25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Waste</c:v>
                </c:pt>
                <c:pt idx="1">
                  <c:v>Buying</c:v>
                </c:pt>
                <c:pt idx="2">
                  <c:v>Wkg cap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85</c:v>
                </c:pt>
                <c:pt idx="2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Our proposal — $250k deployed on the first &amp; last mile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Two targeted, technology-led interventions that convert the grant into permanent capability — not one year of operating expense.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Not funding a year of operations — installing a permanent upgrade that pays for itself,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Allocation of the $250,000 grant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$150k — Solution 1: Predictive demand planning (60%)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$100k — Solution 2:
Smart distribution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58568"/>
            <a:ext cx="48828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Fixes the costliest gap first: waste &amp; procurement inefficiency at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5" y="2258568"/>
            <a:ext cx="32552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Every meal on time, intact &amp; untouched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2715768"/>
            <a:ext cx="10972" cy="15087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697479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67004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4436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35808"/>
            <a:ext cx="40416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indents and forward procurement schedules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cuts food waste ~70%, buys ahead of price spikes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$230k saved / yr [dummy]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697479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67004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94436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035808"/>
            <a:ext cx="4187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routes sequenced to each school's lunch bell; van doors unlock only within 150 m of a registered school — no diversion, no adulteration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99%+ on-time, −18% fleet km, zero shrinkage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$80k saved / yr [dummy]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8795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160520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savings flywheel — how impact compounds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Grant funds
tech — once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6032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98025"/>
                </a:solidFill>
                <a:latin typeface="Arial"/>
              </a:rPr>
              <a:t>Savings of
$310k / yr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08A1E"/>
                </a:solidFill>
                <a:latin typeface="Arial"/>
              </a:rPr>
              <a:t>Reinvested in
more meals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6656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B6EA5"/>
                </a:solidFill>
                <a:latin typeface="Arial"/>
              </a:rPr>
              <a:t>More data →
better models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8541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8853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39165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65760" y="50749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…and the cycle repeats — every year, without further funding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2760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524865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 grant unlocks — every year, in perpetuity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52297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$310k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combined annual
savings (1.24x grant)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8255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+105,000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additional children
fed per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0752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~70%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reduction in
food wastage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99%+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meals inside the
lunch window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5744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&lt;10 mo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payback on the
full $250k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“Annapurna AI”: predict demand, buy smart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$150k builds a demand-forecasting and procurement-planning engine that ends over-production and peak-price buying across all 68 kitchens.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rupee not wasted is a meal served — forecasting turns waste into 105,000 more children fed each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760" b="0" i="0">
                <a:solidFill>
                  <a:srgbClr val="333333"/>
                </a:solidFill>
                <a:latin typeface="Arial"/>
              </a:rPr>
              <a:t> 3 days ahead — blind to attendance swings &amp; holidays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Spot purchases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8–10%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over-produced
&amp; wasted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+12%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paid over plan on
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2783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200400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Rollout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56616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1–4: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pilot in 3 Bengaluru kitchens; baseline waste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5–8: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model tuning; procurement-ERP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9–12: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scale to all 68 kitchens; hand over to in-house tech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334256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Food waste — % of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08576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4700016"/>
          <a:ext cx="3154680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it works — from signals to indents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94760" y="1755648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1801368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1 · DATA INPUTS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school attendance feeds • academic calendars &amp; holidays • menu cycles • mandi price APIs • weather &amp; seasonality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86500" y="2377440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2560320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8" y="2606040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Arial"/>
              </a:rPr>
              <a:t>2 · ML FORECASTING ENGINE   </a:t>
            </a:r>
            <a:r>
              <a:rPr sz="740" b="0" i="0">
                <a:solidFill>
                  <a:srgbClr val="FFFFFF"/>
                </a:solidFill>
                <a:latin typeface="Arial"/>
              </a:rPr>
              <a:t>kitchen-wise meal-demand prediction (±2% target) • price-trend models flag the cheapest buying windows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0" y="3182112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794760" y="3364991"/>
            <a:ext cx="4983479" cy="731520"/>
          </a:xfrm>
          <a:prstGeom prst="roundRect">
            <a:avLst>
              <a:gd name="adj" fmla="val 8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4488" y="3419856"/>
            <a:ext cx="47640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3 · OUTPUTS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auto-generated daily indents per kitchen • forward procurement schedule &amp; contract calendar • live waste dashboard • monthly savings report to donors (incl. GS)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$150k goes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9" name="Rectangle 38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$230k/yr → +105,000 children [dummy]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5331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Proven pathway out of poverty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86868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" y="1737360"/>
            <a:ext cx="7589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
Krishna
Kumar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53312" y="1737360"/>
            <a:ext cx="3054096" cy="1005840"/>
          </a:xfrm>
          <a:prstGeom prst="roundRect">
            <a:avLst>
              <a:gd name="adj" fmla="val 10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801368"/>
            <a:ext cx="28529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4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70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852928"/>
            <a:ext cx="404164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B3E6E"/>
                </a:solidFill>
                <a:latin typeface="Arial"/>
              </a:rPr>
              <a:t>Beneficiary outcomes [dummy]:  </a:t>
            </a:r>
            <a:r>
              <a:rPr sz="760" b="0" i="0">
                <a:solidFill>
                  <a:srgbClr val="333333"/>
                </a:solidFill>
                <a:latin typeface="Arial"/>
              </a:rPr>
              <a:t>+18% enrolment &amp; +12% attendance after programme entry  ·  </a:t>
            </a:r>
            <a:r>
              <a:rPr sz="760" b="1" i="0">
                <a:solidFill>
                  <a:srgbClr val="333333"/>
                </a:solidFill>
                <a:latin typeface="Arial"/>
              </a:rPr>
              <a:t>92% secondary completion</a:t>
            </a:r>
            <a:r>
              <a:rPr sz="760" b="0" i="0">
                <a:solidFill>
                  <a:srgbClr val="333333"/>
                </a:solidFill>
                <a:latin typeface="Arial"/>
              </a:rPr>
              <a:t> vs 74% national avg  ·  alumni across banking, engineering, civil services &amp; medicine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47872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520440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Recognition &amp; acknowledgements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886200"/>
            <a:ext cx="40416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Padma Shri (2016)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Chairman Madhu Pandit Dasa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World's largest NGO school-lunch programme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global record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4-billionth meal</a:t>
            </a:r>
            <a:r>
              <a:rPr sz="760" b="0" i="0">
                <a:solidFill>
                  <a:srgbClr val="333333"/>
                </a:solidFill>
                <a:latin typeface="Arial"/>
              </a:rPr>
              <a:t> milestone celebrated with Hon'ble PM of India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UK PM Rishi Sunak's kitchen visit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lauded hygiene &amp; scale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92040"/>
            <a:ext cx="54864" cy="182880"/>
          </a:xfrm>
          <a:prstGeom prst="rect">
            <a:avLst/>
          </a:prstGeom>
          <a:solidFill>
            <a:srgbClr val="09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8646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Trusted by leading corporates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1389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8511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3376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1263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86127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14015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8879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96767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51631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79519" y="5248656"/>
            <a:ext cx="627888" cy="438912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34383" y="5248656"/>
            <a:ext cx="5181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742432"/>
            <a:ext cx="4041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1">
                <a:solidFill>
                  <a:srgbClr val="727375"/>
                </a:solidFill>
                <a:latin typeface="Arial"/>
              </a:rPr>
              <a:t>+ 200 corporate &amp; institutional donors [replace with logos]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36592" y="135331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1627632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681727" y="1810512"/>
            <a:ext cx="969264" cy="841248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81727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43" name="Plus 42"/>
          <p:cNvSpPr/>
          <p:nvPr/>
        </p:nvSpPr>
        <p:spPr>
          <a:xfrm>
            <a:off x="5760720" y="2112264"/>
            <a:ext cx="237744" cy="237744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08192" y="1810512"/>
            <a:ext cx="969264" cy="841248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46" name="Equal 45"/>
          <p:cNvSpPr/>
          <p:nvPr/>
        </p:nvSpPr>
        <p:spPr>
          <a:xfrm>
            <a:off x="7187184" y="2112264"/>
            <a:ext cx="237744" cy="237744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534656" y="1810512"/>
            <a:ext cx="969264" cy="841248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34656" y="1920240"/>
            <a:ext cx="96926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90288" y="2724912"/>
            <a:ext cx="41879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One-time capital → permanent capability → recurring savings → more children in school, every year after Year 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90288" y="2971800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36592" y="294436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90288" y="321868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0288" y="3310128"/>
            <a:ext cx="418795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1 · Structural, not sustenance: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2 · Plays to GS DNA: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forecasting, optimisation &amp; risk controls — GS engineering can mentor the build pro bono.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3 · Measurable ROI: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$310k/yr audited savings; KPI dashboard shared quarterly with GS.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4 · Scalable blueprint: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90288" y="485546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36592" y="482803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ask &amp; next steps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90288" y="5102352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0288" y="5193792"/>
            <a:ext cx="418795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1B3E6E"/>
                </a:solidFill>
                <a:latin typeface="Arial"/>
              </a:rPr>
              <a:t>The ask: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$250,000 over 12 months in milestone-based tranches; joint GS–AP steering committee &amp; quarterly KPI reviews.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98025"/>
                </a:solidFill>
                <a:latin typeface="Arial"/>
              </a:rPr>
              <a:t>Month 12: </a:t>
            </a:r>
            <a:r>
              <a:rPr sz="750" b="1" i="0">
                <a:solidFill>
                  <a:srgbClr val="333333"/>
                </a:solidFill>
                <a:latin typeface="Arial"/>
              </a:rPr>
              <a:t>both platforms live in all 68 kitchens — the savings flywheel spinning on its 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