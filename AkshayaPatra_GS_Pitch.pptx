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Meals/day (M)</c:v>
                </c:pt>
              </c:strCache>
            </c:strRef>
          </c:tx>
          <c:spPr>
            <a:ln w="28575">
              <a:solidFill>
                <a:srgbClr val="1B3E6E"/>
              </a:solidFill>
            </a:ln>
          </c:spPr>
          <c:cat>
            <c:strRef>
              <c:f>Sheet1!$A$2:$A$8</c:f>
              <c:strCache>
                <c:ptCount val="7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2023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0.001</c:v>
                </c:pt>
                <c:pt idx="1">
                  <c:v>0.33</c:v>
                </c:pt>
                <c:pt idx="2">
                  <c:v>1.2</c:v>
                </c:pt>
                <c:pt idx="3">
                  <c:v>1.44</c:v>
                </c:pt>
                <c:pt idx="4">
                  <c:v>1.8</c:v>
                </c:pt>
                <c:pt idx="5">
                  <c:v>2.0</c:v>
                </c:pt>
                <c:pt idx="6">
                  <c:v>2.3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Waste %</c:v>
                </c:pt>
              </c:strCache>
            </c:strRef>
          </c:tx>
          <c:spPr>
            <a:solidFill>
              <a:srgbClr val="C2231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Today</c:v>
                </c:pt>
                <c:pt idx="1">
                  <c:v>Yr 1</c:v>
                </c:pt>
                <c:pt idx="2">
                  <c:v>Yr 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9.0</c:v>
                </c:pt>
                <c:pt idx="1">
                  <c:v>4.5</c:v>
                </c:pt>
                <c:pt idx="2">
                  <c:v>2.7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297C5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A6428C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Platform $60k</c:v>
                </c:pt>
                <c:pt idx="1">
                  <c:v>Data infra $30k</c:v>
                </c:pt>
                <c:pt idx="2">
                  <c:v>Team $25k</c:v>
                </c:pt>
                <c:pt idx="3">
                  <c:v>ERP integr. $20k</c:v>
                </c:pt>
                <c:pt idx="4">
                  <c:v>Conting. $15k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30</c:v>
                </c:pt>
                <c:pt idx="2">
                  <c:v>25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Waste</c:v>
                </c:pt>
                <c:pt idx="1">
                  <c:v>Buying</c:v>
                </c:pt>
                <c:pt idx="2">
                  <c:v>Wkg cap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85</c:v>
                </c:pt>
                <c:pt idx="2">
                  <c:v>25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98025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95F61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Routing sw $35k</c:v>
                </c:pt>
                <c:pt idx="1">
                  <c:v>Telematics $30k</c:v>
                </c:pt>
                <c:pt idx="2">
                  <c:v>Smart locks $20k</c:v>
                </c:pt>
                <c:pt idx="3">
                  <c:v>RFID $10k</c:v>
                </c:pt>
                <c:pt idx="4">
                  <c:v>Ops $5k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Fuel</c:v>
                </c:pt>
                <c:pt idx="1">
                  <c:v>Vessels</c:v>
                </c:pt>
                <c:pt idx="2">
                  <c:v>Food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20</c:v>
                </c:pt>
                <c:pt idx="2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98025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Solution 1 — $150k</c:v>
                </c:pt>
                <c:pt idx="1">
                  <c:v>Solution 2 — $100k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100</c:v>
                </c:pt>
              </c:numCache>
            </c:numRef>
          </c:val>
        </c:ser>
        <c:dLbls>
          <c:numFmt formatCode="&quot;$&quot;0&quot;k&quot;" sourceLinked="0"/>
          <c:txPr>
            <a:bodyPr/>
            <a:lstStyle/>
            <a:p>
              <a:pPr>
                <a:defRPr sz="10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800">
          <a:latin typeface="Arial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Who is The Akshaya Patra Foundation?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world's largest NGO-run school meal programme — serving 2.3 million children every school day, so that hunger never interrupts education.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“No child shall be deprived of education because of hunger” — at a scale no other NGO matches.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8412480" cy="7315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380744"/>
            <a:ext cx="896112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80744"/>
            <a:ext cx="78638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AKSHAYA PATRA
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298448"/>
            <a:ext cx="7168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Over 1 in 3 children in India show signs of undernourishment</a:t>
            </a:r>
            <a:r>
              <a:rPr sz="800" b="0" i="0">
                <a:solidFill>
                  <a:srgbClr val="FFFFFF"/>
                </a:solidFill>
                <a:latin typeface="Arial"/>
              </a:rPr>
              <a:t> — and hunger is a leading reason children drop out of school. Founded in 2000 in Bengaluru with </a:t>
            </a:r>
            <a:r>
              <a:rPr sz="800" b="1" i="0">
                <a:solidFill>
                  <a:srgbClr val="FFFFFF"/>
                </a:solidFill>
                <a:latin typeface="Arial"/>
              </a:rPr>
              <a:t>1,500 children across 5 schools</a:t>
            </a:r>
            <a:r>
              <a:rPr sz="800" b="0" i="0">
                <a:solidFill>
                  <a:srgbClr val="FFFFFF"/>
                </a:solidFill>
                <a:latin typeface="Arial"/>
              </a:rPr>
              <a:t>, Akshaya Patra now runs the world's largest NGO-operated mid-day meal programme — a PPP with the Government of India that has served </a:t>
            </a:r>
            <a:r>
              <a:rPr sz="800" b="1" i="0">
                <a:solidFill>
                  <a:srgbClr val="FFFFFF"/>
                </a:solidFill>
                <a:latin typeface="Arial"/>
              </a:rPr>
              <a:t>4+ billion cumulative meals.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2212848"/>
            <a:ext cx="10972" cy="368503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0370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17627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Who they are &amp; why we chose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50591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42032"/>
            <a:ext cx="404164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Mission: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eliminate classroom hunger by implementing the Mid-Day Meal Scheme in government schools while fighting child malnutrition across India.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Akshaya Patra: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our on-ground kitchen inspections and supply-chain review found world-class production — and </a:t>
            </a:r>
            <a:r>
              <a:rPr sz="800" b="1" i="0">
                <a:solidFill>
                  <a:srgbClr val="333333"/>
                </a:solidFill>
                <a:latin typeface="Arial"/>
              </a:rPr>
              <a:t>two clearly identified, fixable gaps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where $250k unlocks compounding, year-on-year impact rather than one-off sustenance.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25+ yrs of proven delivery   ✓ Govt-audited PPP   ✓ Tech-forward leadership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54864" cy="182880"/>
          </a:xfrm>
          <a:prstGeom prst="rect">
            <a:avLst/>
          </a:prstGeom>
          <a:solidFill>
            <a:srgbClr val="729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502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journey — daily meals served (millions)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245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65760" y="4334256"/>
          <a:ext cx="4041648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65760" y="5687568"/>
            <a:ext cx="4041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3333"/>
                </a:solidFill>
                <a:latin typeface="Arial"/>
              </a:rPr>
              <a:t>2012: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1 billionth meal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2019: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3 billionth served by Hon'ble PM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2024: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4 billion meals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203703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17627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they do — the hub-and-spoke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450591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2542032"/>
            <a:ext cx="41879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Centralised mega-kitchens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cook up to 100,000 meals each before 6 AM 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Hub-and-spoke delivery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of hot, locally-adapted menus to school doorsteps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PPP funding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govt subsidies + philanthropy; every $ leveraged ~3x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Beyond food: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scholarships, anganwadi feeding, disaster-relief kitchens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6301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6592" y="3602736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Scale at a glance (FY26)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3877056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0288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2.3M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served
every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5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68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mega-kitchens
across India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16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states &amp;
2 UTs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1252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24,000+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govt schools
served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4709160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468172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Aligned to UN SDGs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495604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90288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1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Zero Hunger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8655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19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Quality Educ.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7023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61887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Partners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19" y="5084064"/>
            <a:ext cx="210312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3" y="5084064"/>
            <a:ext cx="199339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PHOTO: children at mid-day meal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A world-class supply chain — with two blind spots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We walked their kitchens, interviewed staff and mapped the end-to-end flow: production is best-in-class; the gaps sit at the first and last mile.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A Formula-1 production line — fed by guesswork, delivered on hand-drawn maps. That is where we intervene.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727375"/>
                </a:solidFill>
                <a:latin typeface="Arial"/>
              </a:rPr>
              <a:t>Our diligence: 2 kitchen visits  •  12 staff interviews  •  procurement &amp; route data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Audited &amp; certified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FSSAI-licensed, ISO 22000-certified kitchens; govt &amp; third-party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Global recognition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UK PM Rishi Sunak toured the Bengaluru kitchen — praised hygiene &amp;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91056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Our on-ground audit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Gravity-flow cooking, 2-hr batch cycles, near-zero contamination risk</a:t>
            </a:r>
          </a:p>
        </p:txBody>
      </p:sp>
      <p:sp>
        <p:nvSpPr>
          <p:cNvPr id="13" name="Chevron 12"/>
          <p:cNvSpPr/>
          <p:nvPr/>
        </p:nvSpPr>
        <p:spPr>
          <a:xfrm>
            <a:off x="36576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PROCUREMENT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Grains, dairy
from mandis</a:t>
            </a:r>
          </a:p>
        </p:txBody>
      </p:sp>
      <p:sp>
        <p:nvSpPr>
          <p:cNvPr id="15" name="Chevron 14"/>
          <p:cNvSpPr/>
          <p:nvPr/>
        </p:nvSpPr>
        <p:spPr>
          <a:xfrm>
            <a:off x="1773936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6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STORAGE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Silos, cold
rooms; FIFO</a:t>
            </a:r>
          </a:p>
        </p:txBody>
      </p:sp>
      <p:sp>
        <p:nvSpPr>
          <p:cNvPr id="17" name="Chevron 16"/>
          <p:cNvSpPr/>
          <p:nvPr/>
        </p:nvSpPr>
        <p:spPr>
          <a:xfrm>
            <a:off x="3182112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PREPROCESS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Auto roti lines,
veg prep</a:t>
            </a:r>
          </a:p>
        </p:txBody>
      </p:sp>
      <p:sp>
        <p:nvSpPr>
          <p:cNvPr id="19" name="Chevron 18"/>
          <p:cNvSpPr/>
          <p:nvPr/>
        </p:nvSpPr>
        <p:spPr>
          <a:xfrm>
            <a:off x="4590288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COOKING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Steam cauldrons;
100k by 6 AM</a:t>
            </a:r>
          </a:p>
        </p:txBody>
      </p:sp>
      <p:sp>
        <p:nvSpPr>
          <p:cNvPr id="21" name="Chevron 20"/>
          <p:cNvSpPr/>
          <p:nvPr/>
        </p:nvSpPr>
        <p:spPr>
          <a:xfrm>
            <a:off x="5998464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QC &amp;
PACKING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Lab-tested;
sealed vessels</a:t>
            </a:r>
          </a:p>
        </p:txBody>
      </p:sp>
      <p:sp>
        <p:nvSpPr>
          <p:cNvPr id="23" name="Chevron 22"/>
          <p:cNvSpPr/>
          <p:nvPr/>
        </p:nvSpPr>
        <p:spPr>
          <a:xfrm>
            <a:off x="740664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19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DISTRIBUTION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Van fleet to
schools by lunch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23360" y="2212848"/>
            <a:ext cx="45720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83680" y="2212848"/>
            <a:ext cx="36576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5760" y="3456432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98025"/>
                </a:solidFill>
                <a:latin typeface="Arial"/>
              </a:rPr>
              <a:t>Steps 2–5 are best-in-class </a:t>
            </a:r>
            <a:r>
              <a:rPr sz="850" b="0" i="0">
                <a:solidFill>
                  <a:srgbClr val="727375"/>
                </a:solidFill>
                <a:latin typeface="Arial"/>
              </a:rPr>
              <a:t>— automated, audited, built to scale. No intervention needed.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1 — PROCUREMENT: no demand forecasting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Manual estimates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no view of school-level attendance, holidays or menu uptake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~8–10% over-production</a:t>
            </a:r>
            <a:r>
              <a:rPr sz="750" b="0" i="0">
                <a:solidFill>
                  <a:srgbClr val="333333"/>
                </a:solidFill>
                <a:latin typeface="Arial"/>
              </a:rPr>
              <a:t> wasted on low-attendance days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750" b="0" i="0">
                <a:solidFill>
                  <a:srgbClr val="333333"/>
                </a:solidFill>
                <a:latin typeface="Arial"/>
              </a:rPr>
              <a:t> at mandi peak prices — up to 12% above plan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price intelligence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cheapest forward-buying windows are missed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higher cost per meal → fewer children fed per donor $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1 ($150k)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2 — DISTRIBUTION: no route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145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15–30 min past the lunch bell means children stay hungry all day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telematics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vessels &amp; utensils untracked;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Adulteration / diversion risk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unsealed vans can be offloaded at roadside dhabas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school shortfall disputes unresolved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missed lunch windows, fuel burn, shrinkage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2 ($100k)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1051560" y="3410712"/>
            <a:ext cx="4572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092440" y="3410712"/>
            <a:ext cx="13716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Our proposal — $250k deployed on the first &amp; last mile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Two targeted, technology-led interventions that convert the grant into permanent capability — not one year of operating expense.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Not funding a year of operations — installing a permanent upgrade that pays for itself,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Allocation of the $250,000 grant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$150k — Solution 1: Predictive demand planning (60%)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$100k — Solution 2:
Smart distribution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258568"/>
            <a:ext cx="48828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Fixes the costliest gap first: waste &amp; procurement inefficiency at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5" y="2258568"/>
            <a:ext cx="32552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Every meal on time, intact &amp; untouched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1688" y="2715768"/>
            <a:ext cx="10972" cy="15087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697479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267004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· $150k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4436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035808"/>
            <a:ext cx="404164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ML demand-forecasting &amp; procurement-planning platform across all 68 kitchens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predicts school-level attendance from history, calendars &amp; seasonality; auto-generates indents and forward procurement schedules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cuts food waste ~70%, buys ahead of price spikes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$230k saved / yr [dummy]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697479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67004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2 — “Last-Mile Shield” · $100k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94436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3035808"/>
            <a:ext cx="41879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AI route optimisation + van telematics (GPS, cameras, RFID tags) + geofenced smart locks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routes sequenced to each school's lunch bell; van doors unlock only within 150 m of a registered school — no diversion, no adulteration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99%+ on-time, −18% fleet km, zero shrinkage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$80k saved / yr [dummy]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18795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" y="4160520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savings flywheel — how impact compounds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34840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B3E6E"/>
                </a:solidFill>
                <a:latin typeface="Arial"/>
              </a:rPr>
              <a:t>Grant funds
tech — once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6032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98025"/>
                </a:solidFill>
                <a:latin typeface="Arial"/>
              </a:rPr>
              <a:t>Savings of
$310k / yr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08A1E"/>
                </a:solidFill>
                <a:latin typeface="Arial"/>
              </a:rPr>
              <a:t>Reinvested in
more meals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6656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B6EA5"/>
                </a:solidFill>
                <a:latin typeface="Arial"/>
              </a:rPr>
              <a:t>More data →
better models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18541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28853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39165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65760" y="5074920"/>
            <a:ext cx="8412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…and the cycle repeats — every year, without further funding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2760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" y="5248656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 grant unlocks — every year, in perpetuity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522976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$310k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combined annual
savings (1.24x grant)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48255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+105,000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additional children
fed per year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30752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~70%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reduction in
food wastage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99%+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meals inside the
lunch window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95744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&lt;10 mo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payback on the
full $250k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1 — “Annapurna AI”: predict demand, buy smart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$150k builds a demand-forecasting and procurement-planning engine that ends over-production and peak-price buying across all 68 kitchens.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rupee not wasted is a meal served — forecasting turns waste into 105,000 more children fed each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760" b="0" i="0">
                <a:solidFill>
                  <a:srgbClr val="333333"/>
                </a:solidFill>
                <a:latin typeface="Arial"/>
              </a:rPr>
              <a:t> 3 days ahead — blind to attendance swings &amp; holidays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Spot purchases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at mandi peak prices when stocks run short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8–10%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over-produced
&amp; wasted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+12%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paid over plan on
spot buys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2783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200400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Rollout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74720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566160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1–4: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pilot in 3 Bengaluru kitchens; baseline waste audit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5–8: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model tuning; procurement-ERP integration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9–12: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scale to all 68 kitchens; hand over to in-house tech 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334256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Food waste — % of production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08576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4700016"/>
          <a:ext cx="3154680" cy="1188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How it works — from signals to indents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794760" y="1755648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1801368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1 · DATA INPUTS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school attendance feeds • academic calendars &amp; holidays • menu cycles • mandi price APIs • weather &amp; seasonality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86500" y="2377440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794760" y="2560320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04488" y="2606040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Arial"/>
              </a:rPr>
              <a:t>2 · ML FORECASTING ENGINE   </a:t>
            </a:r>
            <a:r>
              <a:rPr sz="740" b="0" i="0">
                <a:solidFill>
                  <a:srgbClr val="FFFFFF"/>
                </a:solidFill>
                <a:latin typeface="Arial"/>
              </a:rPr>
              <a:t>kitchen-wise meal-demand prediction (±2% target) • price-trend models flag the cheapest buying windows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86500" y="3182112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794760" y="3364991"/>
            <a:ext cx="4983479" cy="731520"/>
          </a:xfrm>
          <a:prstGeom prst="roundRect">
            <a:avLst>
              <a:gd name="adj" fmla="val 8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04488" y="3419856"/>
            <a:ext cx="476402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3 · OUTPUTS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auto-generated daily indents per kitchen • forward procurement schedule &amp; contract calendar • live waste dashboard • monthly savings report to donors (incl. GS)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$150k goes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9" name="Rectangle 38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$230k/yr → +105,000 children [dummy]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2 — “Last-Mile Shield”: on time, intact, untouched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$100k puts every van on an intelligent route and seals the last mile with telematics and geofenced locks — diversion becomes physically impossible.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meal arrives on time, intact and untouched — by design, not by luck.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Missed lunch windows: </a:t>
            </a:r>
            <a:r>
              <a:rPr sz="760" b="0" i="0">
                <a:solidFill>
                  <a:srgbClr val="333333"/>
                </a:solidFill>
                <a:latin typeface="Arial"/>
              </a:rPr>
              <a:t>15–30 min late means children go hungry all day — non-negotiable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Static routes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driver memory — no live traffic, no lunch-bell sequencing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Untracked vessels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leave daily with no tagging;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Open vans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meals can be offloaded / adulterated at dhabas en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6.2%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deliveries miss the
lunch window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$35k/yr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vessel &amp; shrinkage
losses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66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639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Route redesign — 1 hub, 40 schools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13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23359"/>
            <a:ext cx="3154680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4023359"/>
            <a:ext cx="304495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🗺 MAP: before vs after routes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(insert optimised-route schematic; −18% km)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3035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3 vans freed per hub </a:t>
            </a:r>
            <a:r>
              <a:rPr sz="700" b="0" i="0">
                <a:solidFill>
                  <a:srgbClr val="333333"/>
                </a:solidFill>
                <a:latin typeface="Arial"/>
              </a:rPr>
              <a:t>→ redeployed to 12 new schools [dummy]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fix — three integrated layers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94760" y="1755648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8" y="1810512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1 · ROUTE INTELLIGENCE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AI planner sequences every drop to each school's lunch bell • live traffic re-routing • delay alerts to school + kitchen 30 min ahead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2523744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FDF6E0"/>
          </a:solidFill>
          <a:ln w="1143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2578608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2 · VEHICLE TELEMATICS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GPS + in-van cameras on every vehicle • RFID tags on all vessels &amp; utensils • automated end-of-day reconciliation — zero missing inventory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3291839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04488" y="3346703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3 · GEOFENCED INTEGRITY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Smart-locked doors open only within 150 m of a registered school • real-time tamper alerts • en-route offloading &amp; adulteration made impossible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4078223"/>
            <a:ext cx="4983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After implementation:  </a:t>
            </a:r>
            <a:r>
              <a:rPr sz="819" b="1" i="0">
                <a:solidFill>
                  <a:srgbClr val="398025"/>
                </a:solidFill>
                <a:latin typeface="Arial"/>
              </a:rPr>
              <a:t>99.5% in lunch window   ·   −18% fleet km   ·   0 unaccounted vessels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$100k goes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Rectangle 35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$80k/yr + trust that is priceless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8988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B3E6E"/>
                </a:solidFill>
                <a:latin typeface="Arial"/>
              </a:rPr>
              <a:t>THE FUND &amp; ITS 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2331720" cy="12801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922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1B3E6E"/>
                </a:solidFill>
                <a:latin typeface="Georgia"/>
              </a:rPr>
              <a:t>$250k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one-time grant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7512" y="24323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7066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398025"/>
                </a:solidFill>
                <a:latin typeface="Georgia"/>
              </a:rPr>
              <a:t>$310k / yr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returned in audited savings — every single year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7512" y="33467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36210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B3E6E"/>
                </a:solidFill>
                <a:latin typeface="Georgia"/>
              </a:rPr>
              <a:t>+105,000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children fed per year at zero extra cost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7512" y="42611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45354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08A1E"/>
                </a:solidFill>
                <a:latin typeface="Georgia"/>
              </a:rPr>
              <a:t>&lt; 10 months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payback on the full grant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1417320"/>
            <a:ext cx="10972" cy="3429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63240" y="1399032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9544" y="1371600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The partnership equation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1645920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09644" y="1755648"/>
            <a:ext cx="969264" cy="804672"/>
          </a:xfrm>
          <a:prstGeom prst="ellipse">
            <a:avLst/>
          </a:prstGeom>
          <a:solidFill>
            <a:srgbClr val="EEF3F9"/>
          </a:solidFill>
          <a:ln w="1397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9644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24" name="Plus 23"/>
          <p:cNvSpPr/>
          <p:nvPr/>
        </p:nvSpPr>
        <p:spPr>
          <a:xfrm>
            <a:off x="5088636" y="2048255"/>
            <a:ext cx="237744" cy="219456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36108" y="1755648"/>
            <a:ext cx="969264" cy="804672"/>
          </a:xfrm>
          <a:prstGeom prst="ellipse">
            <a:avLst/>
          </a:prstGeom>
          <a:solidFill>
            <a:srgbClr val="FDF6E0"/>
          </a:solidFill>
          <a:ln w="1397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36108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08A1E"/>
                </a:solidFill>
                <a:latin typeface="Arial"/>
              </a:rPr>
              <a:t>AP's 2.3M
meals-a-day
engine</a:t>
            </a:r>
          </a:p>
        </p:txBody>
      </p:sp>
      <p:sp>
        <p:nvSpPr>
          <p:cNvPr id="27" name="Equal 26"/>
          <p:cNvSpPr/>
          <p:nvPr/>
        </p:nvSpPr>
        <p:spPr>
          <a:xfrm>
            <a:off x="6515100" y="2048255"/>
            <a:ext cx="237744" cy="219456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2572" y="1755648"/>
            <a:ext cx="969264" cy="804672"/>
          </a:xfrm>
          <a:prstGeom prst="ellipse">
            <a:avLst/>
          </a:prstGeom>
          <a:solidFill>
            <a:srgbClr val="EAF3E6"/>
          </a:solidFill>
          <a:ln w="1397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2572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606039"/>
            <a:ext cx="5715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One-time capital → permanent capability → recurring savings → more children in school, every year after Year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916936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9544" y="2889504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Why the GS grant stands out here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163824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3240" y="3255264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Structural, not sustenance: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3570732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Plays to GS DNA: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3886200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Measurable ROI: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201668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Partnership beyond capital: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GS volunteering days at kitchens &amp; co-branded impact reporting — a partner, not a donor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4517136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Scalable blueprint: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983480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64" y="4956048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Proven track record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30368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340096"/>
            <a:ext cx="5669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" y="5340096"/>
            <a:ext cx="457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Krishna
Kumar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" y="5340096"/>
            <a:ext cx="3520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2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68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36592" y="5340096"/>
            <a:ext cx="10972" cy="56692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01184" y="5340096"/>
            <a:ext cx="38770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Trusted by leading corporates </a:t>
            </a:r>
            <a:r>
              <a:rPr sz="800" b="0" i="0">
                <a:solidFill>
                  <a:srgbClr val="727375"/>
                </a:solidFill>
                <a:latin typeface="Arial"/>
              </a:rPr>
              <a:t>(+200 more)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0118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Infosys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54980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09844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TCS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08776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HDFC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62572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17436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Amazon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16368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71232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Airbus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7016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502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SBI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The two gaps — and the $250,000 that closes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Unpacking the gaps highlighted in the supply chain: what is broken today, how the grant splits across them, and the solution we build for each.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Two fixable gaps, two targeted builds — $250k of capital becomes $310k of savings,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PROPOSED SLIDE 3 — v2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53312"/>
            <a:ext cx="39227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1 — Procurement: demand is guesswork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40690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819" b="0" i="0">
                <a:solidFill>
                  <a:srgbClr val="333333"/>
                </a:solidFill>
                <a:latin typeface="Arial"/>
              </a:rPr>
              <a:t> 3 days ahead — blind to attendance swings, exams &amp; holidays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819" b="0" i="0">
                <a:solidFill>
                  <a:srgbClr val="333333"/>
                </a:solidFill>
                <a:latin typeface="Arial"/>
              </a:rPr>
              <a:t> at mandi peak prices when stocks run short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No price intelligence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cheapest forward-buying windows are missed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819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24912"/>
            <a:ext cx="4069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C22310"/>
                </a:solidFill>
                <a:latin typeface="Arial"/>
              </a:rPr>
              <a:t>Cost today:  8–10% meals over-produced  ·  +12% paid on spot buys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1353312"/>
            <a:ext cx="39227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2 — Distribution: the last mile is blind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1627632"/>
            <a:ext cx="40690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1719072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15–30 min past the lunch bell means children stay hungry all day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Untracked vessels &amp; utensils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daily losses add to operating cost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Adulteration / diversion risk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unsealed vans can be offloaded at roadside dhabas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school shortfall disputes go unresolved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724912"/>
            <a:ext cx="4069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C22310"/>
                </a:solidFill>
                <a:latin typeface="Arial"/>
              </a:rPr>
              <a:t>Cost today:  6.2% deliveries miss lunch  ·  $35k/yr shrinkage [dummy]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2666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2999232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How the $250,000 grant splits across the two gaps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73551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383279"/>
            <a:ext cx="4882895" cy="402336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85815" y="3383279"/>
            <a:ext cx="3255263" cy="402336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383279"/>
            <a:ext cx="488289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$150k — Gap 1: Procurement (60%)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85815" y="3383279"/>
            <a:ext cx="325526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$100k — Gap 2: Distribution (40%)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13048"/>
            <a:ext cx="488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The costlier gap first — waste &amp; over-priced buying start at the 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5815" y="3813048"/>
            <a:ext cx="32552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Then seal the last mile — on time, intact, untouched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400300" y="4023359"/>
            <a:ext cx="544068" cy="164593"/>
          </a:xfrm>
          <a:prstGeom prst="curvedConnector3">
            <a:avLst/>
          </a:prstGeom>
          <a:ln w="15875">
            <a:solidFill>
              <a:srgbClr val="1B3E6E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6743700" y="4023359"/>
            <a:ext cx="269747" cy="164593"/>
          </a:xfrm>
          <a:prstGeom prst="curvedConnector3">
            <a:avLst/>
          </a:prstGeom>
          <a:ln w="15875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365760" y="4224528"/>
            <a:ext cx="4069080" cy="1664208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" y="4306824"/>
            <a:ext cx="3813048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 ·  $150k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ML demand-forecasting &amp; procurement-planning platform across all 68 kitchens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predicts school-level attendance from history, calendars &amp; seasonality; auto-generates daily indents &amp; forward buying schedules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Rollout: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3-kitchen pilot (Mo 1–4) → all 68 kitchens by Mo 12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398025"/>
                </a:solidFill>
                <a:latin typeface="Arial"/>
              </a:rPr>
              <a:t>→  ~70% less food waste  ·  est. $230k saved / yr [dummy]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09160" y="4224528"/>
            <a:ext cx="4069080" cy="1664208"/>
          </a:xfrm>
          <a:prstGeom prst="roundRect">
            <a:avLst>
              <a:gd name="adj" fmla="val 5000"/>
            </a:avLst>
          </a:prstGeom>
          <a:solidFill>
            <a:srgbClr val="EAF3E6"/>
          </a:solidFill>
          <a:ln w="1270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4306824"/>
            <a:ext cx="3813048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398025"/>
                </a:solidFill>
                <a:latin typeface="Arial"/>
              </a:rPr>
              <a:t>SOLUTION 2 — “Last-Mile Shield”  ·  $100k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AI route optimisation + van telematics (GPS, cameras, RFID tags) + geofenced smart locks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routes sequenced to each school's lunch bell; doors unlock only within 150 m of a registered school — diversion becomes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Bonus: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hardware amortises over 5+ yrs; 3 vans freed per hub reach new schools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398025"/>
                </a:solidFill>
                <a:latin typeface="Arial"/>
              </a:rPr>
              <a:t>→  99%+ on-time  ·  −18% fleet km  ·  est. $80k saved / yr [dummy]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The two gaps — and the $250,000 that closes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gaps highlighted in the supply chain, the grant that closes them, and the solution we build for each — all in one 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Two fixable gaps, two targeted builds — $250k of capital becomes $310k of savings,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PROPOSED SLIDE 3 — v3 (pie quadrant)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399032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71600"/>
            <a:ext cx="26426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1 — Procurement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45920"/>
            <a:ext cx="278892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3736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Manual indenting</a:t>
            </a:r>
            <a:r>
              <a:rPr sz="780" b="0" i="0">
                <a:solidFill>
                  <a:srgbClr val="333333"/>
                </a:solidFill>
                <a:latin typeface="Arial"/>
              </a:rPr>
              <a:t> — blind to attendance, exams &amp; holidays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Spot-buying</a:t>
            </a:r>
            <a:r>
              <a:rPr sz="780" b="0" i="0">
                <a:solidFill>
                  <a:srgbClr val="333333"/>
                </a:solidFill>
                <a:latin typeface="Arial"/>
              </a:rPr>
              <a:t> at mandi peak prices; no price intelligence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780" b="0" i="0">
                <a:solidFill>
                  <a:srgbClr val="333333"/>
                </a:solidFill>
                <a:latin typeface="Arial"/>
              </a:rPr>
              <a:t> on actual meal uptake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8–10% over-produced · +12% spot premium [dummy]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399032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5624" y="1371600"/>
            <a:ext cx="26426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2 — Distribution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1645920"/>
            <a:ext cx="278892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173736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780" b="0" i="0">
                <a:solidFill>
                  <a:srgbClr val="333333"/>
                </a:solidFill>
                <a:latin typeface="Arial"/>
              </a:rPr>
              <a:t> — late vans mean children stay hungry all day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Untracked vessels</a:t>
            </a:r>
            <a:r>
              <a:rPr sz="780" b="0" i="0">
                <a:solidFill>
                  <a:srgbClr val="333333"/>
                </a:solidFill>
                <a:latin typeface="Arial"/>
              </a:rPr>
              <a:t>; adulteration &amp; diversion risk en route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780" b="0" i="0">
                <a:solidFill>
                  <a:srgbClr val="333333"/>
                </a:solidFill>
                <a:latin typeface="Arial"/>
              </a:rPr>
              <a:t> — disputes go unresolved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6.2% miss lunch window · $35k/yr shrinkage [dummy]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3273552" y="2331720"/>
          <a:ext cx="260604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273552" y="4626864"/>
            <a:ext cx="2606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THE $250k GRANT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1">
                <a:solidFill>
                  <a:srgbClr val="727375"/>
                </a:solidFill>
                <a:latin typeface="Arial"/>
              </a:rPr>
              <a:t>60 / 40 — weighted to the costlier gap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46120" y="2331720"/>
            <a:ext cx="548640" cy="548640"/>
          </a:xfrm>
          <a:prstGeom prst="curvedConnector3">
            <a:avLst/>
          </a:prstGeom>
          <a:ln w="13970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349240" y="2331720"/>
            <a:ext cx="548640" cy="548640"/>
          </a:xfrm>
          <a:prstGeom prst="curvedConnector3">
            <a:avLst/>
          </a:prstGeom>
          <a:ln w="13970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209544" y="4160520"/>
            <a:ext cx="539495" cy="457200"/>
          </a:xfrm>
          <a:prstGeom prst="curvedConnector3">
            <a:avLst/>
          </a:prstGeom>
          <a:ln w="13970">
            <a:solidFill>
              <a:srgbClr val="1B3E6E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0" y="4160520"/>
            <a:ext cx="539496" cy="457200"/>
          </a:xfrm>
          <a:prstGeom prst="curvedConnector3">
            <a:avLst/>
          </a:prstGeom>
          <a:ln w="1397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5760" y="3931920"/>
            <a:ext cx="2788920" cy="17830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4014215"/>
            <a:ext cx="2551176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SOLUTION 1
“Annapurna AI” · $150k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ML demand-forecasting &amp; procurement planning for all 68 kitchens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predicts school-level attendance; auto-generates indents &amp; buying schedules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98025"/>
                </a:solidFill>
                <a:latin typeface="Arial"/>
              </a:rPr>
              <a:t>→ ~70% less waste  ·  est. $230k saved / yr [dummy]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89320" y="3931920"/>
            <a:ext cx="2788920" cy="1783080"/>
          </a:xfrm>
          <a:prstGeom prst="roundRect">
            <a:avLst>
              <a:gd name="adj" fmla="val 5000"/>
            </a:avLst>
          </a:prstGeom>
          <a:solidFill>
            <a:srgbClr val="EAF3E6"/>
          </a:solidFill>
          <a:ln w="1270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08192" y="4014215"/>
            <a:ext cx="2551176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398025"/>
                </a:solidFill>
                <a:latin typeface="Arial"/>
              </a:rPr>
              <a:t>SOLUTION 2
“Last-Mile Shield” · $100k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AI routing + telematics (GPS, cameras, RFID) + geofenced smart locks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drops sequenced to lunch bells; doors unlock only near a registered school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98025"/>
                </a:solidFill>
                <a:latin typeface="Arial"/>
              </a:rPr>
              <a:t>→ 99%+ on-time · −18% km  ·  est. $80k saved / yr [dummy]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