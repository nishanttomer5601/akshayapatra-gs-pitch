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Meals/day (M)</c:v>
                </c:pt>
              </c:strCache>
            </c:strRef>
          </c:tx>
          <c:spPr>
            <a:ln w="28575">
              <a:solidFill>
                <a:srgbClr val="1B3E6E"/>
              </a:solidFill>
            </a:ln>
          </c:spPr>
          <c:cat>
            <c:strRef>
              <c:f>Sheet1!$A$2:$A$8</c:f>
              <c:strCache>
                <c:ptCount val="7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2023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0.001</c:v>
                </c:pt>
                <c:pt idx="1">
                  <c:v>0.33</c:v>
                </c:pt>
                <c:pt idx="2">
                  <c:v>1.2</c:v>
                </c:pt>
                <c:pt idx="3">
                  <c:v>1.44</c:v>
                </c:pt>
                <c:pt idx="4">
                  <c:v>1.8</c:v>
                </c:pt>
                <c:pt idx="5">
                  <c:v>2.0</c:v>
                </c:pt>
                <c:pt idx="6">
                  <c:v>2.3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7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Waste %</c:v>
                </c:pt>
              </c:strCache>
            </c:strRef>
          </c:tx>
          <c:spPr>
            <a:solidFill>
              <a:srgbClr val="C2231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Today</c:v>
                </c:pt>
                <c:pt idx="1">
                  <c:v>Yr 1</c:v>
                </c:pt>
                <c:pt idx="2">
                  <c:v>Yr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9.0</c:v>
                </c:pt>
                <c:pt idx="1">
                  <c:v>4.5</c:v>
                </c:pt>
                <c:pt idx="2">
                  <c:v>2.7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 b="1">
                  <a:solidFill>
                    <a:srgbClr val="1B3E6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7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B3E6E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97C5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6428C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F3C43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27375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Platform $60k</c:v>
                </c:pt>
                <c:pt idx="1">
                  <c:v>Data infra $30k</c:v>
                </c:pt>
                <c:pt idx="2">
                  <c:v>Team $25k</c:v>
                </c:pt>
                <c:pt idx="3">
                  <c:v>ERP integr. $20k</c:v>
                </c:pt>
                <c:pt idx="4">
                  <c:v>Conting. $15k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333333"/>
          </a:solidFill>
          <a:latin typeface="Arial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$k/yr</c:v>
                </c:pt>
              </c:strCache>
            </c:strRef>
          </c:tx>
          <c:spPr>
            <a:solidFill>
              <a:srgbClr val="39802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Waste</c:v>
                </c:pt>
                <c:pt idx="1">
                  <c:v>Buying</c:v>
                </c:pt>
                <c:pt idx="2">
                  <c:v>Wkg cap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85</c:v>
                </c:pt>
                <c:pt idx="2">
                  <c:v>25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 b="1">
                  <a:solidFill>
                    <a:srgbClr val="1B3E6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68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398025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95F61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B3E6E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F3C43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27375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Routing sw $35k</c:v>
                </c:pt>
                <c:pt idx="1">
                  <c:v>Telematics $30k</c:v>
                </c:pt>
                <c:pt idx="2">
                  <c:v>Smart locks $20k</c:v>
                </c:pt>
                <c:pt idx="3">
                  <c:v>RFID $10k</c:v>
                </c:pt>
                <c:pt idx="4">
                  <c:v>Ops $5k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333333"/>
          </a:solidFill>
          <a:latin typeface="Arial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$k/yr</c:v>
                </c:pt>
              </c:strCache>
            </c:strRef>
          </c:tx>
          <c:spPr>
            <a:solidFill>
              <a:srgbClr val="39802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Fuel</c:v>
                </c:pt>
                <c:pt idx="1">
                  <c:v>Vessels</c:v>
                </c:pt>
                <c:pt idx="2">
                  <c:v>Food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 b="1">
                  <a:solidFill>
                    <a:srgbClr val="1B3E6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68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B3E6E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98025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Solution 1 — $150k</c:v>
                </c:pt>
                <c:pt idx="1">
                  <c:v>Solution 2 — $100k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</c:v>
                </c:pt>
                <c:pt idx="1">
                  <c:v>100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spPr>
    <a:noFill/>
    <a:ln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Without GS funding</c:v>
                </c:pt>
              </c:strCache>
            </c:strRef>
          </c:tx>
          <c:spPr>
            <a:solidFill>
              <a:srgbClr val="E08A1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10.8</c:v>
                </c:pt>
                <c:pt idx="1">
                  <c:v>11.4</c:v>
                </c:pt>
                <c:pt idx="2">
                  <c:v>12.0</c:v>
                </c:pt>
                <c:pt idx="3">
                  <c:v>12.6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GS funding</c:v>
                </c:pt>
              </c:strCache>
            </c:strRef>
          </c:tx>
          <c:spPr>
            <a:solidFill>
              <a:srgbClr val="39802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9.4</c:v>
                </c:pt>
                <c:pt idx="1">
                  <c:v>9.2</c:v>
                </c:pt>
                <c:pt idx="2">
                  <c:v>9.1</c:v>
                </c:pt>
                <c:pt idx="3">
                  <c:v>9.0</c:v>
                </c:pt>
              </c:numCache>
            </c:numRef>
          </c:val>
        </c:ser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&quot;$&quot;0&quot;M&quot;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Without GS funding</c:v>
                </c:pt>
              </c:strCache>
            </c:strRef>
          </c:tx>
          <c:spPr>
            <a:solidFill>
              <a:srgbClr val="E08A1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10.8</c:v>
                </c:pt>
                <c:pt idx="1">
                  <c:v>11.4</c:v>
                </c:pt>
                <c:pt idx="2">
                  <c:v>12.0</c:v>
                </c:pt>
                <c:pt idx="3">
                  <c:v>12.6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GS funding</c:v>
                </c:pt>
              </c:strCache>
            </c:strRef>
          </c:tx>
          <c:spPr>
            <a:solidFill>
              <a:srgbClr val="39802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9.4</c:v>
                </c:pt>
                <c:pt idx="1">
                  <c:v>9.2</c:v>
                </c:pt>
                <c:pt idx="2">
                  <c:v>9.1</c:v>
                </c:pt>
                <c:pt idx="3">
                  <c:v>9.0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sz="630" b="1">
                  <a:solidFill>
                    <a:srgbClr val="1B3E6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68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&quot;$&quot;0&quot;M&quot;" sourceLinked="0"/>
        <c:majorTickMark val="out"/>
        <c:minorTickMark val="none"/>
        <c:tickLblPos val="nextTo"/>
        <c:txPr>
          <a:bodyPr/>
          <a:lstStyle/>
          <a:p>
            <a:pPr>
              <a:defRPr sz="63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80"/>
          </a:pPr>
        </a:p>
      </c:txPr>
    </c:legend>
    <c:dispBlanksAs val="gap"/>
  </c:chart>
  <c:txPr>
    <a:bodyPr/>
    <a:lstStyle/>
    <a:p>
      <a:pPr>
        <a:defRPr sz="68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Without GS funding</c:v>
                </c:pt>
              </c:strCache>
            </c:strRef>
          </c:tx>
          <c:spPr>
            <a:solidFill>
              <a:srgbClr val="E08A1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10.8</c:v>
                </c:pt>
                <c:pt idx="1">
                  <c:v>11.4</c:v>
                </c:pt>
                <c:pt idx="2">
                  <c:v>12.0</c:v>
                </c:pt>
                <c:pt idx="3">
                  <c:v>12.6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GS funding</c:v>
                </c:pt>
              </c:strCache>
            </c:strRef>
          </c:tx>
          <c:spPr>
            <a:solidFill>
              <a:srgbClr val="39802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9.4</c:v>
                </c:pt>
                <c:pt idx="1">
                  <c:v>9.2</c:v>
                </c:pt>
                <c:pt idx="2">
                  <c:v>9.1</c:v>
                </c:pt>
                <c:pt idx="3">
                  <c:v>9.0</c:v>
                </c:pt>
              </c:numCache>
            </c:numRef>
          </c:val>
        </c:ser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6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&quot;$&quot;0&quot;M&quot;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Without GS funding</c:v>
                </c:pt>
              </c:strCache>
            </c:strRef>
          </c:tx>
          <c:spPr>
            <a:solidFill>
              <a:srgbClr val="E08A1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10.8</c:v>
                </c:pt>
                <c:pt idx="1">
                  <c:v>11.4</c:v>
                </c:pt>
                <c:pt idx="2">
                  <c:v>12.0</c:v>
                </c:pt>
                <c:pt idx="3">
                  <c:v>12.6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GS funding</c:v>
                </c:pt>
              </c:strCache>
            </c:strRef>
          </c:tx>
          <c:spPr>
            <a:solidFill>
              <a:srgbClr val="39802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9.4</c:v>
                </c:pt>
                <c:pt idx="1">
                  <c:v>9.2</c:v>
                </c:pt>
                <c:pt idx="2">
                  <c:v>9.1</c:v>
                </c:pt>
                <c:pt idx="3">
                  <c:v>9.0</c:v>
                </c:pt>
              </c:numCache>
            </c:numRef>
          </c:val>
        </c:ser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6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&quot;$&quot;0&quot;M&quot;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Who is The Akshaya Patra Foundation?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The world's largest NGO-run school meal programme — serving 2.3 million children every school day, so that hunger never interrupts education.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“No child shall be deprived of education because of hunger” — at a scale no other NGO matches.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8412480" cy="7315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380744"/>
            <a:ext cx="896112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380744"/>
            <a:ext cx="7863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AKSHAYA PATRA
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298448"/>
            <a:ext cx="716889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Over 1 in 3 children in India show signs of undernourishment</a:t>
            </a:r>
            <a:r>
              <a:rPr sz="800" b="0" i="0">
                <a:solidFill>
                  <a:srgbClr val="FFFFFF"/>
                </a:solidFill>
                <a:latin typeface="Arial"/>
              </a:rPr>
              <a:t> — and hunger is a leading reason children drop out of school. Founded in 2000 in Bengaluru with </a:t>
            </a:r>
            <a:r>
              <a:rPr sz="800" b="1" i="0">
                <a:solidFill>
                  <a:srgbClr val="FFFFFF"/>
                </a:solidFill>
                <a:latin typeface="Arial"/>
              </a:rPr>
              <a:t>1,500 children across 5 schools</a:t>
            </a:r>
            <a:r>
              <a:rPr sz="800" b="0" i="0">
                <a:solidFill>
                  <a:srgbClr val="FFFFFF"/>
                </a:solidFill>
                <a:latin typeface="Arial"/>
              </a:rPr>
              <a:t>, Akshaya Patra now runs the world's largest NGO-operated mid-day meal programme — a PPP with the Government of India that has served </a:t>
            </a:r>
            <a:r>
              <a:rPr sz="800" b="1" i="0">
                <a:solidFill>
                  <a:srgbClr val="FFFFFF"/>
                </a:solidFill>
                <a:latin typeface="Arial"/>
              </a:rPr>
              <a:t>4+ billion cumulative meals.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2212848"/>
            <a:ext cx="10972" cy="368503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03703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76272"/>
            <a:ext cx="3895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Who they are &amp; why we chose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50591"/>
            <a:ext cx="4041648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42032"/>
            <a:ext cx="404164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1B3E6E"/>
                </a:solidFill>
                <a:latin typeface="Arial"/>
              </a:rPr>
              <a:t>Mission: </a:t>
            </a:r>
            <a:r>
              <a:rPr sz="800" b="0" i="0">
                <a:solidFill>
                  <a:srgbClr val="333333"/>
                </a:solidFill>
                <a:latin typeface="Arial"/>
              </a:rPr>
              <a:t>eliminate classroom hunger by implementing the Mid-Day Meal Scheme in government schools while fighting child malnutrition across India.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1B3E6E"/>
                </a:solidFill>
                <a:latin typeface="Arial"/>
              </a:rPr>
              <a:t>Why Akshaya Patra: </a:t>
            </a:r>
            <a:r>
              <a:rPr sz="800" b="0" i="0">
                <a:solidFill>
                  <a:srgbClr val="333333"/>
                </a:solidFill>
                <a:latin typeface="Arial"/>
              </a:rPr>
              <a:t>our on-ground kitchen inspections and supply-chain review found world-class production — and </a:t>
            </a:r>
            <a:r>
              <a:rPr sz="800" b="1" i="0">
                <a:solidFill>
                  <a:srgbClr val="333333"/>
                </a:solidFill>
                <a:latin typeface="Arial"/>
              </a:rPr>
              <a:t>two clearly identified, fixable gaps</a:t>
            </a:r>
            <a:r>
              <a:rPr sz="800" b="0" i="0">
                <a:solidFill>
                  <a:srgbClr val="333333"/>
                </a:solidFill>
                <a:latin typeface="Arial"/>
              </a:rPr>
              <a:t> where $250k unlocks compounding, year-on-year impact rather than one-off sustenance.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398025"/>
                </a:solidFill>
                <a:latin typeface="Arial"/>
              </a:rPr>
              <a:t>✓ 25+ yrs of proven delivery   ✓ Govt-audited PPP   ✓ Tech-forward leadership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54864" cy="182880"/>
          </a:xfrm>
          <a:prstGeom prst="rect">
            <a:avLst/>
          </a:prstGeom>
          <a:solidFill>
            <a:srgbClr val="729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950208"/>
            <a:ext cx="3895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The journey — daily meals served (millions)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24528"/>
            <a:ext cx="4041648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65760" y="4334256"/>
          <a:ext cx="4041648" cy="12984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65760" y="5687568"/>
            <a:ext cx="4041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333333"/>
                </a:solidFill>
                <a:latin typeface="Arial"/>
              </a:rPr>
              <a:t>2012: </a:t>
            </a:r>
            <a:r>
              <a:rPr sz="680" b="0" i="0">
                <a:solidFill>
                  <a:srgbClr val="333333"/>
                </a:solidFill>
                <a:latin typeface="Arial"/>
              </a:rPr>
              <a:t>1 billionth meal   ·   </a:t>
            </a:r>
            <a:r>
              <a:rPr sz="680" b="1" i="0">
                <a:solidFill>
                  <a:srgbClr val="333333"/>
                </a:solidFill>
                <a:latin typeface="Arial"/>
              </a:rPr>
              <a:t>2019: </a:t>
            </a:r>
            <a:r>
              <a:rPr sz="680" b="0" i="0">
                <a:solidFill>
                  <a:srgbClr val="333333"/>
                </a:solidFill>
                <a:latin typeface="Arial"/>
              </a:rPr>
              <a:t>3 billionth served by Hon'ble PM   ·   </a:t>
            </a:r>
            <a:r>
              <a:rPr sz="680" b="1" i="0">
                <a:solidFill>
                  <a:srgbClr val="333333"/>
                </a:solidFill>
                <a:latin typeface="Arial"/>
              </a:rPr>
              <a:t>2024: </a:t>
            </a:r>
            <a:r>
              <a:rPr sz="680" b="0" i="0">
                <a:solidFill>
                  <a:srgbClr val="333333"/>
                </a:solidFill>
                <a:latin typeface="Arial"/>
              </a:rPr>
              <a:t>4 billion meals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2203703"/>
            <a:ext cx="54864" cy="18288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2176272"/>
            <a:ext cx="4041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What they do — the hub-and-spoke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0288" y="2450591"/>
            <a:ext cx="4187952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542032"/>
            <a:ext cx="418795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333333"/>
                </a:solidFill>
                <a:latin typeface="Arial"/>
              </a:rPr>
              <a:t>•  Centralised mega-kitchens </a:t>
            </a:r>
            <a:r>
              <a:rPr sz="780" b="0" i="0">
                <a:solidFill>
                  <a:srgbClr val="333333"/>
                </a:solidFill>
                <a:latin typeface="Arial"/>
              </a:rPr>
              <a:t>cook up to 100,000 meals each before 6 AM 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333333"/>
                </a:solidFill>
                <a:latin typeface="Arial"/>
              </a:rPr>
              <a:t>•  Hub-and-spoke delivery </a:t>
            </a:r>
            <a:r>
              <a:rPr sz="780" b="0" i="0">
                <a:solidFill>
                  <a:srgbClr val="333333"/>
                </a:solidFill>
                <a:latin typeface="Arial"/>
              </a:rPr>
              <a:t>of hot, locally-adapted menus to school doorsteps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333333"/>
                </a:solidFill>
                <a:latin typeface="Arial"/>
              </a:rPr>
              <a:t>•  PPP funding </a:t>
            </a:r>
            <a:r>
              <a:rPr sz="780" b="0" i="0">
                <a:solidFill>
                  <a:srgbClr val="333333"/>
                </a:solidFill>
                <a:latin typeface="Arial"/>
              </a:rPr>
              <a:t>— govt subsidies + philanthropy; every $ leveraged ~3x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333333"/>
                </a:solidFill>
                <a:latin typeface="Arial"/>
              </a:rPr>
              <a:t>•  Beyond food: </a:t>
            </a:r>
            <a:r>
              <a:rPr sz="780" b="0" i="0">
                <a:solidFill>
                  <a:srgbClr val="333333"/>
                </a:solidFill>
                <a:latin typeface="Arial"/>
              </a:rPr>
              <a:t>scholarships, anganwadi feeding, disaster-relief kitchens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0288" y="3630168"/>
            <a:ext cx="54864" cy="1828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602736"/>
            <a:ext cx="4041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Scale at a glance (FY26)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3877056"/>
            <a:ext cx="4187952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986783"/>
            <a:ext cx="10469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B3E6E"/>
                </a:solidFill>
                <a:latin typeface="Arial"/>
              </a:rPr>
              <a:t>2.3M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27375"/>
                </a:solidFill>
                <a:latin typeface="Arial"/>
              </a:rPr>
              <a:t>meals served
every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7275" y="3986783"/>
            <a:ext cx="10469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B3E6E"/>
                </a:solidFill>
                <a:latin typeface="Arial"/>
              </a:rPr>
              <a:t>68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27375"/>
                </a:solidFill>
                <a:latin typeface="Arial"/>
              </a:rPr>
              <a:t>mega-kitchens
across India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3986783"/>
            <a:ext cx="10469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B3E6E"/>
                </a:solidFill>
                <a:latin typeface="Arial"/>
              </a:rPr>
              <a:t>16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27375"/>
                </a:solidFill>
                <a:latin typeface="Arial"/>
              </a:rPr>
              <a:t>states &amp;
2 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1252" y="3986783"/>
            <a:ext cx="10469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B3E6E"/>
                </a:solidFill>
                <a:latin typeface="Arial"/>
              </a:rPr>
              <a:t>24,000+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27375"/>
                </a:solidFill>
                <a:latin typeface="Arial"/>
              </a:rPr>
              <a:t>govt schools
served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0288" y="4709160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4681728"/>
            <a:ext cx="4041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Aligned to UN SDGs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0288" y="4956048"/>
            <a:ext cx="4187952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90288" y="5084064"/>
            <a:ext cx="585216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1" y="5084064"/>
            <a:ext cx="475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SDG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27375"/>
                </a:solidFill>
                <a:latin typeface="Arial"/>
              </a:rPr>
              <a:t>Zero Hunger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8655" y="5084064"/>
            <a:ext cx="585216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19" y="5084064"/>
            <a:ext cx="475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SDG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27375"/>
                </a:solidFill>
                <a:latin typeface="Arial"/>
              </a:rPr>
              <a:t>Quality Educ.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7023" y="5084064"/>
            <a:ext cx="585216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61887" y="5084064"/>
            <a:ext cx="475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SDG 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27375"/>
                </a:solidFill>
                <a:latin typeface="Arial"/>
              </a:rPr>
              <a:t>Partners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19" y="5084064"/>
            <a:ext cx="210312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9983" y="5084064"/>
            <a:ext cx="199339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📷 PHOTO: children at mid-day meal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A world-class supply chain — with two blind spots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We walked their kitchens, interviewed staff and mapped the end-to-end flow: production is best-in-class; the gaps sit at the first and last mile.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A Formula-1 production line — fed by guesswork, delivered on hand-drawn maps. That is where we intervene.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27375"/>
                </a:solidFill>
                <a:latin typeface="Arial"/>
              </a:rPr>
              <a:t>Our diligence: 2 kitchen visits  •  12 staff interviews  •  procurement &amp; route data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398025"/>
                </a:solidFill>
                <a:latin typeface="Arial"/>
              </a:rPr>
              <a:t>✓ Audited &amp; certified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333333"/>
                </a:solidFill>
                <a:latin typeface="Arial"/>
              </a:rPr>
              <a:t>FSSAI-licensed, ISO 22000-certified kitchens; govt &amp; third-party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591056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398025"/>
                </a:solidFill>
                <a:latin typeface="Arial"/>
              </a:rPr>
              <a:t>✓ Global recognition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333333"/>
                </a:solidFill>
                <a:latin typeface="Arial"/>
              </a:rPr>
              <a:t>UK PM Rishi Sunak toured the Bengaluru kitchen — praised hygiene &amp;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591056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398025"/>
                </a:solidFill>
                <a:latin typeface="Arial"/>
              </a:rPr>
              <a:t>✓ Our on-ground audit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333333"/>
                </a:solidFill>
                <a:latin typeface="Arial"/>
              </a:rPr>
              <a:t>Gravity-flow cooking, 2-hr batch cycles, near-zero contamination risk</a:t>
            </a:r>
          </a:p>
        </p:txBody>
      </p:sp>
      <p:sp>
        <p:nvSpPr>
          <p:cNvPr id="13" name="Chevron 12"/>
          <p:cNvSpPr/>
          <p:nvPr/>
        </p:nvSpPr>
        <p:spPr>
          <a:xfrm>
            <a:off x="365760" y="2487168"/>
            <a:ext cx="1371600" cy="896112"/>
          </a:xfrm>
          <a:prstGeom prst="chevron">
            <a:avLst>
              <a:gd name="adj" fmla="val 30000"/>
            </a:avLst>
          </a:prstGeom>
          <a:solidFill>
            <a:srgbClr val="FBECEA"/>
          </a:solidFill>
          <a:ln w="19050">
            <a:solidFill>
              <a:srgbClr val="C22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C22310"/>
                </a:solidFill>
                <a:latin typeface="Arial"/>
              </a:rPr>
              <a:t>PROCUREMENT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333333"/>
                </a:solidFill>
                <a:latin typeface="Arial"/>
              </a:rPr>
              <a:t>Grains, dairy
from mandis</a:t>
            </a:r>
          </a:p>
        </p:txBody>
      </p:sp>
      <p:sp>
        <p:nvSpPr>
          <p:cNvPr id="15" name="Chevron 14"/>
          <p:cNvSpPr/>
          <p:nvPr/>
        </p:nvSpPr>
        <p:spPr>
          <a:xfrm>
            <a:off x="1773936" y="2487168"/>
            <a:ext cx="1371600" cy="896112"/>
          </a:xfrm>
          <a:prstGeom prst="chevron">
            <a:avLst>
              <a:gd name="adj" fmla="val 30000"/>
            </a:avLst>
          </a:prstGeom>
          <a:solidFill>
            <a:srgbClr val="EEF3F9"/>
          </a:solidFill>
          <a:ln w="1143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56816" y="2560320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STORAGE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333333"/>
                </a:solidFill>
                <a:latin typeface="Arial"/>
              </a:rPr>
              <a:t>Silos, cold
rooms; FIFO</a:t>
            </a:r>
          </a:p>
        </p:txBody>
      </p:sp>
      <p:sp>
        <p:nvSpPr>
          <p:cNvPr id="17" name="Chevron 16"/>
          <p:cNvSpPr/>
          <p:nvPr/>
        </p:nvSpPr>
        <p:spPr>
          <a:xfrm>
            <a:off x="3182112" y="2487168"/>
            <a:ext cx="1371600" cy="896112"/>
          </a:xfrm>
          <a:prstGeom prst="chevron">
            <a:avLst>
              <a:gd name="adj" fmla="val 30000"/>
            </a:avLst>
          </a:prstGeom>
          <a:solidFill>
            <a:srgbClr val="EEF3F9"/>
          </a:solidFill>
          <a:ln w="1143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560320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PREPROCESS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333333"/>
                </a:solidFill>
                <a:latin typeface="Arial"/>
              </a:rPr>
              <a:t>Auto roti lines,
veg prep</a:t>
            </a:r>
          </a:p>
        </p:txBody>
      </p:sp>
      <p:sp>
        <p:nvSpPr>
          <p:cNvPr id="19" name="Chevron 18"/>
          <p:cNvSpPr/>
          <p:nvPr/>
        </p:nvSpPr>
        <p:spPr>
          <a:xfrm>
            <a:off x="4590288" y="2487168"/>
            <a:ext cx="1371600" cy="896112"/>
          </a:xfrm>
          <a:prstGeom prst="chevron">
            <a:avLst>
              <a:gd name="adj" fmla="val 30000"/>
            </a:avLst>
          </a:prstGeom>
          <a:solidFill>
            <a:srgbClr val="EEF3F9"/>
          </a:solidFill>
          <a:ln w="1143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560320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COOKING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333333"/>
                </a:solidFill>
                <a:latin typeface="Arial"/>
              </a:rPr>
              <a:t>Steam cauldrons;
100k by 6 AM</a:t>
            </a:r>
          </a:p>
        </p:txBody>
      </p:sp>
      <p:sp>
        <p:nvSpPr>
          <p:cNvPr id="21" name="Chevron 20"/>
          <p:cNvSpPr/>
          <p:nvPr/>
        </p:nvSpPr>
        <p:spPr>
          <a:xfrm>
            <a:off x="5998464" y="2487168"/>
            <a:ext cx="1371600" cy="896112"/>
          </a:xfrm>
          <a:prstGeom prst="chevron">
            <a:avLst>
              <a:gd name="adj" fmla="val 30000"/>
            </a:avLst>
          </a:prstGeom>
          <a:solidFill>
            <a:srgbClr val="EEF3F9"/>
          </a:solidFill>
          <a:ln w="1143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560320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QC &amp;
PACKING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333333"/>
                </a:solidFill>
                <a:latin typeface="Arial"/>
              </a:rPr>
              <a:t>Lab-tested;
sealed vessels</a:t>
            </a:r>
          </a:p>
        </p:txBody>
      </p:sp>
      <p:sp>
        <p:nvSpPr>
          <p:cNvPr id="23" name="Chevron 22"/>
          <p:cNvSpPr/>
          <p:nvPr/>
        </p:nvSpPr>
        <p:spPr>
          <a:xfrm>
            <a:off x="7406640" y="2487168"/>
            <a:ext cx="1371600" cy="896112"/>
          </a:xfrm>
          <a:prstGeom prst="chevron">
            <a:avLst>
              <a:gd name="adj" fmla="val 30000"/>
            </a:avLst>
          </a:prstGeom>
          <a:solidFill>
            <a:srgbClr val="FBECEA"/>
          </a:solidFill>
          <a:ln w="19050">
            <a:solidFill>
              <a:srgbClr val="C22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2560320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C22310"/>
                </a:solidFill>
                <a:latin typeface="Arial"/>
              </a:rPr>
              <a:t>DISTRIBUTION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333333"/>
                </a:solidFill>
                <a:latin typeface="Arial"/>
              </a:rPr>
              <a:t>Van fleet to
schools by lunch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23360" y="2212848"/>
            <a:ext cx="457200" cy="237744"/>
          </a:xfrm>
          <a:prstGeom prst="curvedConnector3">
            <a:avLst/>
          </a:prstGeom>
          <a:ln w="12700">
            <a:solidFill>
              <a:srgbClr val="39802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583680" y="2212848"/>
            <a:ext cx="365760" cy="237744"/>
          </a:xfrm>
          <a:prstGeom prst="curvedConnector3">
            <a:avLst/>
          </a:prstGeom>
          <a:ln w="12700">
            <a:solidFill>
              <a:srgbClr val="39802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" y="3456432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8025"/>
                </a:solidFill>
                <a:latin typeface="Arial"/>
              </a:rPr>
              <a:t>Steps 2–5 are best-in-class </a:t>
            </a:r>
            <a:r>
              <a:rPr sz="850" b="0" i="0">
                <a:solidFill>
                  <a:srgbClr val="727375"/>
                </a:solidFill>
                <a:latin typeface="Arial"/>
              </a:rPr>
              <a:t>— automated, audited, built to scale. No intervention needed.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23360"/>
            <a:ext cx="4114800" cy="1664208"/>
          </a:xfrm>
          <a:prstGeom prst="rect">
            <a:avLst/>
          </a:prstGeom>
          <a:solidFill>
            <a:srgbClr val="FFFFFF"/>
          </a:solidFill>
          <a:ln w="15875">
            <a:solidFill>
              <a:srgbClr val="C22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4114800" cy="292608"/>
          </a:xfrm>
          <a:prstGeom prst="rect">
            <a:avLst/>
          </a:prstGeom>
          <a:solidFill>
            <a:srgbClr val="C2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064508"/>
            <a:ext cx="38953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GAP 1 — PROCUREMENT: no demand forecasting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4407408"/>
            <a:ext cx="38587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Manual estimates</a:t>
            </a:r>
            <a:r>
              <a:rPr sz="750" b="0" i="0">
                <a:solidFill>
                  <a:srgbClr val="333333"/>
                </a:solidFill>
                <a:latin typeface="Arial"/>
              </a:rPr>
              <a:t> — no view of school-level attendance, holidays or menu uptake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~8–10% over-production</a:t>
            </a:r>
            <a:r>
              <a:rPr sz="750" b="0" i="0">
                <a:solidFill>
                  <a:srgbClr val="333333"/>
                </a:solidFill>
                <a:latin typeface="Arial"/>
              </a:rPr>
              <a:t> wasted on low-attendance days [dummy]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Reactive spot-buying</a:t>
            </a:r>
            <a:r>
              <a:rPr sz="750" b="0" i="0">
                <a:solidFill>
                  <a:srgbClr val="333333"/>
                </a:solidFill>
                <a:latin typeface="Arial"/>
              </a:rPr>
              <a:t> at mandi peak prices — up to 12% above plan [dummy]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No price intelligence</a:t>
            </a:r>
            <a:r>
              <a:rPr sz="750" b="0" i="0">
                <a:solidFill>
                  <a:srgbClr val="333333"/>
                </a:solidFill>
                <a:latin typeface="Arial"/>
              </a:rPr>
              <a:t> — cheapest forward-buying windows are missed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Result: </a:t>
            </a:r>
            <a:r>
              <a:rPr sz="750" b="0" i="0">
                <a:solidFill>
                  <a:srgbClr val="333333"/>
                </a:solidFill>
                <a:latin typeface="Arial"/>
              </a:rPr>
              <a:t>higher cost per meal → fewer children fed per donor $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→ addressed by Solution 1 ($150k)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4023360"/>
            <a:ext cx="4114800" cy="1664208"/>
          </a:xfrm>
          <a:prstGeom prst="rect">
            <a:avLst/>
          </a:prstGeom>
          <a:solidFill>
            <a:srgbClr val="FFFFFF"/>
          </a:solidFill>
          <a:ln w="15875">
            <a:solidFill>
              <a:srgbClr val="C22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3440" y="4023360"/>
            <a:ext cx="4114800" cy="292608"/>
          </a:xfrm>
          <a:prstGeom prst="rect">
            <a:avLst/>
          </a:prstGeom>
          <a:solidFill>
            <a:srgbClr val="C2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4064508"/>
            <a:ext cx="38953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GAP 2 — DISTRIBUTION: no route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6" y="4407408"/>
            <a:ext cx="38587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Static, driver-memory routes</a:t>
            </a:r>
            <a:r>
              <a:rPr sz="750" b="0" i="0">
                <a:solidFill>
                  <a:srgbClr val="333333"/>
                </a:solidFill>
                <a:latin typeface="Arial"/>
              </a:rPr>
              <a:t> — 15–30 min past the lunch bell means children stay hungry all day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No telematics</a:t>
            </a:r>
            <a:r>
              <a:rPr sz="750" b="0" i="0">
                <a:solidFill>
                  <a:srgbClr val="333333"/>
                </a:solidFill>
                <a:latin typeface="Arial"/>
              </a:rPr>
              <a:t> — vessels &amp; utensils untracked; losses recur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Adulteration / diversion risk</a:t>
            </a:r>
            <a:r>
              <a:rPr sz="750" b="0" i="0">
                <a:solidFill>
                  <a:srgbClr val="333333"/>
                </a:solidFill>
                <a:latin typeface="Arial"/>
              </a:rPr>
              <a:t> — unsealed vans can be offloaded at roadside dhabas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No proof-of-delivery</a:t>
            </a:r>
            <a:r>
              <a:rPr sz="750" b="0" i="0">
                <a:solidFill>
                  <a:srgbClr val="333333"/>
                </a:solidFill>
                <a:latin typeface="Arial"/>
              </a:rPr>
              <a:t> — school shortfall disputes unresolved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Result: </a:t>
            </a:r>
            <a:r>
              <a:rPr sz="750" b="0" i="0">
                <a:solidFill>
                  <a:srgbClr val="333333"/>
                </a:solidFill>
                <a:latin typeface="Arial"/>
              </a:rPr>
              <a:t>missed lunch windows, fuel burn, shrinkage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→ addressed by Solution 2 ($100k)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1051560" y="3410712"/>
            <a:ext cx="45720" cy="612648"/>
          </a:xfrm>
          <a:prstGeom prst="curvedConnector3">
            <a:avLst/>
          </a:prstGeom>
          <a:ln w="15875">
            <a:solidFill>
              <a:srgbClr val="C22310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8092440" y="3410712"/>
            <a:ext cx="137160" cy="612648"/>
          </a:xfrm>
          <a:prstGeom prst="curvedConnector3">
            <a:avLst/>
          </a:prstGeom>
          <a:ln w="15875">
            <a:solidFill>
              <a:srgbClr val="C22310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Our proposal — $250k deployed on the first &amp; last mile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Two targeted, technology-led interventions that convert the grant into permanent capability — not one year of operating expense.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Not funding a year of operations — installing a permanent upgrade that pays for itself, every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0744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353312"/>
            <a:ext cx="8266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Allocation of the $250,000 grant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84124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73936"/>
            <a:ext cx="4882895" cy="438912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85815" y="1773936"/>
            <a:ext cx="3255263" cy="438912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73936"/>
            <a:ext cx="488289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$150k — Solution 1: Predictive demand planning (60%)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5" y="1773936"/>
            <a:ext cx="325526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$100k — Solution 2:
Smart distribution (40%)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58568"/>
            <a:ext cx="48828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27375"/>
                </a:solidFill>
                <a:latin typeface="Arial"/>
              </a:rPr>
              <a:t>Fixes the costliest gap first: waste &amp; procurement inefficiency at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5" y="2258568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27375"/>
                </a:solidFill>
                <a:latin typeface="Arial"/>
              </a:rPr>
              <a:t>Every meal on time, intact &amp; untouched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715768"/>
            <a:ext cx="10972" cy="15087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97479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670048"/>
            <a:ext cx="3895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Solution 1 — “Annapurna AI” · $150k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44368"/>
            <a:ext cx="4041648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35808"/>
            <a:ext cx="40416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What: </a:t>
            </a:r>
            <a:r>
              <a:rPr sz="780" b="0" i="0">
                <a:solidFill>
                  <a:srgbClr val="333333"/>
                </a:solidFill>
                <a:latin typeface="Arial"/>
              </a:rPr>
              <a:t>ML demand-forecasting &amp; procurement-planning platform across all 68 kitchens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How: </a:t>
            </a:r>
            <a:r>
              <a:rPr sz="780" b="0" i="0">
                <a:solidFill>
                  <a:srgbClr val="333333"/>
                </a:solidFill>
                <a:latin typeface="Arial"/>
              </a:rPr>
              <a:t>predicts school-level attendance from history, calendars &amp; seasonality; auto-generates indents and forward procurement schedules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Impact: </a:t>
            </a:r>
            <a:r>
              <a:rPr sz="780" b="0" i="0">
                <a:solidFill>
                  <a:srgbClr val="333333"/>
                </a:solidFill>
                <a:latin typeface="Arial"/>
              </a:rPr>
              <a:t>cuts food waste ~70%, buys ahead of price spikes</a:t>
            </a:r>
            <a:r>
              <a:rPr sz="780" b="1" i="0">
                <a:solidFill>
                  <a:srgbClr val="398025"/>
                </a:solidFill>
                <a:latin typeface="Arial"/>
              </a:rPr>
              <a:t>  →  est. $230k saved / yr [dummy]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2697479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2670048"/>
            <a:ext cx="4041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Solution 2 — “Last-Mile Shield” · $100k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0288" y="2944368"/>
            <a:ext cx="4187952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035808"/>
            <a:ext cx="41879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What: </a:t>
            </a:r>
            <a:r>
              <a:rPr sz="780" b="0" i="0">
                <a:solidFill>
                  <a:srgbClr val="333333"/>
                </a:solidFill>
                <a:latin typeface="Arial"/>
              </a:rPr>
              <a:t>AI route optimisation + van telematics (GPS, cameras, RFID tags) + geofenced smart locks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How: </a:t>
            </a:r>
            <a:r>
              <a:rPr sz="780" b="0" i="0">
                <a:solidFill>
                  <a:srgbClr val="333333"/>
                </a:solidFill>
                <a:latin typeface="Arial"/>
              </a:rPr>
              <a:t>routes sequenced to each school's lunch bell; van doors unlock only within 150 m of a registered school — no diversion, no adulteration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Impact: </a:t>
            </a:r>
            <a:r>
              <a:rPr sz="780" b="0" i="0">
                <a:solidFill>
                  <a:srgbClr val="333333"/>
                </a:solidFill>
                <a:latin typeface="Arial"/>
              </a:rPr>
              <a:t>99%+ on-time, −18% fleet km, zero shrinkage</a:t>
            </a:r>
            <a:r>
              <a:rPr sz="780" b="1" i="0">
                <a:solidFill>
                  <a:srgbClr val="398025"/>
                </a:solidFill>
                <a:latin typeface="Arial"/>
              </a:rPr>
              <a:t>  →  est. $80k saved / yr [dummy]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87952"/>
            <a:ext cx="54864" cy="1828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4160520"/>
            <a:ext cx="8266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The savings flywheel — how impact compounds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84124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4562856"/>
            <a:ext cx="16916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B3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8114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B3E6E"/>
                </a:solidFill>
                <a:latin typeface="Arial"/>
              </a:rPr>
              <a:t>Grant funds
tech — once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4562856"/>
            <a:ext cx="16916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39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458114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98025"/>
                </a:solidFill>
                <a:latin typeface="Arial"/>
              </a:rPr>
              <a:t>Savings of
$310k / yr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562856"/>
            <a:ext cx="16916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58114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E08A1E"/>
                </a:solidFill>
                <a:latin typeface="Arial"/>
              </a:rPr>
              <a:t>Reinvested in
more meals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4562856"/>
            <a:ext cx="16916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458114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B6EA5"/>
                </a:solidFill>
                <a:latin typeface="Arial"/>
              </a:rPr>
              <a:t>More data →
better models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85416" y="4800600"/>
            <a:ext cx="338328" cy="0"/>
          </a:xfrm>
          <a:prstGeom prst="line">
            <a:avLst/>
          </a:prstGeom>
          <a:ln w="1397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88536" y="4800600"/>
            <a:ext cx="338328" cy="0"/>
          </a:xfrm>
          <a:prstGeom prst="line">
            <a:avLst/>
          </a:prstGeom>
          <a:ln w="1397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391656" y="4800600"/>
            <a:ext cx="338328" cy="0"/>
          </a:xfrm>
          <a:prstGeom prst="line">
            <a:avLst/>
          </a:prstGeom>
          <a:ln w="1397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" y="5074920"/>
            <a:ext cx="8412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27375"/>
                </a:solidFill>
                <a:latin typeface="Arial"/>
              </a:rPr>
              <a:t>…and the cycle repeats — every year, without further funding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276088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" y="5248656"/>
            <a:ext cx="8266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What the grant unlocks — every year, in perpetuity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522976"/>
            <a:ext cx="84124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559552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B3E6E"/>
                </a:solidFill>
                <a:latin typeface="Arial"/>
              </a:rPr>
              <a:t>$310k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727375"/>
                </a:solidFill>
                <a:latin typeface="Arial"/>
              </a:rPr>
              <a:t>combined annual
savings (1.24x grant)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48255" y="5559552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B3E6E"/>
                </a:solidFill>
                <a:latin typeface="Arial"/>
              </a:rPr>
              <a:t>+105,000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727375"/>
                </a:solidFill>
                <a:latin typeface="Arial"/>
              </a:rPr>
              <a:t>additional children
fed per year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30752" y="5559552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B3E6E"/>
                </a:solidFill>
                <a:latin typeface="Arial"/>
              </a:rPr>
              <a:t>~70%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727375"/>
                </a:solidFill>
                <a:latin typeface="Arial"/>
              </a:rPr>
              <a:t>reduction in
food wastage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13248" y="5559552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B3E6E"/>
                </a:solidFill>
                <a:latin typeface="Arial"/>
              </a:rPr>
              <a:t>99%+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727375"/>
                </a:solidFill>
                <a:latin typeface="Arial"/>
              </a:rPr>
              <a:t>meals inside the
lunch window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5744" y="5559552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B3E6E"/>
                </a:solidFill>
                <a:latin typeface="Arial"/>
              </a:rPr>
              <a:t>&lt;10 mo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727375"/>
                </a:solidFill>
                <a:latin typeface="Arial"/>
              </a:rPr>
              <a:t>payback on the
full $250k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Solution 1 — “Annapurna AI”: predict demand, buy 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$150k builds a demand-forecasting and procurement-planning engine that ends over-production and peak-price buying across all 68 kitchens.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Every rupee not wasted is a meal served — forecasting turns waste into 105,000 more children fed each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0744"/>
            <a:ext cx="54864" cy="182880"/>
          </a:xfrm>
          <a:prstGeom prst="rect">
            <a:avLst/>
          </a:prstGeom>
          <a:solidFill>
            <a:srgbClr val="C2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353312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The problem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31546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19072"/>
            <a:ext cx="3154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60" b="1" i="0">
                <a:solidFill>
                  <a:srgbClr val="333333"/>
                </a:solidFill>
                <a:latin typeface="Arial"/>
              </a:rPr>
              <a:t>•  Manual, gut-feel indenting</a:t>
            </a:r>
            <a:r>
              <a:rPr sz="760" b="0" i="0">
                <a:solidFill>
                  <a:srgbClr val="333333"/>
                </a:solidFill>
                <a:latin typeface="Arial"/>
              </a:rPr>
              <a:t> 3 days ahead — blind to attendance swings &amp; holidays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60" b="1" i="0">
                <a:solidFill>
                  <a:srgbClr val="333333"/>
                </a:solidFill>
                <a:latin typeface="Arial"/>
              </a:rPr>
              <a:t>•  Spot purchases</a:t>
            </a:r>
            <a:r>
              <a:rPr sz="760" b="0" i="0">
                <a:solidFill>
                  <a:srgbClr val="333333"/>
                </a:solidFill>
                <a:latin typeface="Arial"/>
              </a:rPr>
              <a:t> at mandi peak prices when stocks run short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333333"/>
                </a:solidFill>
                <a:latin typeface="Arial"/>
              </a:rPr>
              <a:t>•  No feedback loop</a:t>
            </a:r>
            <a:r>
              <a:rPr sz="760" b="0" i="0">
                <a:solidFill>
                  <a:srgbClr val="333333"/>
                </a:solidFill>
                <a:latin typeface="Arial"/>
              </a:rPr>
              <a:t> from schools on actual meal uptake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C22310"/>
                </a:solidFill>
                <a:latin typeface="Arial"/>
              </a:rPr>
              <a:t>8–10%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27375"/>
                </a:solidFill>
                <a:latin typeface="Arial"/>
              </a:rPr>
              <a:t>meals over-produced
&amp; wasted [dummy]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651760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C22310"/>
                </a:solidFill>
                <a:latin typeface="Arial"/>
              </a:rPr>
              <a:t>+12%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27375"/>
                </a:solidFill>
                <a:latin typeface="Arial"/>
              </a:rPr>
              <a:t>paid over plan on
spot buys [dummy]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27832"/>
            <a:ext cx="54864" cy="1828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200400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Rollout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31546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6616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40" b="1" i="0">
                <a:solidFill>
                  <a:srgbClr val="1B3E6E"/>
                </a:solidFill>
                <a:latin typeface="Arial"/>
              </a:rPr>
              <a:t>Mo 1–4: </a:t>
            </a:r>
            <a:r>
              <a:rPr sz="740" b="0" i="0">
                <a:solidFill>
                  <a:srgbClr val="333333"/>
                </a:solidFill>
                <a:latin typeface="Arial"/>
              </a:rPr>
              <a:t>pilot in 3 Bengaluru kitchens; baseline waste audit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40" b="1" i="0">
                <a:solidFill>
                  <a:srgbClr val="1B3E6E"/>
                </a:solidFill>
                <a:latin typeface="Arial"/>
              </a:rPr>
              <a:t>Mo 5–8: </a:t>
            </a:r>
            <a:r>
              <a:rPr sz="740" b="0" i="0">
                <a:solidFill>
                  <a:srgbClr val="333333"/>
                </a:solidFill>
                <a:latin typeface="Arial"/>
              </a:rPr>
              <a:t>model tuning; procurement-ERP integration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B3E6E"/>
                </a:solidFill>
                <a:latin typeface="Arial"/>
              </a:rPr>
              <a:t>Mo 9–12: </a:t>
            </a:r>
            <a:r>
              <a:rPr sz="740" b="0" i="0">
                <a:solidFill>
                  <a:srgbClr val="333333"/>
                </a:solidFill>
                <a:latin typeface="Arial"/>
              </a:rPr>
              <a:t>scale to all 68 kitchens; hand over to in-house tech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61688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334256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Food waste — % of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08576"/>
            <a:ext cx="31546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65760" y="4700016"/>
          <a:ext cx="3154680" cy="1188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ectangle 22"/>
          <p:cNvSpPr/>
          <p:nvPr/>
        </p:nvSpPr>
        <p:spPr>
          <a:xfrm>
            <a:off x="3611880" y="1417320"/>
            <a:ext cx="10972" cy="44805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94760" y="1380744"/>
            <a:ext cx="54864" cy="18288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41064" y="1353312"/>
            <a:ext cx="4837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How it works — from signals to indents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1627632"/>
            <a:ext cx="4983479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794760" y="1755648"/>
            <a:ext cx="4983479" cy="603504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143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04488" y="1801368"/>
            <a:ext cx="476402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B3E6E"/>
                </a:solidFill>
                <a:latin typeface="Arial"/>
              </a:rPr>
              <a:t>1 · DATA INPUTS   </a:t>
            </a:r>
            <a:r>
              <a:rPr sz="740" b="0" i="0">
                <a:solidFill>
                  <a:srgbClr val="333333"/>
                </a:solidFill>
                <a:latin typeface="Arial"/>
              </a:rPr>
              <a:t>school attendance feeds • academic calendars &amp; holidays • menu cycles • mandi price APIs • weather &amp; seasonality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86500" y="2377440"/>
            <a:ext cx="0" cy="164592"/>
          </a:xfrm>
          <a:prstGeom prst="line">
            <a:avLst/>
          </a:prstGeom>
          <a:ln w="15875">
            <a:solidFill>
              <a:srgbClr val="3B6EA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794760" y="2560320"/>
            <a:ext cx="4983479" cy="603504"/>
          </a:xfrm>
          <a:prstGeom prst="roundRect">
            <a:avLst>
              <a:gd name="adj" fmla="val 8000"/>
            </a:avLst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04488" y="2606040"/>
            <a:ext cx="476402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2 · ML FORECASTING ENGINE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kitchen-wise meal-demand prediction (±2% target) • price-trend models flag the cheapest buying windows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86500" y="3182112"/>
            <a:ext cx="0" cy="164592"/>
          </a:xfrm>
          <a:prstGeom prst="line">
            <a:avLst/>
          </a:prstGeom>
          <a:ln w="15875">
            <a:solidFill>
              <a:srgbClr val="3B6EA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94760" y="3364991"/>
            <a:ext cx="4983479" cy="731520"/>
          </a:xfrm>
          <a:prstGeom prst="roundRect">
            <a:avLst>
              <a:gd name="adj" fmla="val 8000"/>
            </a:avLst>
          </a:prstGeom>
          <a:solidFill>
            <a:srgbClr val="EAF3E6"/>
          </a:solidFill>
          <a:ln w="11430">
            <a:solidFill>
              <a:srgbClr val="39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04488" y="3419856"/>
            <a:ext cx="47640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398025"/>
                </a:solidFill>
                <a:latin typeface="Arial"/>
              </a:rPr>
              <a:t>3 · OUTPUTS   </a:t>
            </a:r>
            <a:r>
              <a:rPr sz="740" b="0" i="0">
                <a:solidFill>
                  <a:srgbClr val="333333"/>
                </a:solidFill>
                <a:latin typeface="Arial"/>
              </a:rPr>
              <a:t>auto-generated daily indents per kitchen • forward procurement schedule &amp; contract calendar • live waste dashboard • monthly savings report to donors (incl. GS)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4361688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41064" y="4334256"/>
            <a:ext cx="2368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Where the $150k goes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4608576"/>
            <a:ext cx="25146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3749040" y="4663440"/>
          <a:ext cx="2606040" cy="13533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9" name="Rectangle 38"/>
          <p:cNvSpPr/>
          <p:nvPr/>
        </p:nvSpPr>
        <p:spPr>
          <a:xfrm>
            <a:off x="6537960" y="4361688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84264" y="4334256"/>
            <a:ext cx="2093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Annual savings ($k)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608576"/>
            <a:ext cx="2240279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6492240" y="4700016"/>
          <a:ext cx="2331719" cy="117043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492240" y="5907024"/>
            <a:ext cx="2331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98025"/>
                </a:solidFill>
                <a:latin typeface="Arial"/>
              </a:rPr>
              <a:t>= $230k/yr → +105,000 children [dummy]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Solution 2 — “Last-Mile Shield”: on time, intact, untouched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$100k puts every van on an intelligent route and seals the last mile with telematics and geofenced locks — diversion becomes physically impossible.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Every meal arrives on time, intact and untouched — by design, not by luck.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0744"/>
            <a:ext cx="54864" cy="182880"/>
          </a:xfrm>
          <a:prstGeom prst="rect">
            <a:avLst/>
          </a:prstGeom>
          <a:solidFill>
            <a:srgbClr val="C2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353312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The problem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31546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19072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60" b="1" i="0">
                <a:solidFill>
                  <a:srgbClr val="333333"/>
                </a:solidFill>
                <a:latin typeface="Arial"/>
              </a:rPr>
              <a:t>•  Missed lunch windows: </a:t>
            </a:r>
            <a:r>
              <a:rPr sz="760" b="0" i="0">
                <a:solidFill>
                  <a:srgbClr val="333333"/>
                </a:solidFill>
                <a:latin typeface="Arial"/>
              </a:rPr>
              <a:t>15–30 min late means children go hungry all day — non-negotiable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60" b="1" i="0">
                <a:solidFill>
                  <a:srgbClr val="333333"/>
                </a:solidFill>
                <a:latin typeface="Arial"/>
              </a:rPr>
              <a:t>•  Static routes</a:t>
            </a:r>
            <a:r>
              <a:rPr sz="760" b="0" i="0">
                <a:solidFill>
                  <a:srgbClr val="333333"/>
                </a:solidFill>
                <a:latin typeface="Arial"/>
              </a:rPr>
              <a:t> from driver memory — no live traffic, no lunch-bell sequencing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60" b="1" i="0">
                <a:solidFill>
                  <a:srgbClr val="333333"/>
                </a:solidFill>
                <a:latin typeface="Arial"/>
              </a:rPr>
              <a:t>•  Untracked vessels</a:t>
            </a:r>
            <a:r>
              <a:rPr sz="760" b="0" i="0">
                <a:solidFill>
                  <a:srgbClr val="333333"/>
                </a:solidFill>
                <a:latin typeface="Arial"/>
              </a:rPr>
              <a:t> leave daily with no tagging; losses recur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333333"/>
                </a:solidFill>
                <a:latin typeface="Arial"/>
              </a:rPr>
              <a:t>•  Open vans</a:t>
            </a:r>
            <a:r>
              <a:rPr sz="760" b="0" i="0">
                <a:solidFill>
                  <a:srgbClr val="333333"/>
                </a:solidFill>
                <a:latin typeface="Arial"/>
              </a:rPr>
              <a:t> — meals can be offloaded / adulterated at dhabas en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C22310"/>
                </a:solidFill>
                <a:latin typeface="Arial"/>
              </a:rPr>
              <a:t>6.2%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27375"/>
                </a:solidFill>
                <a:latin typeface="Arial"/>
              </a:rPr>
              <a:t>deliveries miss the
lunch window [dummy]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017520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C22310"/>
                </a:solidFill>
                <a:latin typeface="Arial"/>
              </a:rPr>
              <a:t>$35k/yr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27375"/>
                </a:solidFill>
                <a:latin typeface="Arial"/>
              </a:rPr>
              <a:t>vessel &amp; shrinkage
losses [dummy]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66744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639312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Route redesign — 1 hub, 40 schools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13632"/>
            <a:ext cx="31546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23359"/>
            <a:ext cx="315468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4023359"/>
            <a:ext cx="30449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🗺 MAP: before vs after routes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27375"/>
                </a:solidFill>
                <a:latin typeface="Arial"/>
              </a:rPr>
              <a:t>(insert optimised-route schematic; −18% km)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035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98025"/>
                </a:solidFill>
                <a:latin typeface="Arial"/>
              </a:rPr>
              <a:t>3 vans freed per hub </a:t>
            </a:r>
            <a:r>
              <a:rPr sz="700" b="0" i="0">
                <a:solidFill>
                  <a:srgbClr val="333333"/>
                </a:solidFill>
                <a:latin typeface="Arial"/>
              </a:rPr>
              <a:t>→ redeployed to 12 new schools [dummy]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1417320"/>
            <a:ext cx="10972" cy="44805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60" y="1380744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41064" y="1353312"/>
            <a:ext cx="4837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The fix — three integrated 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627632"/>
            <a:ext cx="4983479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94760" y="1755648"/>
            <a:ext cx="4983479" cy="713232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 w="1143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8" y="1810512"/>
            <a:ext cx="47640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1 · ROUTE INTELLIGENCE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333333"/>
                </a:solidFill>
                <a:latin typeface="Arial"/>
              </a:rPr>
              <a:t>AI planner sequences every drop to each school's lunch bell • live traffic re-routing • delay alerts to school + kitchen 30 min ahead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2523744"/>
            <a:ext cx="4983479" cy="713232"/>
          </a:xfrm>
          <a:prstGeom prst="roundRect">
            <a:avLst>
              <a:gd name="adj" fmla="val 7000"/>
            </a:avLst>
          </a:prstGeom>
          <a:solidFill>
            <a:srgbClr val="FDF6E0"/>
          </a:solidFill>
          <a:ln w="1143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04488" y="2578608"/>
            <a:ext cx="47640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2 · VEHICLE TELEMATICS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333333"/>
                </a:solidFill>
                <a:latin typeface="Arial"/>
              </a:rPr>
              <a:t>GPS + in-van cameras on every vehicle • RFID tags on all vessels &amp; utensils • automated end-of-day reconciliation — zero missing inventory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94760" y="3291839"/>
            <a:ext cx="4983479" cy="713232"/>
          </a:xfrm>
          <a:prstGeom prst="roundRect">
            <a:avLst>
              <a:gd name="adj" fmla="val 7000"/>
            </a:avLst>
          </a:prstGeom>
          <a:solidFill>
            <a:srgbClr val="EAF3E6"/>
          </a:solidFill>
          <a:ln w="11430">
            <a:solidFill>
              <a:srgbClr val="39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04488" y="3346703"/>
            <a:ext cx="47640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1B3E6E"/>
                </a:solidFill>
                <a:latin typeface="Arial"/>
              </a:rPr>
              <a:t>3 · GEOFENCED INTEGRITY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333333"/>
                </a:solidFill>
                <a:latin typeface="Arial"/>
              </a:rPr>
              <a:t>Smart-locked doors open only within 150 m of a registered school • real-time tamper alerts • en-route offloading &amp; adulteration made impossible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078223"/>
            <a:ext cx="4983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B3E6E"/>
                </a:solidFill>
                <a:latin typeface="Arial"/>
              </a:rPr>
              <a:t>After implementation:  </a:t>
            </a:r>
            <a:r>
              <a:rPr sz="819" b="1" i="0">
                <a:solidFill>
                  <a:srgbClr val="398025"/>
                </a:solidFill>
                <a:latin typeface="Arial"/>
              </a:rPr>
              <a:t>99.5% in lunch window   ·   −18% fleet km   ·   0 unaccounted vessels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4361688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41064" y="4334256"/>
            <a:ext cx="2368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Where the $100k goes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4608576"/>
            <a:ext cx="25146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3749040" y="4663440"/>
          <a:ext cx="2606040" cy="13533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Rectangle 35"/>
          <p:cNvSpPr/>
          <p:nvPr/>
        </p:nvSpPr>
        <p:spPr>
          <a:xfrm>
            <a:off x="6537960" y="4361688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84264" y="4334256"/>
            <a:ext cx="2093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Annual savings ($k)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4608576"/>
            <a:ext cx="2240279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492240" y="4700016"/>
          <a:ext cx="2331719" cy="11704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492240" y="5907024"/>
            <a:ext cx="2331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98025"/>
                </a:solidFill>
                <a:latin typeface="Arial"/>
              </a:rPr>
              <a:t>= $80k/yr + trust that is priceless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Conclusion — why Akshaya Patra, and why this proposal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A proven engine of social mobility, a grant that compounds instead of depletes, and a partnership only Goldman Sachs can power.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$250k that doesn't feed children for a year — it upgrades the engine that feeds them forever.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3E6E"/>
                </a:solidFill>
                <a:latin typeface="Arial"/>
              </a:rPr>
              <a:t>THE FUND &amp; ITS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2331720" cy="12801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92224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B3E6E"/>
                </a:solidFill>
                <a:latin typeface="Georgia"/>
              </a:rPr>
              <a:t>$250k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27375"/>
                </a:solidFill>
                <a:latin typeface="Arial"/>
              </a:rPr>
              <a:t>one-time grant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" y="2432304"/>
            <a:ext cx="0" cy="219456"/>
          </a:xfrm>
          <a:prstGeom prst="line">
            <a:avLst/>
          </a:prstGeom>
          <a:ln w="12700">
            <a:solidFill>
              <a:srgbClr val="BFBFB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2706624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398025"/>
                </a:solidFill>
                <a:latin typeface="Georgia"/>
              </a:rPr>
              <a:t>$310k / yr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27375"/>
                </a:solidFill>
                <a:latin typeface="Arial"/>
              </a:rPr>
              <a:t>returned in audited savings — every single year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" y="3346704"/>
            <a:ext cx="0" cy="219456"/>
          </a:xfrm>
          <a:prstGeom prst="line">
            <a:avLst/>
          </a:prstGeom>
          <a:ln w="12700">
            <a:solidFill>
              <a:srgbClr val="BFBFB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" y="3621024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B3E6E"/>
                </a:solidFill>
                <a:latin typeface="Georgia"/>
              </a:rPr>
              <a:t>+105,000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27375"/>
                </a:solidFill>
                <a:latin typeface="Arial"/>
              </a:rPr>
              <a:t>children fed per year at zero extra cost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7512" y="4261104"/>
            <a:ext cx="0" cy="219456"/>
          </a:xfrm>
          <a:prstGeom prst="line">
            <a:avLst/>
          </a:prstGeom>
          <a:ln w="12700">
            <a:solidFill>
              <a:srgbClr val="BFBFB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4535424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08A1E"/>
                </a:solidFill>
                <a:latin typeface="Georgia"/>
              </a:rPr>
              <a:t>&lt; 10 months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27375"/>
                </a:solidFill>
                <a:latin typeface="Arial"/>
              </a:rPr>
              <a:t>payback on the full grant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417320"/>
            <a:ext cx="10972" cy="3429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3240" y="1399032"/>
            <a:ext cx="54864" cy="18288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9544" y="1371600"/>
            <a:ext cx="5568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The partnership equation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1645920"/>
            <a:ext cx="57150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09644" y="1755648"/>
            <a:ext cx="969264" cy="804672"/>
          </a:xfrm>
          <a:prstGeom prst="ellipse">
            <a:avLst/>
          </a:prstGeom>
          <a:solidFill>
            <a:srgbClr val="EEF3F9"/>
          </a:solidFill>
          <a:ln w="13970">
            <a:solidFill>
              <a:srgbClr val="1B3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9644" y="1856231"/>
            <a:ext cx="96926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B3E6E"/>
                </a:solidFill>
                <a:latin typeface="Arial"/>
              </a:rPr>
              <a:t>GS $250k
catalytic
capital</a:t>
            </a:r>
          </a:p>
        </p:txBody>
      </p:sp>
      <p:sp>
        <p:nvSpPr>
          <p:cNvPr id="24" name="Plus 23"/>
          <p:cNvSpPr/>
          <p:nvPr/>
        </p:nvSpPr>
        <p:spPr>
          <a:xfrm>
            <a:off x="5088636" y="2048255"/>
            <a:ext cx="237744" cy="219456"/>
          </a:xfrm>
          <a:prstGeom prst="mathPlus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36108" y="1755648"/>
            <a:ext cx="969264" cy="804672"/>
          </a:xfrm>
          <a:prstGeom prst="ellipse">
            <a:avLst/>
          </a:prstGeom>
          <a:solidFill>
            <a:srgbClr val="FDF6E0"/>
          </a:solidFill>
          <a:ln w="1397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6108" y="1856231"/>
            <a:ext cx="96926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E08A1E"/>
                </a:solidFill>
                <a:latin typeface="Arial"/>
              </a:rPr>
              <a:t>AP's 2.3M
meals-a-day
engine</a:t>
            </a:r>
          </a:p>
        </p:txBody>
      </p:sp>
      <p:sp>
        <p:nvSpPr>
          <p:cNvPr id="27" name="Equal 26"/>
          <p:cNvSpPr/>
          <p:nvPr/>
        </p:nvSpPr>
        <p:spPr>
          <a:xfrm>
            <a:off x="6515100" y="2048255"/>
            <a:ext cx="237744" cy="219456"/>
          </a:xfrm>
          <a:prstGeom prst="mathEqual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62572" y="1755648"/>
            <a:ext cx="969264" cy="804672"/>
          </a:xfrm>
          <a:prstGeom prst="ellipse">
            <a:avLst/>
          </a:prstGeom>
          <a:solidFill>
            <a:srgbClr val="EAF3E6"/>
          </a:solidFill>
          <a:ln w="13970">
            <a:solidFill>
              <a:srgbClr val="39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2572" y="1856231"/>
            <a:ext cx="96926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98025"/>
                </a:solidFill>
                <a:latin typeface="Arial"/>
              </a:rPr>
              <a:t>Impact that
compounds
yearly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606039"/>
            <a:ext cx="5715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27375"/>
                </a:solidFill>
                <a:latin typeface="Arial"/>
              </a:rPr>
              <a:t>One-time capital → permanent capability → recurring savings → more children in school, every year after Year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916936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9544" y="2889504"/>
            <a:ext cx="5568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Why the GS grant stands out here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163824"/>
            <a:ext cx="57150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3255264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398025"/>
                </a:solidFill>
                <a:latin typeface="Arial"/>
              </a:rPr>
              <a:t>✓  Structural, not sustenance:  </a:t>
            </a:r>
            <a:r>
              <a:rPr sz="780" b="0" i="0">
                <a:solidFill>
                  <a:srgbClr val="333333"/>
                </a:solidFill>
                <a:latin typeface="Arial"/>
              </a:rPr>
              <a:t>others fund meals for a year; GS funds the technology that makes every future meal cheaper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3570732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398025"/>
                </a:solidFill>
                <a:latin typeface="Arial"/>
              </a:rPr>
              <a:t>✓  Plays to GS DNA:  </a:t>
            </a:r>
            <a:r>
              <a:rPr sz="780" b="0" i="0">
                <a:solidFill>
                  <a:srgbClr val="333333"/>
                </a:solidFill>
                <a:latin typeface="Arial"/>
              </a:rPr>
              <a:t>forecasting, optimisation &amp; risk controls — GS engineering mentors the build pro bono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3886200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398025"/>
                </a:solidFill>
                <a:latin typeface="Arial"/>
              </a:rPr>
              <a:t>✓  Measurable ROI:  </a:t>
            </a:r>
            <a:r>
              <a:rPr sz="780" b="0" i="0">
                <a:solidFill>
                  <a:srgbClr val="333333"/>
                </a:solidFill>
                <a:latin typeface="Arial"/>
              </a:rPr>
              <a:t>$310k/yr audited savings; KPI dashboard shared quarterly with 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4201668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398025"/>
                </a:solidFill>
                <a:latin typeface="Arial"/>
              </a:rPr>
              <a:t>✓  Partnership beyond capital:  </a:t>
            </a:r>
            <a:r>
              <a:rPr sz="780" b="0" i="0">
                <a:solidFill>
                  <a:srgbClr val="333333"/>
                </a:solidFill>
                <a:latin typeface="Arial"/>
              </a:rPr>
              <a:t>GS volunteering days at kitchens &amp; co-branded impact reporting — a partner, not a donor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451713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398025"/>
                </a:solidFill>
                <a:latin typeface="Arial"/>
              </a:rPr>
              <a:t>✓  Scalable blueprint:  </a:t>
            </a:r>
            <a:r>
              <a:rPr sz="780" b="0" i="0">
                <a:solidFill>
                  <a:srgbClr val="333333"/>
                </a:solidFill>
                <a:latin typeface="Arial"/>
              </a:rPr>
              <a:t>proven once, extends to school-feeding programmes across South Asia &amp; Africa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983480"/>
            <a:ext cx="54864" cy="1828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4956048"/>
            <a:ext cx="8266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Proven track record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230368"/>
            <a:ext cx="84124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340096"/>
            <a:ext cx="566928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5340096"/>
            <a:ext cx="45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📷 Krishna
Kumar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" y="5340096"/>
            <a:ext cx="3520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1">
                <a:solidFill>
                  <a:srgbClr val="333333"/>
                </a:solidFill>
                <a:latin typeface="Arial"/>
              </a:rPr>
              <a:t>“The mid-day meal was the reason I stayed in school. Today I manage portfolios instead of an empty stomach.”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B3E6E"/>
                </a:solidFill>
                <a:latin typeface="Arial"/>
              </a:rPr>
              <a:t>— Krishna Kumar, </a:t>
            </a:r>
            <a:r>
              <a:rPr sz="680" b="0" i="0">
                <a:solidFill>
                  <a:srgbClr val="727375"/>
                </a:solidFill>
                <a:latin typeface="Arial"/>
              </a:rPr>
              <a:t>AVP, HSBC — former mid-day meal 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36592" y="5340096"/>
            <a:ext cx="10972" cy="56692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01184" y="5340096"/>
            <a:ext cx="38770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3E6E"/>
                </a:solidFill>
                <a:latin typeface="Arial"/>
              </a:rPr>
              <a:t>Trusted by leading corporates </a:t>
            </a:r>
            <a:r>
              <a:rPr sz="800" b="0" i="0">
                <a:solidFill>
                  <a:srgbClr val="727375"/>
                </a:solidFill>
                <a:latin typeface="Arial"/>
              </a:rPr>
              <a:t>(+200 more)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01184" y="5577840"/>
            <a:ext cx="60807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5577840"/>
            <a:ext cx="4983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Infosys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4980" y="5577840"/>
            <a:ext cx="60807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09844" y="5577840"/>
            <a:ext cx="4983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TCS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08776" y="5577840"/>
            <a:ext cx="60807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577840"/>
            <a:ext cx="4983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HDFC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62572" y="5577840"/>
            <a:ext cx="60807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17436" y="5577840"/>
            <a:ext cx="4983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Amazon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16368" y="5577840"/>
            <a:ext cx="60807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71232" y="5577840"/>
            <a:ext cx="4983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Airbus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70164" y="5577840"/>
            <a:ext cx="60807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7273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5028" y="5577840"/>
            <a:ext cx="4983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27375"/>
                </a:solidFill>
                <a:latin typeface="Arial"/>
              </a:rPr>
              <a:t>SBI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The two gaps — and the $250,000 that closes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Unpacking the gaps highlighted in the supply chain: what is broken today, how the grant splits across them, and the solution we build for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Two fixable gaps, two targeted builds — $250k of capital becomes $310k of savings, every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5486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27375"/>
                </a:solidFill>
                <a:latin typeface="Arial"/>
              </a:rPr>
              <a:t>PROPOSED SLIDE 3 — 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80744"/>
            <a:ext cx="54864" cy="182880"/>
          </a:xfrm>
          <a:prstGeom prst="rect">
            <a:avLst/>
          </a:prstGeom>
          <a:solidFill>
            <a:srgbClr val="C2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53312"/>
            <a:ext cx="3922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GAP 1 — Procurement: demand is guesswork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27632"/>
            <a:ext cx="40690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19072"/>
            <a:ext cx="4069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333333"/>
                </a:solidFill>
                <a:latin typeface="Arial"/>
              </a:rPr>
              <a:t>•  Manual, gut-feel indenting</a:t>
            </a:r>
            <a:r>
              <a:rPr sz="819" b="0" i="0">
                <a:solidFill>
                  <a:srgbClr val="333333"/>
                </a:solidFill>
                <a:latin typeface="Arial"/>
              </a:rPr>
              <a:t> 3 days ahead — blind to attendance swings, exams &amp; holidays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333333"/>
                </a:solidFill>
                <a:latin typeface="Arial"/>
              </a:rPr>
              <a:t>•  Reactive spot-buying</a:t>
            </a:r>
            <a:r>
              <a:rPr sz="819" b="0" i="0">
                <a:solidFill>
                  <a:srgbClr val="333333"/>
                </a:solidFill>
                <a:latin typeface="Arial"/>
              </a:rPr>
              <a:t> at mandi peak prices when stocks run short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333333"/>
                </a:solidFill>
                <a:latin typeface="Arial"/>
              </a:rPr>
              <a:t>•  No price intelligence</a:t>
            </a:r>
            <a:r>
              <a:rPr sz="819" b="0" i="0">
                <a:solidFill>
                  <a:srgbClr val="333333"/>
                </a:solidFill>
                <a:latin typeface="Arial"/>
              </a:rPr>
              <a:t> — cheapest forward-buying windows are missed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33333"/>
                </a:solidFill>
                <a:latin typeface="Arial"/>
              </a:rPr>
              <a:t>•  No feedback loop</a:t>
            </a:r>
            <a:r>
              <a:rPr sz="819" b="0" i="0">
                <a:solidFill>
                  <a:srgbClr val="333333"/>
                </a:solidFill>
                <a:latin typeface="Arial"/>
              </a:rPr>
              <a:t> from schools on actual meal uptake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24912"/>
            <a:ext cx="4069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22310"/>
                </a:solidFill>
                <a:latin typeface="Arial"/>
              </a:rPr>
              <a:t>Cost today:  8–10% meals over-produced  ·  +12% paid on spot buys [dummy]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380744"/>
            <a:ext cx="54864" cy="182880"/>
          </a:xfrm>
          <a:prstGeom prst="rect">
            <a:avLst/>
          </a:prstGeom>
          <a:solidFill>
            <a:srgbClr val="C2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1353312"/>
            <a:ext cx="3922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GAP 2 — Distribution: the last mile is blind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627632"/>
            <a:ext cx="40690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719072"/>
            <a:ext cx="4069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333333"/>
                </a:solidFill>
                <a:latin typeface="Arial"/>
              </a:rPr>
              <a:t>•  Static, driver-memory routes</a:t>
            </a:r>
            <a:r>
              <a:rPr sz="819" b="0" i="0">
                <a:solidFill>
                  <a:srgbClr val="333333"/>
                </a:solidFill>
                <a:latin typeface="Arial"/>
              </a:rPr>
              <a:t> — 15–30 min past the lunch bell means children stay hungry all day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333333"/>
                </a:solidFill>
                <a:latin typeface="Arial"/>
              </a:rPr>
              <a:t>•  Untracked vessels &amp; utensils</a:t>
            </a:r>
            <a:r>
              <a:rPr sz="819" b="0" i="0">
                <a:solidFill>
                  <a:srgbClr val="333333"/>
                </a:solidFill>
                <a:latin typeface="Arial"/>
              </a:rPr>
              <a:t> — daily losses add to operating cost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333333"/>
                </a:solidFill>
                <a:latin typeface="Arial"/>
              </a:rPr>
              <a:t>•  Adulteration / diversion risk</a:t>
            </a:r>
            <a:r>
              <a:rPr sz="819" b="0" i="0">
                <a:solidFill>
                  <a:srgbClr val="333333"/>
                </a:solidFill>
                <a:latin typeface="Arial"/>
              </a:rPr>
              <a:t> — unsealed vans can be offloaded at roadside dhabas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33333"/>
                </a:solidFill>
                <a:latin typeface="Arial"/>
              </a:rPr>
              <a:t>•  No proof-of-delivery</a:t>
            </a:r>
            <a:r>
              <a:rPr sz="819" b="0" i="0">
                <a:solidFill>
                  <a:srgbClr val="333333"/>
                </a:solidFill>
                <a:latin typeface="Arial"/>
              </a:rPr>
              <a:t> — school shortfall disputes go unresolved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24912"/>
            <a:ext cx="4069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22310"/>
                </a:solidFill>
                <a:latin typeface="Arial"/>
              </a:rPr>
              <a:t>Cost today:  6.2% deliveries miss lunch  ·  $35k/yr shrinkage [dummy]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26663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999232"/>
            <a:ext cx="8266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E6E"/>
                </a:solidFill>
                <a:latin typeface="Arial"/>
              </a:rPr>
              <a:t>How the $250,000 grant splits across the two gaps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73551"/>
            <a:ext cx="84124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383279"/>
            <a:ext cx="4882895" cy="402336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5815" y="3383279"/>
            <a:ext cx="3255263" cy="402336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383279"/>
            <a:ext cx="488289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$150k — Gap 1: Procurement (60%)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5" y="3383279"/>
            <a:ext cx="325526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$100k — Gap 2: Distribution (40%)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813048"/>
            <a:ext cx="48828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27375"/>
                </a:solidFill>
                <a:latin typeface="Arial"/>
              </a:rPr>
              <a:t>The costlier gap first — waste &amp; over-priced buying start at the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5" y="3813048"/>
            <a:ext cx="3255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27375"/>
                </a:solidFill>
                <a:latin typeface="Arial"/>
              </a:rPr>
              <a:t>Then seal the last mile — on time, intact, untouched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400300" y="4023359"/>
            <a:ext cx="544068" cy="164593"/>
          </a:xfrm>
          <a:prstGeom prst="curvedConnector3">
            <a:avLst/>
          </a:prstGeom>
          <a:ln w="15875">
            <a:solidFill>
              <a:srgbClr val="1B3E6E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743700" y="4023359"/>
            <a:ext cx="269747" cy="164593"/>
          </a:xfrm>
          <a:prstGeom prst="curvedConnector3">
            <a:avLst/>
          </a:prstGeom>
          <a:ln w="15875">
            <a:solidFill>
              <a:srgbClr val="39802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" y="4224528"/>
            <a:ext cx="4069080" cy="1664208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1B3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4306824"/>
            <a:ext cx="3813048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SOLUTION 1 — “Annapurna AI”  ·  $150k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1B3E6E"/>
                </a:solidFill>
                <a:latin typeface="Arial"/>
              </a:rPr>
              <a:t>What: </a:t>
            </a:r>
            <a:r>
              <a:rPr sz="819" b="0" i="0">
                <a:solidFill>
                  <a:srgbClr val="333333"/>
                </a:solidFill>
                <a:latin typeface="Arial"/>
              </a:rPr>
              <a:t>ML demand-forecasting &amp; procurement-planning platform across all 68 kitchens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1B3E6E"/>
                </a:solidFill>
                <a:latin typeface="Arial"/>
              </a:rPr>
              <a:t>How: </a:t>
            </a:r>
            <a:r>
              <a:rPr sz="819" b="0" i="0">
                <a:solidFill>
                  <a:srgbClr val="333333"/>
                </a:solidFill>
                <a:latin typeface="Arial"/>
              </a:rPr>
              <a:t>predicts school-level attendance from history, calendars &amp; seasonality; auto-generates daily indents &amp; forward buying schedules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727375"/>
                </a:solidFill>
                <a:latin typeface="Arial"/>
              </a:rPr>
              <a:t>Rollout: </a:t>
            </a:r>
            <a:r>
              <a:rPr sz="780" b="0" i="0">
                <a:solidFill>
                  <a:srgbClr val="727375"/>
                </a:solidFill>
                <a:latin typeface="Arial"/>
              </a:rPr>
              <a:t>3-kitchen pilot (Mo 1–4) → all 68 kitchens by Mo 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398025"/>
                </a:solidFill>
                <a:latin typeface="Arial"/>
              </a:rPr>
              <a:t>→  ~70% less food waste  ·  est. $230k saved / yr [dummy]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224528"/>
            <a:ext cx="4069080" cy="1664208"/>
          </a:xfrm>
          <a:prstGeom prst="roundRect">
            <a:avLst>
              <a:gd name="adj" fmla="val 5000"/>
            </a:avLst>
          </a:prstGeom>
          <a:solidFill>
            <a:srgbClr val="EAF3E6"/>
          </a:solidFill>
          <a:ln w="12700">
            <a:solidFill>
              <a:srgbClr val="39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7176" y="4306824"/>
            <a:ext cx="3813048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398025"/>
                </a:solidFill>
                <a:latin typeface="Arial"/>
              </a:rPr>
              <a:t>SOLUTION 2 — “Last-Mile Shield”  ·  $100k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1B3E6E"/>
                </a:solidFill>
                <a:latin typeface="Arial"/>
              </a:rPr>
              <a:t>What: </a:t>
            </a:r>
            <a:r>
              <a:rPr sz="819" b="0" i="0">
                <a:solidFill>
                  <a:srgbClr val="333333"/>
                </a:solidFill>
                <a:latin typeface="Arial"/>
              </a:rPr>
              <a:t>AI route optimisation + van telematics (GPS, cameras, RFID tags) + geofenced smart locks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1B3E6E"/>
                </a:solidFill>
                <a:latin typeface="Arial"/>
              </a:rPr>
              <a:t>How: </a:t>
            </a:r>
            <a:r>
              <a:rPr sz="819" b="0" i="0">
                <a:solidFill>
                  <a:srgbClr val="333333"/>
                </a:solidFill>
                <a:latin typeface="Arial"/>
              </a:rPr>
              <a:t>routes sequenced to each school's lunch bell; doors unlock only within 150 m of a registered school — diversion becomes impossible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727375"/>
                </a:solidFill>
                <a:latin typeface="Arial"/>
              </a:rPr>
              <a:t>Bonus: </a:t>
            </a:r>
            <a:r>
              <a:rPr sz="780" b="0" i="0">
                <a:solidFill>
                  <a:srgbClr val="727375"/>
                </a:solidFill>
                <a:latin typeface="Arial"/>
              </a:rPr>
              <a:t>hardware amortises over 5+ yrs; 3 vans freed per hub reach new schools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398025"/>
                </a:solidFill>
                <a:latin typeface="Arial"/>
              </a:rPr>
              <a:t>→  99%+ on-time  ·  −18% fleet km  ·  est. $80k saved / yr [dummy]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The two gaps — and the $250,000 that closes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The gaps highlighted in the supply chain, the grant that closes them, and the solution we build for each — all in one 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Two fixable gaps, two targeted builds — $250k of capital becomes $310k of savings, every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5486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27375"/>
                </a:solidFill>
                <a:latin typeface="Arial"/>
              </a:rPr>
              <a:t>PROPOSED SLIDE 3 — v3 (pie quadrant)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35024"/>
            <a:ext cx="4133087" cy="22494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675887"/>
            <a:ext cx="4133087" cy="223113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45152" y="1335024"/>
            <a:ext cx="4133087" cy="22494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45152" y="3675887"/>
            <a:ext cx="4133087" cy="223113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864" cy="182880"/>
          </a:xfrm>
          <a:prstGeom prst="rect">
            <a:avLst/>
          </a:prstGeom>
          <a:solidFill>
            <a:srgbClr val="C2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444752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GAP 1 —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792224"/>
            <a:ext cx="27889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333333"/>
                </a:solidFill>
                <a:latin typeface="Arial"/>
              </a:rPr>
              <a:t>•  Manual, gut-feel indenting</a:t>
            </a:r>
            <a:r>
              <a:rPr sz="800" b="0" i="0">
                <a:solidFill>
                  <a:srgbClr val="333333"/>
                </a:solidFill>
                <a:latin typeface="Arial"/>
              </a:rPr>
              <a:t> — blind to attendance swings, exams &amp; holidays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333333"/>
                </a:solidFill>
                <a:latin typeface="Arial"/>
              </a:rPr>
              <a:t>•  Reactive spot-buying</a:t>
            </a:r>
            <a:r>
              <a:rPr sz="800" b="0" i="0">
                <a:solidFill>
                  <a:srgbClr val="333333"/>
                </a:solidFill>
                <a:latin typeface="Arial"/>
              </a:rPr>
              <a:t> at mandi peak prices; no price intelligence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333333"/>
                </a:solidFill>
                <a:latin typeface="Arial"/>
              </a:rPr>
              <a:t>•  No feedback loop</a:t>
            </a:r>
            <a:r>
              <a:rPr sz="800" b="0" i="0">
                <a:solidFill>
                  <a:srgbClr val="333333"/>
                </a:solidFill>
                <a:latin typeface="Arial"/>
              </a:rPr>
              <a:t> from schools on actual meal uptake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22310"/>
                </a:solidFill>
                <a:latin typeface="Arial"/>
              </a:rPr>
              <a:t>Cost today:  8–10% meals over-produced · +12% spot premium [dummy]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3872" y="1472184"/>
            <a:ext cx="54864" cy="182880"/>
          </a:xfrm>
          <a:prstGeom prst="rect">
            <a:avLst/>
          </a:prstGeom>
          <a:solidFill>
            <a:srgbClr val="C2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1444752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GAP 2 —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792224"/>
            <a:ext cx="27889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333333"/>
                </a:solidFill>
                <a:latin typeface="Arial"/>
              </a:rPr>
              <a:t>•  Static, driver-memory routes</a:t>
            </a:r>
            <a:r>
              <a:rPr sz="800" b="0" i="0">
                <a:solidFill>
                  <a:srgbClr val="333333"/>
                </a:solidFill>
                <a:latin typeface="Arial"/>
              </a:rPr>
              <a:t> — late vans mean children stay hungry all day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333333"/>
                </a:solidFill>
                <a:latin typeface="Arial"/>
              </a:rPr>
              <a:t>•  Untracked vessels &amp; utensils</a:t>
            </a:r>
            <a:r>
              <a:rPr sz="800" b="0" i="0">
                <a:solidFill>
                  <a:srgbClr val="333333"/>
                </a:solidFill>
                <a:latin typeface="Arial"/>
              </a:rPr>
              <a:t>; adulteration &amp; diversion risk en route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333333"/>
                </a:solidFill>
                <a:latin typeface="Arial"/>
              </a:rPr>
              <a:t>•  No proof-of-delivery</a:t>
            </a:r>
            <a:r>
              <a:rPr sz="800" b="0" i="0">
                <a:solidFill>
                  <a:srgbClr val="333333"/>
                </a:solidFill>
                <a:latin typeface="Arial"/>
              </a:rPr>
              <a:t> — school shortfall disputes go unresolved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22310"/>
                </a:solidFill>
                <a:latin typeface="Arial"/>
              </a:rPr>
              <a:t>Cost today:  6.2% miss the lunch window · $35k/yr shrinkage [dummy]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13048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85615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SOLUTION 1 — “Annapurna AI” · $150k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133087"/>
            <a:ext cx="27889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1B3E6E"/>
                </a:solidFill>
                <a:latin typeface="Arial"/>
              </a:rPr>
              <a:t>What: </a:t>
            </a:r>
            <a:r>
              <a:rPr sz="800" b="0" i="0">
                <a:solidFill>
                  <a:srgbClr val="333333"/>
                </a:solidFill>
                <a:latin typeface="Arial"/>
              </a:rPr>
              <a:t>ML demand-forecasting &amp; procurement planning across all 68 kitchens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1B3E6E"/>
                </a:solidFill>
                <a:latin typeface="Arial"/>
              </a:rPr>
              <a:t>How: </a:t>
            </a:r>
            <a:r>
              <a:rPr sz="800" b="0" i="0">
                <a:solidFill>
                  <a:srgbClr val="333333"/>
                </a:solidFill>
                <a:latin typeface="Arial"/>
              </a:rPr>
              <a:t>predicts school-level attendance; auto-generates daily indents &amp; forward buying schedules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727375"/>
                </a:solidFill>
                <a:latin typeface="Arial"/>
              </a:rPr>
              <a:t>Rollout: </a:t>
            </a:r>
            <a:r>
              <a:rPr sz="780" b="0" i="0">
                <a:solidFill>
                  <a:srgbClr val="727375"/>
                </a:solidFill>
                <a:latin typeface="Arial"/>
              </a:rPr>
              <a:t>3-kitchen pilot (Mo 1–4) → all 68 kitchens by Mo 12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398025"/>
                </a:solidFill>
                <a:latin typeface="Arial"/>
              </a:rPr>
              <a:t>→  ~70% less food waste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98025"/>
                </a:solidFill>
                <a:latin typeface="Arial"/>
              </a:rPr>
              <a:t>→  est. $230k saved / yr [dummy]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33872" y="3813048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2" y="3785615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SOLUTION 2 — “Last-Mile Shield” · $100k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133087"/>
            <a:ext cx="27889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1B3E6E"/>
                </a:solidFill>
                <a:latin typeface="Arial"/>
              </a:rPr>
              <a:t>What: </a:t>
            </a:r>
            <a:r>
              <a:rPr sz="800" b="0" i="0">
                <a:solidFill>
                  <a:srgbClr val="333333"/>
                </a:solidFill>
                <a:latin typeface="Arial"/>
              </a:rPr>
              <a:t>AI route optimisation + telematics (GPS, cameras, RFID) + geofenced smart locks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1B3E6E"/>
                </a:solidFill>
                <a:latin typeface="Arial"/>
              </a:rPr>
              <a:t>How: </a:t>
            </a:r>
            <a:r>
              <a:rPr sz="800" b="0" i="0">
                <a:solidFill>
                  <a:srgbClr val="333333"/>
                </a:solidFill>
                <a:latin typeface="Arial"/>
              </a:rPr>
              <a:t>drops sequenced to each school's lunch bell; doors unlock only near a registered school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1" i="0">
                <a:solidFill>
                  <a:srgbClr val="727375"/>
                </a:solidFill>
                <a:latin typeface="Arial"/>
              </a:rPr>
              <a:t>Bonus: </a:t>
            </a:r>
            <a:r>
              <a:rPr sz="780" b="0" i="0">
                <a:solidFill>
                  <a:srgbClr val="727375"/>
                </a:solidFill>
                <a:latin typeface="Arial"/>
              </a:rPr>
              <a:t>3 vans freed per hub redeployed to reach new schools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398025"/>
                </a:solidFill>
                <a:latin typeface="Arial"/>
              </a:rPr>
              <a:t>→  99%+ on-time · −18% fleet km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98025"/>
                </a:solidFill>
                <a:latin typeface="Arial"/>
              </a:rPr>
              <a:t>→  est. $80k saved / yr [dummy]</a:t>
            </a:r>
          </a:p>
        </p:txBody>
      </p:sp>
      <p:sp>
        <p:nvSpPr>
          <p:cNvPr id="26" name="Oval 25"/>
          <p:cNvSpPr/>
          <p:nvPr/>
        </p:nvSpPr>
        <p:spPr>
          <a:xfrm>
            <a:off x="3337560" y="2386584"/>
            <a:ext cx="2468880" cy="2468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406140" y="2455164"/>
          <a:ext cx="23317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3520440" y="483717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8600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3E6E"/>
                </a:solidFill>
                <a:latin typeface="Arial"/>
              </a:rPr>
              <a:t>THE $250k GRANT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1">
                <a:solidFill>
                  <a:srgbClr val="727375"/>
                </a:solidFill>
                <a:latin typeface="Arial"/>
              </a:rPr>
              <a:t>60 / 40 — weighted to the costlier gap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Solution 1 — the AI-enabled planning &amp; procurement build ($150k)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Connecting real-time demand signals to kitchen production and procurement — the technology that closes Gap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“Feeding more children with the same rupee” — AI plus GS capital makes it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54864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27375"/>
                </a:solidFill>
                <a:latin typeface="Arial"/>
              </a:rPr>
              <a:t>PROPOSED SLIDE 4 — OPTION A (quadrant)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35024"/>
            <a:ext cx="4133087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35024"/>
            <a:ext cx="4133087" cy="274320"/>
          </a:xfrm>
          <a:prstGeom prst="rect">
            <a:avLst/>
          </a:prstGeom>
          <a:solidFill>
            <a:srgbClr val="09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362456"/>
            <a:ext cx="3913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PILLAR 1 — Predictive Demand Forecasting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5152" y="1335024"/>
            <a:ext cx="4133087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45152" y="1335024"/>
            <a:ext cx="4133087" cy="2743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362456"/>
            <a:ext cx="3913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PILLAR 2 — Spatial-Temporal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1700784"/>
            <a:ext cx="38770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727375"/>
                </a:solidFill>
                <a:latin typeface="Arial"/>
              </a:rPr>
              <a:t>Predicts exact meal &amp; ingredient needs per centre by ingesting: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Attendance &amp; enrolment trends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estimate how many meals each centre should prepare daily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Holiday calendars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capture local demand spikes or dips before production quantities are finalised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Menu consumption history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converts expected meals into ingredient quantities for key staples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Weather signals &amp; feedback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continuously refine the next centre-level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00784"/>
            <a:ext cx="38770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727375"/>
                </a:solidFill>
                <a:latin typeface="Arial"/>
              </a:rPr>
              <a:t>Decides when and where to buy each commodity to minimise total landed cost: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Seasonal price troughs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identify when each commodity should be bought before prices rise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Surplus-region signals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identify where each commodity can be sourced at lower landed cost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Logistics, handling &amp; storage costs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are included in every sourcing recommendation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Quality grades &amp; shelf-life rules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are locked into the final buying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44951"/>
            <a:ext cx="54864" cy="182880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017520"/>
            <a:ext cx="39867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E6E"/>
                </a:solidFill>
                <a:latin typeface="Arial"/>
              </a:rPr>
              <a:t>The self-learning operations loop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39"/>
            <a:ext cx="4133087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56815" y="3621024"/>
            <a:ext cx="950976" cy="384048"/>
          </a:xfrm>
          <a:prstGeom prst="roundRect">
            <a:avLst>
              <a:gd name="adj" fmla="val 30000"/>
            </a:avLst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6815" y="3634740"/>
            <a:ext cx="95097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INGEST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2979" y="4221267"/>
            <a:ext cx="950976" cy="384048"/>
          </a:xfrm>
          <a:prstGeom prst="roundRect">
            <a:avLst>
              <a:gd name="adj" fmla="val 3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2979" y="4234983"/>
            <a:ext cx="95097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FORECAST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7413" y="5192480"/>
            <a:ext cx="950976" cy="384048"/>
          </a:xfrm>
          <a:prstGeom prst="roundRect">
            <a:avLst>
              <a:gd name="adj" fmla="val 30000"/>
            </a:avLst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7413" y="5206196"/>
            <a:ext cx="95097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OPTIMIZE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46218" y="5192480"/>
            <a:ext cx="950976" cy="384048"/>
          </a:xfrm>
          <a:prstGeom prst="roundRect">
            <a:avLst>
              <a:gd name="adj" fmla="val 3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46218" y="5206196"/>
            <a:ext cx="95097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RECOMMEND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30652" y="4221267"/>
            <a:ext cx="950976" cy="384048"/>
          </a:xfrm>
          <a:prstGeom prst="roundRect">
            <a:avLst>
              <a:gd name="adj" fmla="val 30000"/>
            </a:avLst>
          </a:prstGeom>
          <a:solidFill>
            <a:srgbClr val="A64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0652" y="4234983"/>
            <a:ext cx="95097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LEARN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50423" y="3931149"/>
            <a:ext cx="297419" cy="216087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130847" y="4752336"/>
            <a:ext cx="113604" cy="349636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248488" y="5475944"/>
            <a:ext cx="367631" cy="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620156" y="4752336"/>
            <a:ext cx="113604" cy="349636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816765" y="3931149"/>
            <a:ext cx="297419" cy="216087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746503" y="448056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3E6E"/>
                </a:solidFill>
                <a:latin typeface="Arial"/>
              </a:rPr>
              <a:t>SELF-LEARNING
OPS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45152" y="3044951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91456" y="3017520"/>
            <a:ext cx="39867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3E6E"/>
                </a:solidFill>
                <a:latin typeface="Arial"/>
              </a:rPr>
              <a:t>Rice procurement cost — with vs. without GS funding ($M)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45152" y="3291839"/>
            <a:ext cx="4133087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645152" y="3364991"/>
          <a:ext cx="4133087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4645152" y="5212079"/>
            <a:ext cx="4133087" cy="621792"/>
          </a:xfrm>
          <a:prstGeom prst="roundRect">
            <a:avLst>
              <a:gd name="adj" fmla="val 10000"/>
            </a:avLst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5248655"/>
            <a:ext cx="395020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CUMULATIVE 2026–29 IMPACT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~$10.1M saved  |  21.6% reduction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Arial"/>
              </a:rPr>
              <a:t>freed capital feeds more children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Solution 1 — the AI-enabled planning &amp; procurement build ($150k)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Connecting real-time demand signals to kitchen production and procurement — the technology that closes Gap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“Feeding more children with the same rupee” — AI plus GS capital makes it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54864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27375"/>
                </a:solidFill>
                <a:latin typeface="Arial"/>
              </a:rPr>
              <a:t>PROPOSED SLIDE 4 — OPTION B (pipeline)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53312"/>
            <a:ext cx="54864" cy="182880"/>
          </a:xfrm>
          <a:prstGeom prst="rect">
            <a:avLst/>
          </a:prstGeom>
          <a:solidFill>
            <a:srgbClr val="09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25880"/>
            <a:ext cx="3968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PILLAR 1 — Predictive Demand Forecasting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41148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91640"/>
            <a:ext cx="4114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Attendance &amp; enrolment trends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estimate how many meals each centre should prepare daily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Holiday calendars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capture local demand spikes or dips before production quantities are finalised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Menu consumption history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converts expected meals into ingredient quantities for key staples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Weather signals &amp; feedback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continuously refine the next centre-level forecast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353312"/>
            <a:ext cx="54864" cy="1828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1325880"/>
            <a:ext cx="3968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PILLAR 2 — Spatial-Temporal Procurement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600200"/>
            <a:ext cx="41148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691640"/>
            <a:ext cx="4114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Seasonal price troughs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identify when each commodity should be bought before prices rise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Surplus-region signals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identify where each commodity can be sourced at lower landed cost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Logistics, handling &amp; storage costs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are included in every sourcing recommendation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Quality grades &amp; shelf-life rules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are locked into the final buying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761488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98064"/>
            <a:ext cx="14813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INGEST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>live prices, weather, attendance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74519" y="3044952"/>
            <a:ext cx="196597" cy="0"/>
          </a:xfrm>
          <a:prstGeom prst="curvedConnector3">
            <a:avLst/>
          </a:prstGeom>
          <a:ln w="1397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098548" y="2761488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8548" y="2798064"/>
            <a:ext cx="14813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FORECAST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>ingredient-level demand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07308" y="3044952"/>
            <a:ext cx="196596" cy="0"/>
          </a:xfrm>
          <a:prstGeom prst="curvedConnector3">
            <a:avLst/>
          </a:prstGeom>
          <a:ln w="1397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831335" y="2761488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31335" y="2798064"/>
            <a:ext cx="14813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OPTIMIZE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>when &amp; where to buy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40096" y="3044952"/>
            <a:ext cx="196596" cy="0"/>
          </a:xfrm>
          <a:prstGeom prst="curvedConnector3">
            <a:avLst/>
          </a:prstGeom>
          <a:ln w="1397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564123" y="2761488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64123" y="2798064"/>
            <a:ext cx="14813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RECOMMEND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>actionable buying sheet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2883" y="3044952"/>
            <a:ext cx="196596" cy="0"/>
          </a:xfrm>
          <a:prstGeom prst="curvedConnector3">
            <a:avLst/>
          </a:prstGeom>
          <a:ln w="1397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96911" y="2761488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A64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1" y="2798064"/>
            <a:ext cx="14813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LEARN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>feedback trains the model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106424" y="3374136"/>
            <a:ext cx="6931152" cy="155448"/>
          </a:xfrm>
          <a:prstGeom prst="curvedConnector3">
            <a:avLst/>
          </a:prstGeom>
          <a:ln w="1397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5760" y="3547872"/>
            <a:ext cx="8412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27375"/>
                </a:solidFill>
                <a:latin typeface="Arial"/>
              </a:rPr>
              <a:t>…the loop repeats every day — each cycle makes the next forecast sharper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50792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4023360"/>
            <a:ext cx="4882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3E6E"/>
                </a:solidFill>
                <a:latin typeface="Arial"/>
              </a:rPr>
              <a:t>Rice procurement cost — with vs. without GS funding ($M)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97680"/>
            <a:ext cx="50292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365760" y="4370832"/>
          <a:ext cx="5029200" cy="14813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5623560" y="4023360"/>
            <a:ext cx="3154680" cy="1847088"/>
          </a:xfrm>
          <a:prstGeom prst="roundRect">
            <a:avLst>
              <a:gd name="adj" fmla="val 6000"/>
            </a:avLst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4169663"/>
            <a:ext cx="2880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CUMULATIVE 2026–29 IMPACT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~$10.1M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saved on procurement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21.6%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reduction in cost — freed capital feeds more children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Solution 1 — the AI-enabled planning &amp; procurement build ($150k)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Connecting real-time demand signals to kitchen production and procurement — the technology that closes Gap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“Feeding more children with the same rupee” — AI plus GS capital makes it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54864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27375"/>
                </a:solidFill>
                <a:latin typeface="Arial"/>
              </a:rPr>
              <a:t>PROPOSED SLIDE 4 — OPTION C (numbers rail)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8988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3E6E"/>
                </a:solidFill>
                <a:latin typeface="Arial"/>
              </a:rPr>
              <a:t>THE RETURN ON $150k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2331720" cy="12801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10512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B3E6E"/>
                </a:solidFill>
                <a:latin typeface="Georgia"/>
              </a:rPr>
              <a:t>$150k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27375"/>
                </a:solidFill>
                <a:latin typeface="Arial"/>
              </a:rPr>
              <a:t>one-time GS-funded build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" y="2523744"/>
            <a:ext cx="0" cy="256032"/>
          </a:xfrm>
          <a:prstGeom prst="line">
            <a:avLst/>
          </a:prstGeom>
          <a:ln w="12700">
            <a:solidFill>
              <a:srgbClr val="BFBFB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" y="2871215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398025"/>
                </a:solidFill>
                <a:latin typeface="Georgia"/>
              </a:rPr>
              <a:t>~$10.1M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27375"/>
                </a:solidFill>
                <a:latin typeface="Arial"/>
              </a:rPr>
              <a:t>saved on procurement, cumulative 2026–29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" y="3584448"/>
            <a:ext cx="0" cy="256031"/>
          </a:xfrm>
          <a:prstGeom prst="line">
            <a:avLst/>
          </a:prstGeom>
          <a:ln w="12700">
            <a:solidFill>
              <a:srgbClr val="BFBFB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393192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398025"/>
                </a:solidFill>
                <a:latin typeface="Georgia"/>
              </a:rPr>
              <a:t>21.6%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27375"/>
                </a:solidFill>
                <a:latin typeface="Arial"/>
              </a:rPr>
              <a:t>reduction in commodity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" y="4645152"/>
            <a:ext cx="0" cy="256031"/>
          </a:xfrm>
          <a:prstGeom prst="line">
            <a:avLst/>
          </a:prstGeom>
          <a:ln w="12700">
            <a:solidFill>
              <a:srgbClr val="BFBFB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4992624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8A1E"/>
                </a:solidFill>
                <a:latin typeface="Georgia"/>
              </a:rPr>
              <a:t>100%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27375"/>
                </a:solidFill>
                <a:latin typeface="Arial"/>
              </a:rPr>
              <a:t>of savings reinvested in more meals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1417320"/>
            <a:ext cx="10972" cy="44805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1353312"/>
            <a:ext cx="54864" cy="182880"/>
          </a:xfrm>
          <a:prstGeom prst="rect">
            <a:avLst/>
          </a:prstGeom>
          <a:solidFill>
            <a:srgbClr val="09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9544" y="1325880"/>
            <a:ext cx="5568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PILLAR 1 — Predictive Demand Forecasting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1600200"/>
            <a:ext cx="57150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1691640"/>
            <a:ext cx="5715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Attendance &amp; enrolment trends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estimate how many meals each centre should prepare daily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Holiday calendars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capture local demand spikes or dips before production quantities are finalised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Menu consumption history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converts expected meals into ingredient quantities for key staples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Weather signals &amp; feedback </a:t>
            </a:r>
            <a:r>
              <a:rPr sz="750" b="0" i="0">
                <a:solidFill>
                  <a:srgbClr val="333333"/>
                </a:solidFill>
                <a:latin typeface="Arial"/>
              </a:rPr>
              <a:t>continuously refine the next centre-level forecast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660903"/>
            <a:ext cx="54864" cy="1828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9544" y="2633472"/>
            <a:ext cx="5568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E6E"/>
                </a:solidFill>
                <a:latin typeface="Arial"/>
              </a:rPr>
              <a:t>PILLAR 2 — Spatial-Temporal Procurement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907791"/>
            <a:ext cx="57150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2999232"/>
            <a:ext cx="5715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Seasonal price troughs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identify when each commodity should be bought before prices rise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Surplus-region signals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identify where each commodity can be sourced at lower landed cost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Logistics, handling &amp; storage costs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are included in every sourcing recommendation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</a:pPr>
            <a:r>
              <a:rPr sz="750" b="1" i="0">
                <a:solidFill>
                  <a:srgbClr val="333333"/>
                </a:solidFill>
                <a:latin typeface="Arial"/>
              </a:rPr>
              <a:t>•  Quality grades &amp; shelf-life rules </a:t>
            </a:r>
            <a:r>
              <a:rPr sz="750" b="0" i="0">
                <a:solidFill>
                  <a:srgbClr val="333333"/>
                </a:solidFill>
                <a:latin typeface="Arial"/>
              </a:rPr>
              <a:t>are locked into the final buying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416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40553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INGEST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87368" y="4197096"/>
            <a:ext cx="86868" cy="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192524" y="40416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92524" y="40553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FORECAST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16652" y="4197096"/>
            <a:ext cx="86868" cy="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321808" y="40416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21808" y="40553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OPTIMIZE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45936" y="4197096"/>
            <a:ext cx="86868" cy="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51092" y="40416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1092" y="40553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RECOMMEND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75220" y="4197096"/>
            <a:ext cx="86868" cy="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580376" y="40416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A64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0376" y="40553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4389120"/>
            <a:ext cx="571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727375"/>
                </a:solidFill>
                <a:latin typeface="Arial"/>
              </a:rPr>
              <a:t>the self-learning loop — repeats daily, each cycle sharpens the next forecast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4617720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9544" y="4590288"/>
            <a:ext cx="5568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3E6E"/>
                </a:solidFill>
                <a:latin typeface="Arial"/>
              </a:rPr>
              <a:t>Rice procurement cost — with vs. without GS funding ($M)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40" y="4864607"/>
            <a:ext cx="571500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3063240" y="4919472"/>
          <a:ext cx="3794760" cy="13167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6995160" y="5047488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398025"/>
                </a:solidFill>
                <a:latin typeface="Georgia"/>
              </a:rPr>
              <a:t>~$10.1M saved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98025"/>
                </a:solidFill>
                <a:latin typeface="Arial"/>
              </a:rPr>
              <a:t>21.6% ↓ cost, 2026–29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1">
                <a:solidFill>
                  <a:srgbClr val="727375"/>
                </a:solidFill>
                <a:latin typeface="Arial"/>
              </a:rPr>
              <a:t>freed capital feeds more children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8412480" cy="23774"/>
          </a:xfrm>
          <a:prstGeom prst="rect">
            <a:avLst/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3E6E"/>
                </a:solidFill>
                <a:latin typeface="Georgia"/>
              </a:rPr>
              <a:t>Solution 1 — the AI-enabled planning &amp; procurement build ($150k)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Connecting real-time demand signals to kitchen production and procurement — the technology that closes Gap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71616"/>
            <a:ext cx="8138159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E6E"/>
                </a:solidFill>
                <a:latin typeface="Georgia"/>
              </a:rPr>
              <a:t>“Feeding more children with the same rupee” — AI plus GS capital makes it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Goldman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Georgia"/>
              </a:rPr>
              <a:t>Sachs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727375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54864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27375"/>
                </a:solidFill>
                <a:latin typeface="Arial"/>
              </a:rPr>
              <a:t>PROPOSED SLIDE 4 — OPTION D (central hub)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99032"/>
            <a:ext cx="54864" cy="182880"/>
          </a:xfrm>
          <a:prstGeom prst="rect">
            <a:avLst/>
          </a:prstGeom>
          <a:solidFill>
            <a:srgbClr val="09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716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3E6E"/>
                </a:solidFill>
                <a:latin typeface="Arial"/>
              </a:rPr>
              <a:t>PILLAR 1 — Predictive Demand Forecasting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26974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37360"/>
            <a:ext cx="2697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333333"/>
                </a:solidFill>
                <a:latin typeface="Arial"/>
              </a:rPr>
              <a:t>•  Attendance &amp; enrolment trends </a:t>
            </a:r>
            <a:r>
              <a:rPr sz="720" b="0" i="0">
                <a:solidFill>
                  <a:srgbClr val="333333"/>
                </a:solidFill>
                <a:latin typeface="Arial"/>
              </a:rPr>
              <a:t>estimate how many meals each centre should prepare daily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333333"/>
                </a:solidFill>
                <a:latin typeface="Arial"/>
              </a:rPr>
              <a:t>•  Holiday calendars </a:t>
            </a:r>
            <a:r>
              <a:rPr sz="720" b="0" i="0">
                <a:solidFill>
                  <a:srgbClr val="333333"/>
                </a:solidFill>
                <a:latin typeface="Arial"/>
              </a:rPr>
              <a:t>capture local demand spikes or dips before production quantities are finalised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333333"/>
                </a:solidFill>
                <a:latin typeface="Arial"/>
              </a:rPr>
              <a:t>•  Menu consumption history </a:t>
            </a:r>
            <a:r>
              <a:rPr sz="720" b="0" i="0">
                <a:solidFill>
                  <a:srgbClr val="333333"/>
                </a:solidFill>
                <a:latin typeface="Arial"/>
              </a:rPr>
              <a:t>converts expected meals into ingredient quantities for key staples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333333"/>
                </a:solidFill>
                <a:latin typeface="Arial"/>
              </a:rPr>
              <a:t>•  Weather signals &amp; feedback </a:t>
            </a:r>
            <a:r>
              <a:rPr sz="720" b="0" i="0">
                <a:solidFill>
                  <a:srgbClr val="333333"/>
                </a:solidFill>
                <a:latin typeface="Arial"/>
              </a:rPr>
              <a:t>continuously refine the next centre-level forecast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399032"/>
            <a:ext cx="54864" cy="1828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3716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3E6E"/>
                </a:solidFill>
                <a:latin typeface="Arial"/>
              </a:rPr>
              <a:t>PILLAR 2 — Spatial-Temporal Procurement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645920"/>
            <a:ext cx="26974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737360"/>
            <a:ext cx="2697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333333"/>
                </a:solidFill>
                <a:latin typeface="Arial"/>
              </a:rPr>
              <a:t>•  Seasonal price troughs </a:t>
            </a:r>
            <a:r>
              <a:rPr sz="720" b="0" i="0">
                <a:solidFill>
                  <a:srgbClr val="333333"/>
                </a:solidFill>
                <a:latin typeface="Arial"/>
              </a:rPr>
              <a:t>identify when each commodity should be bought before prices rise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333333"/>
                </a:solidFill>
                <a:latin typeface="Arial"/>
              </a:rPr>
              <a:t>•  Surplus-region signals </a:t>
            </a:r>
            <a:r>
              <a:rPr sz="720" b="0" i="0">
                <a:solidFill>
                  <a:srgbClr val="333333"/>
                </a:solidFill>
                <a:latin typeface="Arial"/>
              </a:rPr>
              <a:t>identify where each commodity can be sourced at lower landed cost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333333"/>
                </a:solidFill>
                <a:latin typeface="Arial"/>
              </a:rPr>
              <a:t>•  Logistics, handling &amp; storage costs </a:t>
            </a:r>
            <a:r>
              <a:rPr sz="720" b="0" i="0">
                <a:solidFill>
                  <a:srgbClr val="333333"/>
                </a:solidFill>
                <a:latin typeface="Arial"/>
              </a:rPr>
              <a:t>are included in every sourcing recommendation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333333"/>
                </a:solidFill>
                <a:latin typeface="Arial"/>
              </a:rPr>
              <a:t>•  Quality grades &amp; shelf-life rules </a:t>
            </a:r>
            <a:r>
              <a:rPr sz="720" b="0" i="0">
                <a:solidFill>
                  <a:srgbClr val="333333"/>
                </a:solidFill>
                <a:latin typeface="Arial"/>
              </a:rPr>
              <a:t>are locked into the final buying plan</a:t>
            </a:r>
          </a:p>
        </p:txBody>
      </p:sp>
      <p:sp>
        <p:nvSpPr>
          <p:cNvPr id="18" name="Oval 17"/>
          <p:cNvSpPr/>
          <p:nvPr/>
        </p:nvSpPr>
        <p:spPr>
          <a:xfrm>
            <a:off x="3977639" y="2240280"/>
            <a:ext cx="1188720" cy="1188720"/>
          </a:xfrm>
          <a:prstGeom prst="ellipse">
            <a:avLst/>
          </a:prstGeom>
          <a:solidFill>
            <a:srgbClr val="EEF3F9"/>
          </a:solidFill>
          <a:ln w="13970">
            <a:solidFill>
              <a:srgbClr val="1B3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87368" y="1645920"/>
            <a:ext cx="969264" cy="512064"/>
          </a:xfrm>
          <a:prstGeom prst="roundRect">
            <a:avLst>
              <a:gd name="adj" fmla="val 30000"/>
            </a:avLst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8" y="1659636"/>
            <a:ext cx="96926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INGEST</a:t>
            </a:r>
          </a:p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FFFFFF"/>
                </a:solidFill>
                <a:latin typeface="Arial"/>
              </a:rPr>
              <a:t>live prices, weather,
attendance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74407" y="2290391"/>
            <a:ext cx="969264" cy="512064"/>
          </a:xfrm>
          <a:prstGeom prst="roundRect">
            <a:avLst>
              <a:gd name="adj" fmla="val 3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4407" y="2304107"/>
            <a:ext cx="96926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FORECAST</a:t>
            </a:r>
          </a:p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FFFFFF"/>
                </a:solidFill>
                <a:latin typeface="Arial"/>
              </a:rPr>
              <a:t>ingredient-level
demand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5588" y="3333168"/>
            <a:ext cx="969264" cy="512064"/>
          </a:xfrm>
          <a:prstGeom prst="roundRect">
            <a:avLst>
              <a:gd name="adj" fmla="val 30000"/>
            </a:avLst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5588" y="3346884"/>
            <a:ext cx="96926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OPTIMIZE</a:t>
            </a:r>
          </a:p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FFFFFF"/>
                </a:solidFill>
                <a:latin typeface="Arial"/>
              </a:rPr>
              <a:t>when &amp; where
to buy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39147" y="3333168"/>
            <a:ext cx="969264" cy="512064"/>
          </a:xfrm>
          <a:prstGeom prst="roundRect">
            <a:avLst>
              <a:gd name="adj" fmla="val 3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9147" y="3346884"/>
            <a:ext cx="96926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RECOMMEND</a:t>
            </a:r>
          </a:p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FFFFFF"/>
                </a:solidFill>
                <a:latin typeface="Arial"/>
              </a:rPr>
              <a:t>actionable
buying sheet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328" y="2290391"/>
            <a:ext cx="969264" cy="512064"/>
          </a:xfrm>
          <a:prstGeom prst="roundRect">
            <a:avLst>
              <a:gd name="adj" fmla="val 30000"/>
            </a:avLst>
          </a:prstGeom>
          <a:solidFill>
            <a:srgbClr val="A64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328" y="2304107"/>
            <a:ext cx="96926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LEARN</a:t>
            </a:r>
          </a:p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FFFFFF"/>
                </a:solidFill>
                <a:latin typeface="Arial"/>
              </a:rPr>
              <a:t>feedback trains
the model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09599" y="2034206"/>
            <a:ext cx="319334" cy="23201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315606" y="2908368"/>
            <a:ext cx="121975" cy="37540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374640" y="3680640"/>
            <a:ext cx="394719" cy="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706418" y="2908368"/>
            <a:ext cx="121975" cy="37540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15066" y="2034206"/>
            <a:ext cx="319334" cy="232010"/>
          </a:xfrm>
          <a:prstGeom prst="curvedConnector3">
            <a:avLst/>
          </a:prstGeom>
          <a:ln w="12700">
            <a:solidFill>
              <a:srgbClr val="727375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05072" y="2651760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B3E6E"/>
                </a:solidFill>
                <a:latin typeface="Arial"/>
              </a:rPr>
              <a:t>SELF-LEARNING
OPS LOOP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090672" y="2331720"/>
            <a:ext cx="27432" cy="365760"/>
          </a:xfrm>
          <a:prstGeom prst="curvedConnector3">
            <a:avLst/>
          </a:prstGeom>
          <a:ln w="13970">
            <a:solidFill>
              <a:srgbClr val="095F61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25896" y="2331720"/>
            <a:ext cx="27431" cy="365760"/>
          </a:xfrm>
          <a:prstGeom prst="curvedConnector3">
            <a:avLst/>
          </a:prstGeom>
          <a:ln w="13970">
            <a:solidFill>
              <a:srgbClr val="E08A1E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65760" y="4398264"/>
            <a:ext cx="54864" cy="182880"/>
          </a:xfrm>
          <a:prstGeom prst="rect">
            <a:avLst/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4370832"/>
            <a:ext cx="4837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3E6E"/>
                </a:solidFill>
                <a:latin typeface="Arial"/>
              </a:rPr>
              <a:t>Rice procurement cost — with vs. without GS funding ($M)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645152"/>
            <a:ext cx="4983480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365760" y="4700016"/>
          <a:ext cx="4983480" cy="12435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5577840" y="4370832"/>
            <a:ext cx="3200400" cy="1591056"/>
          </a:xfrm>
          <a:prstGeom prst="roundRect">
            <a:avLst>
              <a:gd name="adj" fmla="val 10000"/>
            </a:avLst>
          </a:prstGeom>
          <a:solidFill>
            <a:srgbClr val="39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79" y="4407408"/>
            <a:ext cx="3017520" cy="1517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CUMULATIVE 2026–29 IMPACT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~$10.1M saved  |  21.6% reduction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Arial"/>
              </a:rPr>
              <a:t>freed capital feeds more children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