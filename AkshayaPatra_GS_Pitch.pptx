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Meals/day (M)</c:v>
                </c:pt>
              </c:strCache>
            </c:strRef>
          </c:tx>
          <c:spPr>
            <a:ln w="28575">
              <a:solidFill>
                <a:srgbClr val="1B3E6E"/>
              </a:solidFill>
            </a:ln>
          </c:spPr>
          <c:cat>
            <c:strRef>
              <c:f>Sheet1!$A$2:$A$8</c:f>
              <c:strCache>
                <c:ptCount val="7"/>
                <c:pt idx="0">
                  <c:v>2000</c:v>
                </c:pt>
                <c:pt idx="1">
                  <c:v>2005</c:v>
                </c:pt>
                <c:pt idx="2">
                  <c:v>2010</c:v>
                </c:pt>
                <c:pt idx="3">
                  <c:v>2015</c:v>
                </c:pt>
                <c:pt idx="4">
                  <c:v>2020</c:v>
                </c:pt>
                <c:pt idx="5">
                  <c:v>2023</c:v>
                </c:pt>
                <c:pt idx="6">
                  <c:v>2026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0.001</c:v>
                </c:pt>
                <c:pt idx="1">
                  <c:v>0.33</c:v>
                </c:pt>
                <c:pt idx="2">
                  <c:v>1.2</c:v>
                </c:pt>
                <c:pt idx="3">
                  <c:v>1.44</c:v>
                </c:pt>
                <c:pt idx="4">
                  <c:v>1.8</c:v>
                </c:pt>
                <c:pt idx="5">
                  <c:v>2.0</c:v>
                </c:pt>
                <c:pt idx="6">
                  <c:v>2.3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75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75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700">
          <a:solidFill>
            <a:srgbClr val="33333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1B3E6E"/>
              </a:solidFill>
              <a:ln w="254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398025"/>
              </a:solidFill>
              <a:ln w="25400"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Solution 1 — $150k</c:v>
                </c:pt>
                <c:pt idx="1">
                  <c:v>Solution 2 — $100k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150</c:v>
                </c:pt>
                <c:pt idx="1">
                  <c:v>100</c:v>
                </c:pt>
              </c:numCache>
            </c:numRef>
          </c:val>
        </c:ser>
        <c:dLbls>
          <c:numFmt formatCode="&quot;$&quot;0&quot;k&quot;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spPr>
    <a:noFill/>
    <a:ln>
      <a:noFill/>
    </a:ln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Without GS funding</c:v>
                </c:pt>
              </c:strCache>
            </c:strRef>
          </c:tx>
          <c:spPr>
            <a:solidFill>
              <a:srgbClr val="E08A1E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10.8</c:v>
                </c:pt>
                <c:pt idx="1">
                  <c:v>11.4</c:v>
                </c:pt>
                <c:pt idx="2">
                  <c:v>12.0</c:v>
                </c:pt>
                <c:pt idx="3">
                  <c:v>12.6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GS funding</c:v>
                </c:pt>
              </c:strCache>
            </c:strRef>
          </c:tx>
          <c:spPr>
            <a:solidFill>
              <a:srgbClr val="398025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9.4</c:v>
                </c:pt>
                <c:pt idx="1">
                  <c:v>9.2</c:v>
                </c:pt>
                <c:pt idx="2">
                  <c:v>9.1</c:v>
                </c:pt>
                <c:pt idx="3">
                  <c:v>9.0</c:v>
                </c:pt>
              </c:numCache>
            </c:numRef>
          </c:val>
        </c:ser>
        <c:gapWidth val="8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7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numFmt formatCode="&quot;$&quot;0&quot;M&quot;" sourceLinked="0"/>
        <c:majorTickMark val="out"/>
        <c:minorTickMark val="none"/>
        <c:tickLblPos val="nextTo"/>
        <c:txPr>
          <a:bodyPr/>
          <a:lstStyle/>
          <a:p>
            <a:pPr>
              <a:defRPr sz="65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700"/>
          </a:pPr>
        </a:p>
      </c:txPr>
    </c:legend>
    <c:dispBlanksAs val="gap"/>
  </c:chart>
  <c:txPr>
    <a:bodyPr/>
    <a:lstStyle/>
    <a:p>
      <a:pPr>
        <a:defRPr sz="700">
          <a:solidFill>
            <a:srgbClr val="33333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398025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095F61"/>
              </a:solidFill>
              <a:ln w="127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1B3E6E"/>
              </a:solidFill>
              <a:ln w="1270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F3C43F"/>
              </a:solidFill>
              <a:ln w="12700"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727375"/>
              </a:solidFill>
              <a:ln w="12700">
                <a:solidFill>
                  <a:srgbClr val="FFFFFF"/>
                </a:solidFill>
              </a:ln>
            </c:spPr>
          </c:dPt>
          <c:cat>
            <c:strRef>
              <c:f>Sheet1!$A$2:$A$6</c:f>
              <c:strCache>
                <c:ptCount val="5"/>
                <c:pt idx="0">
                  <c:v>Routing sw $35k</c:v>
                </c:pt>
                <c:pt idx="1">
                  <c:v>Telematics $30k</c:v>
                </c:pt>
                <c:pt idx="2">
                  <c:v>Smart locks $20k</c:v>
                </c:pt>
                <c:pt idx="3">
                  <c:v>RFID $10k</c:v>
                </c:pt>
                <c:pt idx="4">
                  <c:v>Ops $5k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35</c:v>
                </c:pt>
                <c:pt idx="1">
                  <c:v>30</c:v>
                </c:pt>
                <c:pt idx="2">
                  <c:v>20</c:v>
                </c:pt>
                <c:pt idx="3">
                  <c:v>10</c:v>
                </c:pt>
                <c:pt idx="4">
                  <c:v>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750"/>
          </a:pPr>
        </a:p>
      </c:txPr>
    </c:legend>
    <c:plotVisOnly val="1"/>
    <c:dispBlanksAs val="gap"/>
    <c:showDLblsOverMax val="0"/>
  </c:chart>
  <c:txPr>
    <a:bodyPr/>
    <a:lstStyle/>
    <a:p>
      <a:pPr>
        <a:defRPr sz="800">
          <a:solidFill>
            <a:srgbClr val="333333"/>
          </a:solidFill>
          <a:latin typeface="Arial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$k/yr</c:v>
                </c:pt>
              </c:strCache>
            </c:strRef>
          </c:tx>
          <c:spPr>
            <a:solidFill>
              <a:srgbClr val="398025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Fuel</c:v>
                </c:pt>
                <c:pt idx="1">
                  <c:v>Vessels</c:v>
                </c:pt>
                <c:pt idx="2">
                  <c:v>Food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</c:v>
                </c:pt>
                <c:pt idx="1">
                  <c:v>20</c:v>
                </c:pt>
                <c:pt idx="2">
                  <c:v>15</c:v>
                </c:pt>
              </c:numCache>
            </c:numRef>
          </c:val>
        </c:ser>
        <c:dLbls>
          <c:txPr>
            <a:bodyPr/>
            <a:lstStyle/>
            <a:p>
              <a:pPr>
                <a:defRPr sz="750" b="1">
                  <a:solidFill>
                    <a:srgbClr val="1B3E6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7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680">
          <a:solidFill>
            <a:srgbClr val="33333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Who is The Akshaya Patra Foundation?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The world's largest NGO-run school meal programme — serving 2.3 million children every school day, so that hunger never interrupts education.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“No child shall be deprived of education because of hunger” — at a scale no other NGO matches.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98448"/>
            <a:ext cx="8412480" cy="73152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" y="1380744"/>
            <a:ext cx="896112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" y="1380744"/>
            <a:ext cx="78638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AKSHAYA PATRA
logo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1298448"/>
            <a:ext cx="716889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Over 1 in 3 children in India show signs of undernourishment</a:t>
            </a:r>
            <a:r>
              <a:rPr sz="800" b="0" i="0">
                <a:solidFill>
                  <a:srgbClr val="FFFFFF"/>
                </a:solidFill>
                <a:latin typeface="Arial"/>
              </a:rPr>
              <a:t> — and hunger is a leading reason children drop out of school. Founded in 2000 in Bengaluru with </a:t>
            </a:r>
            <a:r>
              <a:rPr sz="800" b="1" i="0">
                <a:solidFill>
                  <a:srgbClr val="FFFFFF"/>
                </a:solidFill>
                <a:latin typeface="Arial"/>
              </a:rPr>
              <a:t>1,500 children across 5 schools</a:t>
            </a:r>
            <a:r>
              <a:rPr sz="800" b="0" i="0">
                <a:solidFill>
                  <a:srgbClr val="FFFFFF"/>
                </a:solidFill>
                <a:latin typeface="Arial"/>
              </a:rPr>
              <a:t>, Akshaya Patra now runs the world's largest NGO-operated mid-day meal programme — a PPP with the Government of India that has served </a:t>
            </a:r>
            <a:r>
              <a:rPr sz="800" b="1" i="0">
                <a:solidFill>
                  <a:srgbClr val="FFFFFF"/>
                </a:solidFill>
                <a:latin typeface="Arial"/>
              </a:rPr>
              <a:t>4+ billion cumulative meals.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61688" y="2212848"/>
            <a:ext cx="10972" cy="368503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203703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176272"/>
            <a:ext cx="3895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Who they are &amp; why we chose them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450591"/>
            <a:ext cx="4041648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542032"/>
            <a:ext cx="4041648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Mission: </a:t>
            </a:r>
            <a:r>
              <a:rPr sz="800" b="0" i="0">
                <a:solidFill>
                  <a:srgbClr val="333333"/>
                </a:solidFill>
                <a:latin typeface="Arial"/>
              </a:rPr>
              <a:t>eliminate classroom hunger by implementing the Mid-Day Meal Scheme in government schools while fighting child malnutrition across India.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Why Akshaya Patra: </a:t>
            </a:r>
            <a:r>
              <a:rPr sz="800" b="0" i="0">
                <a:solidFill>
                  <a:srgbClr val="333333"/>
                </a:solidFill>
                <a:latin typeface="Arial"/>
              </a:rPr>
              <a:t>our on-ground kitchen inspections and supply-chain review found world-class production — and </a:t>
            </a:r>
            <a:r>
              <a:rPr sz="800" b="1" i="0">
                <a:solidFill>
                  <a:srgbClr val="333333"/>
                </a:solidFill>
                <a:latin typeface="Arial"/>
              </a:rPr>
              <a:t>two clearly identified, fixable gaps</a:t>
            </a:r>
            <a:r>
              <a:rPr sz="800" b="0" i="0">
                <a:solidFill>
                  <a:srgbClr val="333333"/>
                </a:solidFill>
                <a:latin typeface="Arial"/>
              </a:rPr>
              <a:t> where $250k unlocks compounding, year-on-year impact rather than one-off sustenance.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98025"/>
                </a:solidFill>
                <a:latin typeface="Arial"/>
              </a:rPr>
              <a:t>✓ 25+ yrs of proven delivery   ✓ Govt-audited PPP   ✓ Tech-forward leadership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977640"/>
            <a:ext cx="54864" cy="182880"/>
          </a:xfrm>
          <a:prstGeom prst="rect">
            <a:avLst/>
          </a:prstGeom>
          <a:solidFill>
            <a:srgbClr val="7297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950208"/>
            <a:ext cx="3895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journey — daily meals served (millions)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224528"/>
            <a:ext cx="4041648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365760" y="4334256"/>
          <a:ext cx="4041648" cy="12984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365760" y="5687568"/>
            <a:ext cx="4041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333333"/>
                </a:solidFill>
                <a:latin typeface="Arial"/>
              </a:rPr>
              <a:t>2012: </a:t>
            </a:r>
            <a:r>
              <a:rPr sz="680" b="0" i="0">
                <a:solidFill>
                  <a:srgbClr val="333333"/>
                </a:solidFill>
                <a:latin typeface="Arial"/>
              </a:rPr>
              <a:t>1 billionth meal   ·   </a:t>
            </a:r>
            <a:r>
              <a:rPr sz="680" b="1" i="0">
                <a:solidFill>
                  <a:srgbClr val="333333"/>
                </a:solidFill>
                <a:latin typeface="Arial"/>
              </a:rPr>
              <a:t>2019: </a:t>
            </a:r>
            <a:r>
              <a:rPr sz="680" b="0" i="0">
                <a:solidFill>
                  <a:srgbClr val="333333"/>
                </a:solidFill>
                <a:latin typeface="Arial"/>
              </a:rPr>
              <a:t>3 billionth served by Hon'ble PM   ·   </a:t>
            </a:r>
            <a:r>
              <a:rPr sz="680" b="1" i="0">
                <a:solidFill>
                  <a:srgbClr val="333333"/>
                </a:solidFill>
                <a:latin typeface="Arial"/>
              </a:rPr>
              <a:t>2024: </a:t>
            </a:r>
            <a:r>
              <a:rPr sz="680" b="0" i="0">
                <a:solidFill>
                  <a:srgbClr val="333333"/>
                </a:solidFill>
                <a:latin typeface="Arial"/>
              </a:rPr>
              <a:t>4 billion meals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90288" y="2203703"/>
            <a:ext cx="54864" cy="18288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36592" y="2176272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What they do — the hub-and-spoke model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90288" y="2450591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90288" y="2542032"/>
            <a:ext cx="4187952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Centralised mega-kitchens </a:t>
            </a:r>
            <a:r>
              <a:rPr sz="780" b="0" i="0">
                <a:solidFill>
                  <a:srgbClr val="333333"/>
                </a:solidFill>
                <a:latin typeface="Arial"/>
              </a:rPr>
              <a:t>cook up to 100,000 meals each before 6 AM daily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Hub-and-spoke delivery </a:t>
            </a:r>
            <a:r>
              <a:rPr sz="780" b="0" i="0">
                <a:solidFill>
                  <a:srgbClr val="333333"/>
                </a:solidFill>
                <a:latin typeface="Arial"/>
              </a:rPr>
              <a:t>of hot, locally-adapted menus to school doorsteps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PPP funding </a:t>
            </a:r>
            <a:r>
              <a:rPr sz="780" b="0" i="0">
                <a:solidFill>
                  <a:srgbClr val="333333"/>
                </a:solidFill>
                <a:latin typeface="Arial"/>
              </a:rPr>
              <a:t>— govt subsidies + philanthropy; every $ leveraged ~3x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Beyond food: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scholarships, anganwadi feeding, disaster-relief kitchens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90288" y="3630168"/>
            <a:ext cx="54864" cy="18288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36592" y="3602736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Scale at a glance (FY26)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90288" y="3877056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90288" y="3986783"/>
            <a:ext cx="104698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B3E6E"/>
                </a:solidFill>
                <a:latin typeface="Arial"/>
              </a:rPr>
              <a:t>2.3M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meals served
every day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37275" y="3986783"/>
            <a:ext cx="104698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B3E6E"/>
                </a:solidFill>
                <a:latin typeface="Arial"/>
              </a:rPr>
              <a:t>68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mega-kitchens
across India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84264" y="3986783"/>
            <a:ext cx="104698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B3E6E"/>
                </a:solidFill>
                <a:latin typeface="Arial"/>
              </a:rPr>
              <a:t>16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states &amp;
2 UTs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31252" y="3986783"/>
            <a:ext cx="104698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B3E6E"/>
                </a:solidFill>
                <a:latin typeface="Arial"/>
              </a:rPr>
              <a:t>24,000+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govt schools
served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90288" y="4709160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36592" y="4681728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Aligned to UN SDGs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90288" y="4956048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90288" y="5084064"/>
            <a:ext cx="585216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45151" y="5084064"/>
            <a:ext cx="475488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SDG 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Zero Hunger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48655" y="5084064"/>
            <a:ext cx="585216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19" y="5084064"/>
            <a:ext cx="475488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SDG 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Quality Educ.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07023" y="5084064"/>
            <a:ext cx="585216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61887" y="5084064"/>
            <a:ext cx="475488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SDG 17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Partners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75119" y="5084064"/>
            <a:ext cx="210312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29983" y="5084064"/>
            <a:ext cx="1993392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📷 PHOTO: children at mid-day meal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A world-class supply chain — with two blind spots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We walked their kitchens, interviewed staff and mapped the end-to-end flow: production is best-in-class; the gaps sit at the first and last mile.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A Formula-1 production line — fed by guesswork, delivered on hand-drawn maps. That is where we intervene.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8412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727375"/>
                </a:solidFill>
                <a:latin typeface="Arial"/>
              </a:rPr>
              <a:t>Our diligence: 2 kitchen visits  •  12 staff interviews  •  procurement &amp; route data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591056"/>
            <a:ext cx="2743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398025"/>
                </a:solidFill>
                <a:latin typeface="Arial"/>
              </a:rPr>
              <a:t>✓ Audited &amp; certified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FSSAI-licensed, ISO 22000-certified kitchens; govt &amp; third-party audits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1591056"/>
            <a:ext cx="2743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398025"/>
                </a:solidFill>
                <a:latin typeface="Arial"/>
              </a:rPr>
              <a:t>✓ Global recognition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UK PM Rishi Sunak toured the Bengaluru kitchen — praised hygiene &amp; automation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591056"/>
            <a:ext cx="26517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398025"/>
                </a:solidFill>
                <a:latin typeface="Arial"/>
              </a:rPr>
              <a:t>✓ Our on-ground audit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Gravity-flow cooking, 2-hr batch cycles, near-zero contamination risk</a:t>
            </a:r>
          </a:p>
        </p:txBody>
      </p:sp>
      <p:sp>
        <p:nvSpPr>
          <p:cNvPr id="13" name="Chevron 12"/>
          <p:cNvSpPr/>
          <p:nvPr/>
        </p:nvSpPr>
        <p:spPr>
          <a:xfrm>
            <a:off x="365760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FBECEA"/>
          </a:solidFill>
          <a:ln w="19050">
            <a:solidFill>
              <a:srgbClr val="C223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C22310"/>
                </a:solidFill>
                <a:latin typeface="Arial"/>
              </a:rPr>
              <a:t>PROCUREMENT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Grains, dairy
from mandis</a:t>
            </a:r>
          </a:p>
        </p:txBody>
      </p:sp>
      <p:sp>
        <p:nvSpPr>
          <p:cNvPr id="15" name="Chevron 14"/>
          <p:cNvSpPr/>
          <p:nvPr/>
        </p:nvSpPr>
        <p:spPr>
          <a:xfrm>
            <a:off x="1773936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56816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STORAGE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Silos, cold
rooms; FIFO</a:t>
            </a:r>
          </a:p>
        </p:txBody>
      </p:sp>
      <p:sp>
        <p:nvSpPr>
          <p:cNvPr id="17" name="Chevron 16"/>
          <p:cNvSpPr/>
          <p:nvPr/>
        </p:nvSpPr>
        <p:spPr>
          <a:xfrm>
            <a:off x="3182112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64992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PREPROCESS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Auto roti lines,
veg prep</a:t>
            </a:r>
          </a:p>
        </p:txBody>
      </p:sp>
      <p:sp>
        <p:nvSpPr>
          <p:cNvPr id="19" name="Chevron 18"/>
          <p:cNvSpPr/>
          <p:nvPr/>
        </p:nvSpPr>
        <p:spPr>
          <a:xfrm>
            <a:off x="4590288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COOKING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Steam cauldrons;
100k by 6 AM</a:t>
            </a:r>
          </a:p>
        </p:txBody>
      </p:sp>
      <p:sp>
        <p:nvSpPr>
          <p:cNvPr id="21" name="Chevron 20"/>
          <p:cNvSpPr/>
          <p:nvPr/>
        </p:nvSpPr>
        <p:spPr>
          <a:xfrm>
            <a:off x="5998464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81344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QC &amp;
PACKING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Lab-tested;
sealed vessels</a:t>
            </a:r>
          </a:p>
        </p:txBody>
      </p:sp>
      <p:sp>
        <p:nvSpPr>
          <p:cNvPr id="23" name="Chevron 22"/>
          <p:cNvSpPr/>
          <p:nvPr/>
        </p:nvSpPr>
        <p:spPr>
          <a:xfrm>
            <a:off x="7406640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FBECEA"/>
          </a:solidFill>
          <a:ln w="19050">
            <a:solidFill>
              <a:srgbClr val="C223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9519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C22310"/>
                </a:solidFill>
                <a:latin typeface="Arial"/>
              </a:rPr>
              <a:t>DISTRIBUTION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Van fleet to
schools by lunch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023360" y="2212848"/>
            <a:ext cx="457200" cy="237744"/>
          </a:xfrm>
          <a:prstGeom prst="curvedConnector3">
            <a:avLst/>
          </a:prstGeom>
          <a:ln w="12700">
            <a:solidFill>
              <a:srgbClr val="39802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6583680" y="2212848"/>
            <a:ext cx="365760" cy="237744"/>
          </a:xfrm>
          <a:prstGeom prst="curvedConnector3">
            <a:avLst/>
          </a:prstGeom>
          <a:ln w="12700">
            <a:solidFill>
              <a:srgbClr val="39802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65760" y="3456432"/>
            <a:ext cx="8412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98025"/>
                </a:solidFill>
                <a:latin typeface="Arial"/>
              </a:rPr>
              <a:t>Steps 2–5 are best-in-class </a:t>
            </a:r>
            <a:r>
              <a:rPr sz="850" b="0" i="0">
                <a:solidFill>
                  <a:srgbClr val="727375"/>
                </a:solidFill>
                <a:latin typeface="Arial"/>
              </a:rPr>
              <a:t>— automated, audited, built to scale. No intervention needed.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023360"/>
            <a:ext cx="4114800" cy="1664208"/>
          </a:xfrm>
          <a:prstGeom prst="rect">
            <a:avLst/>
          </a:prstGeom>
          <a:solidFill>
            <a:srgbClr val="FFFFFF"/>
          </a:solidFill>
          <a:ln w="15875">
            <a:solidFill>
              <a:srgbClr val="C223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4023360"/>
            <a:ext cx="4114800" cy="292608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4064508"/>
            <a:ext cx="38953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GAP 1 — PROCUREMENT: no demand forecasting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" y="4407408"/>
            <a:ext cx="385876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Manual estimates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no view of school-level attendance, holidays or menu uptake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~8–10% over-production</a:t>
            </a:r>
            <a:r>
              <a:rPr sz="750" b="0" i="0">
                <a:solidFill>
                  <a:srgbClr val="333333"/>
                </a:solidFill>
                <a:latin typeface="Arial"/>
              </a:rPr>
              <a:t> wasted on low-attendance days [dummy]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Reactive spot-buying</a:t>
            </a:r>
            <a:r>
              <a:rPr sz="750" b="0" i="0">
                <a:solidFill>
                  <a:srgbClr val="333333"/>
                </a:solidFill>
                <a:latin typeface="Arial"/>
              </a:rPr>
              <a:t> at mandi peak prices — up to 12% above plan [dummy]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No price intelligence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cheapest forward-buying windows are missed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Result: </a:t>
            </a:r>
            <a:r>
              <a:rPr sz="750" b="0" i="0">
                <a:solidFill>
                  <a:srgbClr val="333333"/>
                </a:solidFill>
                <a:latin typeface="Arial"/>
              </a:rPr>
              <a:t>higher cost per meal → fewer children fed per donor $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→ addressed by Solution 1 ($150k)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63440" y="4023360"/>
            <a:ext cx="4114800" cy="1664208"/>
          </a:xfrm>
          <a:prstGeom prst="rect">
            <a:avLst/>
          </a:prstGeom>
          <a:solidFill>
            <a:srgbClr val="FFFFFF"/>
          </a:solidFill>
          <a:ln w="15875">
            <a:solidFill>
              <a:srgbClr val="C223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663440" y="4023360"/>
            <a:ext cx="4114800" cy="292608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73168" y="4064508"/>
            <a:ext cx="38953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GAP 2 — DISTRIBUTION: no route intelligence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91456" y="4407408"/>
            <a:ext cx="385876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Static, driver-memory routes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15–30 min past the lunch bell means children stay hungry all day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No telematics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vessels &amp; utensils untracked; losses recur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Adulteration / diversion risk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unsealed vans can be offloaded at roadside dhabas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No proof-of-delivery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school shortfall disputes unresolved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Result: </a:t>
            </a:r>
            <a:r>
              <a:rPr sz="750" b="0" i="0">
                <a:solidFill>
                  <a:srgbClr val="333333"/>
                </a:solidFill>
                <a:latin typeface="Arial"/>
              </a:rPr>
              <a:t>missed lunch windows, fuel burn, shrinkage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→ addressed by Solution 2 ($100k)</a:t>
            </a:r>
          </a:p>
        </p:txBody>
      </p:sp>
      <p:cxnSp>
        <p:nvCxnSpPr>
          <p:cNvPr id="36" name="Connector 35"/>
          <p:cNvCxnSpPr/>
          <p:nvPr/>
        </p:nvCxnSpPr>
        <p:spPr>
          <a:xfrm flipH="1" flipV="1">
            <a:off x="1051560" y="3410712"/>
            <a:ext cx="45720" cy="612648"/>
          </a:xfrm>
          <a:prstGeom prst="curvedConnector3">
            <a:avLst/>
          </a:prstGeom>
          <a:ln w="15875">
            <a:solidFill>
              <a:srgbClr val="C22310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 flipV="1">
            <a:off x="8092440" y="3410712"/>
            <a:ext cx="137160" cy="612648"/>
          </a:xfrm>
          <a:prstGeom prst="curvedConnector3">
            <a:avLst/>
          </a:prstGeom>
          <a:ln w="15875">
            <a:solidFill>
              <a:srgbClr val="C22310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The two gaps — and the $250,000 that closes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The gaps highlighted in the supply chain, the grant that closes them, and the solution we build for each — all in one view.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Two fixable gaps, two targeted builds — $250k of capital becomes $310k of savings, every year.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35024"/>
            <a:ext cx="4133087" cy="2249424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3675887"/>
            <a:ext cx="4133087" cy="2231136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45152" y="1335024"/>
            <a:ext cx="4133087" cy="2249424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45152" y="3675887"/>
            <a:ext cx="4133087" cy="2231136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472184"/>
            <a:ext cx="54864" cy="182880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444752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GAP 1 — Procurement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1792224"/>
            <a:ext cx="27889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333333"/>
                </a:solidFill>
                <a:latin typeface="Arial"/>
              </a:rPr>
              <a:t>•  Manual, gut-feel indenting</a:t>
            </a:r>
            <a:r>
              <a:rPr sz="800" b="0" i="0">
                <a:solidFill>
                  <a:srgbClr val="333333"/>
                </a:solidFill>
                <a:latin typeface="Arial"/>
              </a:rPr>
              <a:t> — blind to attendance swings, exams &amp; holidays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333333"/>
                </a:solidFill>
                <a:latin typeface="Arial"/>
              </a:rPr>
              <a:t>•  Reactive spot-buying</a:t>
            </a:r>
            <a:r>
              <a:rPr sz="800" b="0" i="0">
                <a:solidFill>
                  <a:srgbClr val="333333"/>
                </a:solidFill>
                <a:latin typeface="Arial"/>
              </a:rPr>
              <a:t> at mandi peak prices; no price intelligence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333333"/>
                </a:solidFill>
                <a:latin typeface="Arial"/>
              </a:rPr>
              <a:t>•  No feedback loop</a:t>
            </a:r>
            <a:r>
              <a:rPr sz="800" b="0" i="0">
                <a:solidFill>
                  <a:srgbClr val="333333"/>
                </a:solidFill>
                <a:latin typeface="Arial"/>
              </a:rPr>
              <a:t> from schools on actual meal uptake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22310"/>
                </a:solidFill>
                <a:latin typeface="Arial"/>
              </a:rPr>
              <a:t>Cost today:  8–10% meals over-produced · +12% spot premium [dummy]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33872" y="1472184"/>
            <a:ext cx="54864" cy="182880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71032" y="1444752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GAP 2 — Distribution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0" y="1792224"/>
            <a:ext cx="27889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333333"/>
                </a:solidFill>
                <a:latin typeface="Arial"/>
              </a:rPr>
              <a:t>•  Static, driver-memory routes</a:t>
            </a:r>
            <a:r>
              <a:rPr sz="800" b="0" i="0">
                <a:solidFill>
                  <a:srgbClr val="333333"/>
                </a:solidFill>
                <a:latin typeface="Arial"/>
              </a:rPr>
              <a:t> — late vans mean children stay hungry all day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333333"/>
                </a:solidFill>
                <a:latin typeface="Arial"/>
              </a:rPr>
              <a:t>•  Untracked vessels &amp; utensils</a:t>
            </a:r>
            <a:r>
              <a:rPr sz="800" b="0" i="0">
                <a:solidFill>
                  <a:srgbClr val="333333"/>
                </a:solidFill>
                <a:latin typeface="Arial"/>
              </a:rPr>
              <a:t>; adulteration &amp; diversion risk en route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333333"/>
                </a:solidFill>
                <a:latin typeface="Arial"/>
              </a:rPr>
              <a:t>•  No proof-of-delivery</a:t>
            </a:r>
            <a:r>
              <a:rPr sz="800" b="0" i="0">
                <a:solidFill>
                  <a:srgbClr val="333333"/>
                </a:solidFill>
                <a:latin typeface="Arial"/>
              </a:rPr>
              <a:t> — school shortfall disputes go unresolved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22310"/>
                </a:solidFill>
                <a:latin typeface="Arial"/>
              </a:rPr>
              <a:t>Cost today:  6.2% miss the lunch window · $35k/yr shrinkage [dummy]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813048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785615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SOLUTION 1 — “Annapurna AI” · $150k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4133087"/>
            <a:ext cx="27889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What: </a:t>
            </a:r>
            <a:r>
              <a:rPr sz="800" b="0" i="0">
                <a:solidFill>
                  <a:srgbClr val="333333"/>
                </a:solidFill>
                <a:latin typeface="Arial"/>
              </a:rPr>
              <a:t>ML demand-forecasting &amp; procurement planning across all 68 kitchens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How: </a:t>
            </a:r>
            <a:r>
              <a:rPr sz="800" b="0" i="0">
                <a:solidFill>
                  <a:srgbClr val="333333"/>
                </a:solidFill>
                <a:latin typeface="Arial"/>
              </a:rPr>
              <a:t>predicts school-level attendance; auto-generates daily indents &amp; forward buying schedules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727375"/>
                </a:solidFill>
                <a:latin typeface="Arial"/>
              </a:rPr>
              <a:t>Rollout: </a:t>
            </a:r>
            <a:r>
              <a:rPr sz="780" b="0" i="0">
                <a:solidFill>
                  <a:srgbClr val="727375"/>
                </a:solidFill>
                <a:latin typeface="Arial"/>
              </a:rPr>
              <a:t>3-kitchen pilot (Mo 1–4) → all 68 kitchens by Mo 12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19" b="1" i="0">
                <a:solidFill>
                  <a:srgbClr val="398025"/>
                </a:solidFill>
                <a:latin typeface="Arial"/>
              </a:rPr>
              <a:t>→  ~70% less food waste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98025"/>
                </a:solidFill>
                <a:latin typeface="Arial"/>
              </a:rPr>
              <a:t>→  est. $230k saved / yr [dummy]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33872" y="3813048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71032" y="3785615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SOLUTION 2 — “Last-Mile Shield” · $100k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4133087"/>
            <a:ext cx="27889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What: </a:t>
            </a:r>
            <a:r>
              <a:rPr sz="800" b="0" i="0">
                <a:solidFill>
                  <a:srgbClr val="333333"/>
                </a:solidFill>
                <a:latin typeface="Arial"/>
              </a:rPr>
              <a:t>AI route optimisation + telematics (GPS, cameras, RFID) + geofenced smart locks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How: </a:t>
            </a:r>
            <a:r>
              <a:rPr sz="800" b="0" i="0">
                <a:solidFill>
                  <a:srgbClr val="333333"/>
                </a:solidFill>
                <a:latin typeface="Arial"/>
              </a:rPr>
              <a:t>drops sequenced to each school's lunch bell; doors unlock only near a registered school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727375"/>
                </a:solidFill>
                <a:latin typeface="Arial"/>
              </a:rPr>
              <a:t>Bonus: </a:t>
            </a:r>
            <a:r>
              <a:rPr sz="780" b="0" i="0">
                <a:solidFill>
                  <a:srgbClr val="727375"/>
                </a:solidFill>
                <a:latin typeface="Arial"/>
              </a:rPr>
              <a:t>3 vans freed per hub redeployed to reach new schools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819" b="1" i="0">
                <a:solidFill>
                  <a:srgbClr val="398025"/>
                </a:solidFill>
                <a:latin typeface="Arial"/>
              </a:rPr>
              <a:t>→  99%+ on-time · −18% fleet km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98025"/>
                </a:solidFill>
                <a:latin typeface="Arial"/>
              </a:rPr>
              <a:t>→  est. $80k saved / yr [dummy]</a:t>
            </a:r>
          </a:p>
        </p:txBody>
      </p:sp>
      <p:sp>
        <p:nvSpPr>
          <p:cNvPr id="25" name="Oval 24"/>
          <p:cNvSpPr/>
          <p:nvPr/>
        </p:nvSpPr>
        <p:spPr>
          <a:xfrm>
            <a:off x="3337560" y="2386584"/>
            <a:ext cx="2468880" cy="2468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3406140" y="2455164"/>
          <a:ext cx="2331720" cy="2331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3520440" y="4837176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20440" y="4860036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B3E6E"/>
                </a:solidFill>
                <a:latin typeface="Arial"/>
              </a:rPr>
              <a:t>THE $250k GRANT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1">
                <a:solidFill>
                  <a:srgbClr val="727375"/>
                </a:solidFill>
                <a:latin typeface="Arial"/>
              </a:rPr>
              <a:t>60 / 40 — weighted to the costlier gap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Solution 1 — the AI-enabled planning &amp; procurement build ($150k)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Connecting real-time demand signals to kitchen production and procurement — the technology that closes Gap 1.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“Feeding more children with the same rupee” — AI plus GS capital makes it possible.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35024"/>
            <a:ext cx="4133087" cy="1517904"/>
          </a:xfrm>
          <a:prstGeom prst="rect">
            <a:avLst/>
          </a:prstGeom>
          <a:solidFill>
            <a:srgbClr val="FFFFFF"/>
          </a:solidFill>
          <a:ln w="1143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335024"/>
            <a:ext cx="4133087" cy="274320"/>
          </a:xfrm>
          <a:prstGeom prst="rect">
            <a:avLst/>
          </a:prstGeom>
          <a:solidFill>
            <a:srgbClr val="09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1362456"/>
            <a:ext cx="39136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PILLAR 1 — Predictive Demand Forecasting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5152" y="1335024"/>
            <a:ext cx="4133087" cy="1517904"/>
          </a:xfrm>
          <a:prstGeom prst="rect">
            <a:avLst/>
          </a:prstGeom>
          <a:solidFill>
            <a:srgbClr val="FFFFFF"/>
          </a:solidFill>
          <a:ln w="1143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45152" y="1335024"/>
            <a:ext cx="4133087" cy="27432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1362456"/>
            <a:ext cx="39136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PILLAR 2 — Spatial-Temporal Procurement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" y="1700784"/>
            <a:ext cx="38770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1">
                <a:solidFill>
                  <a:srgbClr val="727375"/>
                </a:solidFill>
                <a:latin typeface="Arial"/>
              </a:rPr>
              <a:t>Predicts exact meal &amp; ingredient needs per centre by ingesting: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Attendance &amp; enrolment trends </a:t>
            </a:r>
            <a:r>
              <a:rPr sz="750" b="0" i="0">
                <a:solidFill>
                  <a:srgbClr val="333333"/>
                </a:solidFill>
                <a:latin typeface="Arial"/>
              </a:rPr>
              <a:t>estimate how many meals each centre should prepare daily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Holiday calendars </a:t>
            </a:r>
            <a:r>
              <a:rPr sz="750" b="0" i="0">
                <a:solidFill>
                  <a:srgbClr val="333333"/>
                </a:solidFill>
                <a:latin typeface="Arial"/>
              </a:rPr>
              <a:t>capture local demand spikes or dips before production quantities are finalised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Menu consumption history </a:t>
            </a:r>
            <a:r>
              <a:rPr sz="750" b="0" i="0">
                <a:solidFill>
                  <a:srgbClr val="333333"/>
                </a:solidFill>
                <a:latin typeface="Arial"/>
              </a:rPr>
              <a:t>converts expected meals into ingredient quantities for key staples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Weather signals &amp; feedback </a:t>
            </a:r>
            <a:r>
              <a:rPr sz="750" b="0" i="0">
                <a:solidFill>
                  <a:srgbClr val="333333"/>
                </a:solidFill>
                <a:latin typeface="Arial"/>
              </a:rPr>
              <a:t>continuously refine the next centre-level forecast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3168" y="1700784"/>
            <a:ext cx="38770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1">
                <a:solidFill>
                  <a:srgbClr val="727375"/>
                </a:solidFill>
                <a:latin typeface="Arial"/>
              </a:rPr>
              <a:t>Decides when and where to buy each commodity to minimise total landed cost: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Seasonal price troughs </a:t>
            </a:r>
            <a:r>
              <a:rPr sz="750" b="0" i="0">
                <a:solidFill>
                  <a:srgbClr val="333333"/>
                </a:solidFill>
                <a:latin typeface="Arial"/>
              </a:rPr>
              <a:t>identify when each commodity should be bought before prices rise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Surplus-region signals </a:t>
            </a:r>
            <a:r>
              <a:rPr sz="750" b="0" i="0">
                <a:solidFill>
                  <a:srgbClr val="333333"/>
                </a:solidFill>
                <a:latin typeface="Arial"/>
              </a:rPr>
              <a:t>identify where each commodity can be sourced at lower landed cost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Logistics, handling &amp; storage costs </a:t>
            </a:r>
            <a:r>
              <a:rPr sz="750" b="0" i="0">
                <a:solidFill>
                  <a:srgbClr val="333333"/>
                </a:solidFill>
                <a:latin typeface="Arial"/>
              </a:rPr>
              <a:t>are included in every sourcing recommendation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Quality grades &amp; shelf-life rules </a:t>
            </a:r>
            <a:r>
              <a:rPr sz="750" b="0" i="0">
                <a:solidFill>
                  <a:srgbClr val="333333"/>
                </a:solidFill>
                <a:latin typeface="Arial"/>
              </a:rPr>
              <a:t>are locked into the final buying plan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044951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" y="3017520"/>
            <a:ext cx="398678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3E6E"/>
                </a:solidFill>
                <a:latin typeface="Arial"/>
              </a:rPr>
              <a:t>The self-learning operations loop — sharper every day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291839"/>
            <a:ext cx="4133087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975103" y="3785615"/>
            <a:ext cx="914400" cy="347472"/>
          </a:xfrm>
          <a:prstGeom prst="roundRect">
            <a:avLst>
              <a:gd name="adj" fmla="val 30000"/>
            </a:avLst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75103" y="3803904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rial"/>
              </a:rPr>
              <a:t>1 · INGEST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37943" y="343814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27375"/>
                </a:solidFill>
                <a:latin typeface="Arial"/>
              </a:rPr>
              <a:t>pulls live prices,
weather &amp; attendance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70820" y="4291083"/>
            <a:ext cx="914400" cy="347472"/>
          </a:xfrm>
          <a:prstGeom prst="roundRect">
            <a:avLst>
              <a:gd name="adj" fmla="val 30000"/>
            </a:avLst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70820" y="4309371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rial"/>
              </a:rPr>
              <a:t>2 · FORECAST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33660" y="4711707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27375"/>
                </a:solidFill>
                <a:latin typeface="Arial"/>
              </a:rPr>
              <a:t>ingredient-level
demand per centre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405080" y="5108948"/>
            <a:ext cx="914400" cy="347472"/>
          </a:xfrm>
          <a:prstGeom prst="roundRect">
            <a:avLst>
              <a:gd name="adj" fmla="val 30000"/>
            </a:avLst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05080" y="5127236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rial"/>
              </a:rPr>
              <a:t>3 · OPTIMIZE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67920" y="552957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27375"/>
                </a:solidFill>
                <a:latin typeface="Arial"/>
              </a:rPr>
              <a:t>computes when &amp;
where to buy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545127" y="5108948"/>
            <a:ext cx="914400" cy="347472"/>
          </a:xfrm>
          <a:prstGeom prst="roundRect">
            <a:avLst>
              <a:gd name="adj" fmla="val 30000"/>
            </a:avLst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45127" y="5127236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rial"/>
              </a:rPr>
              <a:t>4 · RECOMMEND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07967" y="552957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27375"/>
                </a:solidFill>
                <a:latin typeface="Arial"/>
              </a:rPr>
              <a:t>actionable buying
sheet for kitchens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279387" y="4291083"/>
            <a:ext cx="914400" cy="347472"/>
          </a:xfrm>
          <a:prstGeom prst="roundRect">
            <a:avLst>
              <a:gd name="adj" fmla="val 30000"/>
            </a:avLst>
          </a:prstGeom>
          <a:solidFill>
            <a:srgbClr val="A64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79387" y="4309371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rial"/>
              </a:rPr>
              <a:t>5 · LEARN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2227" y="4711707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27375"/>
                </a:solidFill>
                <a:latin typeface="Arial"/>
              </a:rPr>
              <a:t>outcome feedback
trains the model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2717220" y="4064632"/>
            <a:ext cx="222629" cy="161749"/>
          </a:xfrm>
          <a:prstGeom prst="curvedConnector3">
            <a:avLst/>
          </a:prstGeom>
          <a:ln w="12700">
            <a:solidFill>
              <a:srgbClr val="72737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3030900" y="4768324"/>
            <a:ext cx="85037" cy="261717"/>
          </a:xfrm>
          <a:prstGeom prst="curvedConnector3">
            <a:avLst/>
          </a:prstGeom>
          <a:ln w="12700">
            <a:solidFill>
              <a:srgbClr val="72737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2294711" y="5364980"/>
            <a:ext cx="275185" cy="0"/>
          </a:xfrm>
          <a:prstGeom prst="curvedConnector3">
            <a:avLst/>
          </a:prstGeom>
          <a:ln w="12700">
            <a:solidFill>
              <a:srgbClr val="72737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 flipV="1">
            <a:off x="1748670" y="4768324"/>
            <a:ext cx="85037" cy="261717"/>
          </a:xfrm>
          <a:prstGeom prst="curvedConnector3">
            <a:avLst/>
          </a:prstGeom>
          <a:ln w="12700">
            <a:solidFill>
              <a:srgbClr val="72737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924758" y="4064632"/>
            <a:ext cx="222629" cy="161749"/>
          </a:xfrm>
          <a:prstGeom prst="curvedConnector3">
            <a:avLst/>
          </a:prstGeom>
          <a:ln w="12700">
            <a:solidFill>
              <a:srgbClr val="72737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929383" y="45994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1B3E6E"/>
                </a:solidFill>
                <a:latin typeface="Arial"/>
              </a:rPr>
              <a:t>↻  runs daily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45152" y="3044951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91456" y="3017520"/>
            <a:ext cx="398678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B3E6E"/>
                </a:solidFill>
                <a:latin typeface="Arial"/>
              </a:rPr>
              <a:t>Rice procurement cost — with vs. without GS funding ($M)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45152" y="3291839"/>
            <a:ext cx="4133087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4" name="Chart 43"/>
          <p:cNvGraphicFramePr>
            <a:graphicFrameLocks noGrp="1"/>
          </p:cNvGraphicFramePr>
          <p:nvPr/>
        </p:nvGraphicFramePr>
        <p:xfrm>
          <a:off x="4645152" y="3364991"/>
          <a:ext cx="4133087" cy="1783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5" name="Rounded Rectangle 44"/>
          <p:cNvSpPr/>
          <p:nvPr/>
        </p:nvSpPr>
        <p:spPr>
          <a:xfrm>
            <a:off x="4645152" y="5212079"/>
            <a:ext cx="4133087" cy="621792"/>
          </a:xfrm>
          <a:prstGeom prst="roundRect">
            <a:avLst>
              <a:gd name="adj" fmla="val 10000"/>
            </a:avLst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36592" y="5248656"/>
            <a:ext cx="39502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00" b="1" i="0">
                <a:solidFill>
                  <a:srgbClr val="FFFFFF"/>
                </a:solidFill>
                <a:latin typeface="Arial"/>
              </a:rPr>
              <a:t>CUMULATIVE 2026–29 IMPACT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~$10.1M saved  |  21.6% reduction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FFFFFF"/>
                </a:solidFill>
                <a:latin typeface="Arial"/>
              </a:rPr>
              <a:t>freed capital feeds more children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Solution 2 — “Last-Mile Shield”: on time, intact, untouched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$100k puts every van on an intelligent route and seals the last mile with telematics and geofenced locks — diversion becomes physically impossible.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Every meal arrives on time, intact and untouched — by design, not by luck.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80744"/>
            <a:ext cx="54864" cy="182880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" y="1353312"/>
            <a:ext cx="30083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problem today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627632"/>
            <a:ext cx="31546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719072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Missed lunch windows: </a:t>
            </a:r>
            <a:r>
              <a:rPr sz="760" b="0" i="0">
                <a:solidFill>
                  <a:srgbClr val="333333"/>
                </a:solidFill>
                <a:latin typeface="Arial"/>
              </a:rPr>
              <a:t>15–30 min late means children go hungry all day — non-negotiable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Static routes</a:t>
            </a:r>
            <a:r>
              <a:rPr sz="760" b="0" i="0">
                <a:solidFill>
                  <a:srgbClr val="333333"/>
                </a:solidFill>
                <a:latin typeface="Arial"/>
              </a:rPr>
              <a:t> from driver memory — no live traffic, no lunch-bell sequencing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Untracked vessels</a:t>
            </a:r>
            <a:r>
              <a:rPr sz="760" b="0" i="0">
                <a:solidFill>
                  <a:srgbClr val="333333"/>
                </a:solidFill>
                <a:latin typeface="Arial"/>
              </a:rPr>
              <a:t> leave daily with no tagging; losses recur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Open vans</a:t>
            </a:r>
            <a:r>
              <a:rPr sz="760" b="0" i="0">
                <a:solidFill>
                  <a:srgbClr val="333333"/>
                </a:solidFill>
                <a:latin typeface="Arial"/>
              </a:rPr>
              <a:t> — meals can be offloaded / adulterated at dhabas en route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017520"/>
            <a:ext cx="15773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C22310"/>
                </a:solidFill>
                <a:latin typeface="Arial"/>
              </a:rPr>
              <a:t>6.2%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deliveries miss the
lunch window [dummy]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43100" y="3017520"/>
            <a:ext cx="15773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C22310"/>
                </a:solidFill>
                <a:latin typeface="Arial"/>
              </a:rPr>
              <a:t>$35k/yr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vessel &amp; shrinkage
losses [dummy]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666744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639312"/>
            <a:ext cx="30083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3E6E"/>
                </a:solidFill>
                <a:latin typeface="Arial"/>
              </a:rPr>
              <a:t>Route redesign — 1 hub, 40 schools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913632"/>
            <a:ext cx="31546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4023359"/>
            <a:ext cx="3154680" cy="1234440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" y="4023359"/>
            <a:ext cx="3044952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🗺 MAP: before vs after routes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(insert optimised-route schematic; −18% km)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30352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398025"/>
                </a:solidFill>
                <a:latin typeface="Arial"/>
              </a:rPr>
              <a:t>3 vans freed per hub </a:t>
            </a:r>
            <a:r>
              <a:rPr sz="700" b="0" i="0">
                <a:solidFill>
                  <a:srgbClr val="333333"/>
                </a:solidFill>
                <a:latin typeface="Arial"/>
              </a:rPr>
              <a:t>→ redeployed to 12 new schools [dummy]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1417320"/>
            <a:ext cx="10972" cy="44805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94760" y="1380744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41064" y="1353312"/>
            <a:ext cx="48371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fix — three integrated layers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94760" y="1627632"/>
            <a:ext cx="4983479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794760" y="1755648"/>
            <a:ext cx="4983479" cy="713232"/>
          </a:xfrm>
          <a:prstGeom prst="roundRect">
            <a:avLst>
              <a:gd name="adj" fmla="val 7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04488" y="1810512"/>
            <a:ext cx="4764023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1 · ROUTE INTELLIGENCE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AI planner sequences every drop to each school's lunch bell • live traffic re-routing • delay alerts to school + kitchen 30 min ahead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94760" y="2523744"/>
            <a:ext cx="4983479" cy="713232"/>
          </a:xfrm>
          <a:prstGeom prst="roundRect">
            <a:avLst>
              <a:gd name="adj" fmla="val 7000"/>
            </a:avLst>
          </a:prstGeom>
          <a:solidFill>
            <a:srgbClr val="FDF6E0"/>
          </a:solidFill>
          <a:ln w="11430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04488" y="2578608"/>
            <a:ext cx="4764023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2 · VEHICLE TELEMATICS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GPS + in-van cameras on every vehicle • RFID tags on all vessels &amp; utensils • automated end-of-day reconciliation — zero missing inventory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94760" y="3291839"/>
            <a:ext cx="4983479" cy="713232"/>
          </a:xfrm>
          <a:prstGeom prst="roundRect">
            <a:avLst>
              <a:gd name="adj" fmla="val 7000"/>
            </a:avLst>
          </a:prstGeom>
          <a:solidFill>
            <a:srgbClr val="EAF3E6"/>
          </a:solidFill>
          <a:ln w="11430">
            <a:solidFill>
              <a:srgbClr val="398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04488" y="3346703"/>
            <a:ext cx="4764023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3 · GEOFENCED INTEGRITY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Smart-locked doors open only within 150 m of a registered school • real-time tamper alerts • en-route offloading &amp; adulteration made impossible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94760" y="4078223"/>
            <a:ext cx="49834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B3E6E"/>
                </a:solidFill>
                <a:latin typeface="Arial"/>
              </a:rPr>
              <a:t>After implementation:  </a:t>
            </a:r>
            <a:r>
              <a:rPr sz="819" b="1" i="0">
                <a:solidFill>
                  <a:srgbClr val="398025"/>
                </a:solidFill>
                <a:latin typeface="Arial"/>
              </a:rPr>
              <a:t>99.5% in lunch window   ·   −18% fleet km   ·   0 unaccounted vessels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94760" y="4361688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41064" y="4334256"/>
            <a:ext cx="23682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3E6E"/>
                </a:solidFill>
                <a:latin typeface="Arial"/>
              </a:rPr>
              <a:t>Where the $100k goes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94760" y="4608576"/>
            <a:ext cx="251460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5" name="Chart 34"/>
          <p:cNvGraphicFramePr>
            <a:graphicFrameLocks noGrp="1"/>
          </p:cNvGraphicFramePr>
          <p:nvPr/>
        </p:nvGraphicFramePr>
        <p:xfrm>
          <a:off x="3749040" y="4663440"/>
          <a:ext cx="2606040" cy="135331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6" name="Rectangle 35"/>
          <p:cNvSpPr/>
          <p:nvPr/>
        </p:nvSpPr>
        <p:spPr>
          <a:xfrm>
            <a:off x="6537960" y="4361688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84264" y="4334256"/>
            <a:ext cx="20939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3E6E"/>
                </a:solidFill>
                <a:latin typeface="Arial"/>
              </a:rPr>
              <a:t>Annual savings ($k)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37960" y="4608576"/>
            <a:ext cx="2240279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9" name="Chart 38"/>
          <p:cNvGraphicFramePr>
            <a:graphicFrameLocks noGrp="1"/>
          </p:cNvGraphicFramePr>
          <p:nvPr/>
        </p:nvGraphicFramePr>
        <p:xfrm>
          <a:off x="6492240" y="4700016"/>
          <a:ext cx="2331719" cy="117043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0" name="TextBox 39"/>
          <p:cNvSpPr txBox="1"/>
          <p:nvPr/>
        </p:nvSpPr>
        <p:spPr>
          <a:xfrm>
            <a:off x="6492240" y="5907024"/>
            <a:ext cx="23317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398025"/>
                </a:solidFill>
                <a:latin typeface="Arial"/>
              </a:rPr>
              <a:t>= $80k/yr + trust that is priceless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Conclusion — why Akshaya Patra, and why this proposal wins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A proven engine of social mobility, a grant that compounds instead of depletes, and a partnership only Goldman Sachs can power.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$250k that doesn't feed children for a year — it upgrades the engine that feeds them forever.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389888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B3E6E"/>
                </a:solidFill>
                <a:latin typeface="Arial"/>
              </a:rPr>
              <a:t>THE FUND &amp; ITS IMPACT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45920"/>
            <a:ext cx="2331720" cy="12801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792224"/>
            <a:ext cx="2331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1B3E6E"/>
                </a:solidFill>
                <a:latin typeface="Georgia"/>
              </a:rPr>
              <a:t>$250k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727375"/>
                </a:solidFill>
                <a:latin typeface="Arial"/>
              </a:rPr>
              <a:t>one-time grant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67512" y="2432304"/>
            <a:ext cx="0" cy="219456"/>
          </a:xfrm>
          <a:prstGeom prst="line">
            <a:avLst/>
          </a:prstGeom>
          <a:ln w="12700">
            <a:solidFill>
              <a:srgbClr val="BFBFBF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5760" y="2706624"/>
            <a:ext cx="2331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398025"/>
                </a:solidFill>
                <a:latin typeface="Georgia"/>
              </a:rPr>
              <a:t>$310k / yr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727375"/>
                </a:solidFill>
                <a:latin typeface="Arial"/>
              </a:rPr>
              <a:t>returned in audited savings — every single year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67512" y="3346704"/>
            <a:ext cx="0" cy="219456"/>
          </a:xfrm>
          <a:prstGeom prst="line">
            <a:avLst/>
          </a:prstGeom>
          <a:ln w="12700">
            <a:solidFill>
              <a:srgbClr val="BFBFBF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65760" y="3621024"/>
            <a:ext cx="2331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1B3E6E"/>
                </a:solidFill>
                <a:latin typeface="Georgia"/>
              </a:rPr>
              <a:t>+105,000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727375"/>
                </a:solidFill>
                <a:latin typeface="Arial"/>
              </a:rPr>
              <a:t>children fed per year at zero extra cost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7512" y="4261104"/>
            <a:ext cx="0" cy="219456"/>
          </a:xfrm>
          <a:prstGeom prst="line">
            <a:avLst/>
          </a:prstGeom>
          <a:ln w="12700">
            <a:solidFill>
              <a:srgbClr val="BFBFBF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65760" y="4535424"/>
            <a:ext cx="2331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E08A1E"/>
                </a:solidFill>
                <a:latin typeface="Georgia"/>
              </a:rPr>
              <a:t>&lt; 10 months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727375"/>
                </a:solidFill>
                <a:latin typeface="Arial"/>
              </a:rPr>
              <a:t>payback on the full grant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88920" y="1417320"/>
            <a:ext cx="10972" cy="342900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063240" y="1399032"/>
            <a:ext cx="54864" cy="18288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9544" y="1371600"/>
            <a:ext cx="55686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The partnership equation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63240" y="1645920"/>
            <a:ext cx="571500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009644" y="1755648"/>
            <a:ext cx="969264" cy="804672"/>
          </a:xfrm>
          <a:prstGeom prst="ellipse">
            <a:avLst/>
          </a:prstGeom>
          <a:solidFill>
            <a:srgbClr val="EEF3F9"/>
          </a:solidFill>
          <a:ln w="13970">
            <a:solidFill>
              <a:srgbClr val="1B3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09644" y="1856231"/>
            <a:ext cx="969264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B3E6E"/>
                </a:solidFill>
                <a:latin typeface="Arial"/>
              </a:rPr>
              <a:t>GS $250k
catalytic
capital</a:t>
            </a:r>
          </a:p>
        </p:txBody>
      </p:sp>
      <p:sp>
        <p:nvSpPr>
          <p:cNvPr id="24" name="Plus 23"/>
          <p:cNvSpPr/>
          <p:nvPr/>
        </p:nvSpPr>
        <p:spPr>
          <a:xfrm>
            <a:off x="5088636" y="2048255"/>
            <a:ext cx="237744" cy="219456"/>
          </a:xfrm>
          <a:prstGeom prst="mathPlus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36108" y="1755648"/>
            <a:ext cx="969264" cy="804672"/>
          </a:xfrm>
          <a:prstGeom prst="ellipse">
            <a:avLst/>
          </a:prstGeom>
          <a:solidFill>
            <a:srgbClr val="FDF6E0"/>
          </a:solidFill>
          <a:ln w="13970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36108" y="1856231"/>
            <a:ext cx="969264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E08A1E"/>
                </a:solidFill>
                <a:latin typeface="Arial"/>
              </a:rPr>
              <a:t>AP's 2.3M
meals-a-day
engine</a:t>
            </a:r>
          </a:p>
        </p:txBody>
      </p:sp>
      <p:sp>
        <p:nvSpPr>
          <p:cNvPr id="27" name="Equal 26"/>
          <p:cNvSpPr/>
          <p:nvPr/>
        </p:nvSpPr>
        <p:spPr>
          <a:xfrm>
            <a:off x="6515100" y="2048255"/>
            <a:ext cx="237744" cy="219456"/>
          </a:xfrm>
          <a:prstGeom prst="mathEqual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862572" y="1755648"/>
            <a:ext cx="969264" cy="804672"/>
          </a:xfrm>
          <a:prstGeom prst="ellipse">
            <a:avLst/>
          </a:prstGeom>
          <a:solidFill>
            <a:srgbClr val="EAF3E6"/>
          </a:solidFill>
          <a:ln w="13970">
            <a:solidFill>
              <a:srgbClr val="398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62572" y="1856231"/>
            <a:ext cx="969264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398025"/>
                </a:solidFill>
                <a:latin typeface="Arial"/>
              </a:rPr>
              <a:t>Impact that
compounds
yearly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63240" y="2606039"/>
            <a:ext cx="5715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One-time capital → permanent capability → recurring savings → more children in school, every year after Year 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63240" y="2916936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9544" y="2889504"/>
            <a:ext cx="55686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Why the GS grant stands out here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63240" y="3163824"/>
            <a:ext cx="571500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63240" y="3255264"/>
            <a:ext cx="5715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98025"/>
                </a:solidFill>
                <a:latin typeface="Arial"/>
              </a:rPr>
              <a:t>✓  Structural, not sustenance:  </a:t>
            </a:r>
            <a:r>
              <a:rPr sz="780" b="0" i="0">
                <a:solidFill>
                  <a:srgbClr val="333333"/>
                </a:solidFill>
                <a:latin typeface="Arial"/>
              </a:rPr>
              <a:t>others fund meals for a year; GS funds the technology that makes every future meal cheaper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63240" y="3570732"/>
            <a:ext cx="5715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98025"/>
                </a:solidFill>
                <a:latin typeface="Arial"/>
              </a:rPr>
              <a:t>✓  Plays to GS DNA:  </a:t>
            </a:r>
            <a:r>
              <a:rPr sz="780" b="0" i="0">
                <a:solidFill>
                  <a:srgbClr val="333333"/>
                </a:solidFill>
                <a:latin typeface="Arial"/>
              </a:rPr>
              <a:t>forecasting, optimisation &amp; risk controls — GS engineering mentors the build pro bono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63240" y="3886200"/>
            <a:ext cx="5715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98025"/>
                </a:solidFill>
                <a:latin typeface="Arial"/>
              </a:rPr>
              <a:t>✓  Measurable ROI:  </a:t>
            </a:r>
            <a:r>
              <a:rPr sz="780" b="0" i="0">
                <a:solidFill>
                  <a:srgbClr val="333333"/>
                </a:solidFill>
                <a:latin typeface="Arial"/>
              </a:rPr>
              <a:t>$310k/yr audited savings; KPI dashboard shared quarterly with GS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63240" y="4201668"/>
            <a:ext cx="5715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98025"/>
                </a:solidFill>
                <a:latin typeface="Arial"/>
              </a:rPr>
              <a:t>✓  Partnership beyond capital:  </a:t>
            </a:r>
            <a:r>
              <a:rPr sz="780" b="0" i="0">
                <a:solidFill>
                  <a:srgbClr val="333333"/>
                </a:solidFill>
                <a:latin typeface="Arial"/>
              </a:rPr>
              <a:t>GS volunteering days at kitchens &amp; co-branded impact reporting — a partner, not a donor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63240" y="4517136"/>
            <a:ext cx="5715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98025"/>
                </a:solidFill>
                <a:latin typeface="Arial"/>
              </a:rPr>
              <a:t>✓  Scalable blueprint:  </a:t>
            </a:r>
            <a:r>
              <a:rPr sz="780" b="0" i="0">
                <a:solidFill>
                  <a:srgbClr val="333333"/>
                </a:solidFill>
                <a:latin typeface="Arial"/>
              </a:rPr>
              <a:t>proven once, extends to school-feeding programmes across South Asia &amp; Africa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4983480"/>
            <a:ext cx="54864" cy="18288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2064" y="4956048"/>
            <a:ext cx="82661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Proven track record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230368"/>
            <a:ext cx="84124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5760" y="5340096"/>
            <a:ext cx="566928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0624" y="5340096"/>
            <a:ext cx="457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📷 Krishna
Kumar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" y="5340096"/>
            <a:ext cx="35204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20" b="0" i="1">
                <a:solidFill>
                  <a:srgbClr val="333333"/>
                </a:solidFill>
                <a:latin typeface="Arial"/>
              </a:rPr>
              <a:t>“The mid-day meal was the reason I stayed in school. Today I manage portfolios instead of an empty stomach.”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1B3E6E"/>
                </a:solidFill>
                <a:latin typeface="Arial"/>
              </a:rPr>
              <a:t>— Krishna Kumar, </a:t>
            </a:r>
            <a:r>
              <a:rPr sz="680" b="0" i="0">
                <a:solidFill>
                  <a:srgbClr val="727375"/>
                </a:solidFill>
                <a:latin typeface="Arial"/>
              </a:rPr>
              <a:t>AVP, HSBC — former mid-day meal beneficiary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736592" y="5340096"/>
            <a:ext cx="10972" cy="566928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901184" y="5340096"/>
            <a:ext cx="38770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Trusted by leading corporates </a:t>
            </a:r>
            <a:r>
              <a:rPr sz="800" b="0" i="0">
                <a:solidFill>
                  <a:srgbClr val="727375"/>
                </a:solidFill>
                <a:latin typeface="Arial"/>
              </a:rPr>
              <a:t>(+200 more)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01184" y="5577840"/>
            <a:ext cx="608075" cy="329184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56048" y="5577840"/>
            <a:ext cx="4983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Infosys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54980" y="5577840"/>
            <a:ext cx="608075" cy="329184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09844" y="5577840"/>
            <a:ext cx="4983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TCS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08776" y="5577840"/>
            <a:ext cx="608075" cy="329184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63640" y="5577840"/>
            <a:ext cx="4983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HDFC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862572" y="5577840"/>
            <a:ext cx="608075" cy="329184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917436" y="5577840"/>
            <a:ext cx="4983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Amazon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516368" y="5577840"/>
            <a:ext cx="608075" cy="329184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571232" y="5577840"/>
            <a:ext cx="4983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Airbus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170164" y="5577840"/>
            <a:ext cx="608075" cy="329184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25028" y="5577840"/>
            <a:ext cx="4983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SBI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