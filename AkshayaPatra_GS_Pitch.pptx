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Meals/day (M)</c:v>
                </c:pt>
              </c:strCache>
            </c:strRef>
          </c:tx>
          <c:spPr>
            <a:ln w="28575">
              <a:solidFill>
                <a:srgbClr val="1B3E6E"/>
              </a:solidFill>
            </a:ln>
          </c:spPr>
          <c:cat>
            <c:strRef>
              <c:f>Sheet1!$A$2:$A$8</c:f>
              <c:strCache>
                <c:ptCount val="7"/>
                <c:pt idx="0">
                  <c:v>2000</c:v>
                </c:pt>
                <c:pt idx="1">
                  <c:v>2005</c:v>
                </c:pt>
                <c:pt idx="2">
                  <c:v>2010</c:v>
                </c:pt>
                <c:pt idx="3">
                  <c:v>2015</c:v>
                </c:pt>
                <c:pt idx="4">
                  <c:v>2020</c:v>
                </c:pt>
                <c:pt idx="5">
                  <c:v>2023</c:v>
                </c:pt>
                <c:pt idx="6">
                  <c:v>2026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0.001</c:v>
                </c:pt>
                <c:pt idx="1">
                  <c:v>0.33</c:v>
                </c:pt>
                <c:pt idx="2">
                  <c:v>1.2</c:v>
                </c:pt>
                <c:pt idx="3">
                  <c:v>1.44</c:v>
                </c:pt>
                <c:pt idx="4">
                  <c:v>1.8</c:v>
                </c:pt>
                <c:pt idx="5">
                  <c:v>2.0</c:v>
                </c:pt>
                <c:pt idx="6">
                  <c:v>2.3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75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6350">
              <a:solidFill>
                <a:srgbClr val="E8E8E8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75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700">
          <a:solidFill>
            <a:srgbClr val="333333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Waste %</c:v>
                </c:pt>
              </c:strCache>
            </c:strRef>
          </c:tx>
          <c:spPr>
            <a:solidFill>
              <a:srgbClr val="C22310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Today</c:v>
                </c:pt>
                <c:pt idx="1">
                  <c:v>Yr 1</c:v>
                </c:pt>
                <c:pt idx="2">
                  <c:v>Yr 2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9.0</c:v>
                </c:pt>
                <c:pt idx="1">
                  <c:v>4.5</c:v>
                </c:pt>
                <c:pt idx="2">
                  <c:v>2.7</c:v>
                </c:pt>
              </c:numCache>
            </c:numRef>
          </c:val>
        </c:ser>
        <c:dLbls>
          <c:txPr>
            <a:bodyPr/>
            <a:lstStyle/>
            <a:p>
              <a:pPr>
                <a:defRPr sz="750" b="1">
                  <a:solidFill>
                    <a:srgbClr val="1B3E6E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75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700">
          <a:solidFill>
            <a:srgbClr val="333333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1B3E6E"/>
              </a:solidFill>
              <a:ln w="12700"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7297C5"/>
              </a:solidFill>
              <a:ln w="12700">
                <a:solidFill>
                  <a:srgbClr val="FFFFFF"/>
                </a:solidFill>
              </a:ln>
            </c:spPr>
          </c:dPt>
          <c:dPt>
            <c:idx val="2"/>
            <c:spPr>
              <a:solidFill>
                <a:srgbClr val="A6428C"/>
              </a:solidFill>
              <a:ln w="12700">
                <a:solidFill>
                  <a:srgbClr val="FFFFFF"/>
                </a:solidFill>
              </a:ln>
            </c:spPr>
          </c:dPt>
          <c:dPt>
            <c:idx val="3"/>
            <c:spPr>
              <a:solidFill>
                <a:srgbClr val="F3C43F"/>
              </a:solidFill>
              <a:ln w="12700">
                <a:solidFill>
                  <a:srgbClr val="FFFFFF"/>
                </a:solidFill>
              </a:ln>
            </c:spPr>
          </c:dPt>
          <c:dPt>
            <c:idx val="4"/>
            <c:spPr>
              <a:solidFill>
                <a:srgbClr val="727375"/>
              </a:solidFill>
              <a:ln w="12700">
                <a:solidFill>
                  <a:srgbClr val="FFFFFF"/>
                </a:solidFill>
              </a:ln>
            </c:spPr>
          </c:dPt>
          <c:cat>
            <c:strRef>
              <c:f>Sheet1!$A$2:$A$6</c:f>
              <c:strCache>
                <c:ptCount val="5"/>
                <c:pt idx="0">
                  <c:v>Platform $60k</c:v>
                </c:pt>
                <c:pt idx="1">
                  <c:v>Data infra $30k</c:v>
                </c:pt>
                <c:pt idx="2">
                  <c:v>Team $25k</c:v>
                </c:pt>
                <c:pt idx="3">
                  <c:v>ERP integr. $20k</c:v>
                </c:pt>
                <c:pt idx="4">
                  <c:v>Conting. $15k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60</c:v>
                </c:pt>
                <c:pt idx="1">
                  <c:v>30</c:v>
                </c:pt>
                <c:pt idx="2">
                  <c:v>25</c:v>
                </c:pt>
                <c:pt idx="3">
                  <c:v>20</c:v>
                </c:pt>
                <c:pt idx="4">
                  <c:v>15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b"/>
      <c:layout/>
      <c:overlay val="0"/>
      <c:txPr>
        <a:bodyPr/>
        <a:lstStyle/>
        <a:p>
          <a:pPr>
            <a:defRPr sz="750"/>
          </a:pPr>
        </a:p>
      </c:txPr>
    </c:legend>
    <c:plotVisOnly val="1"/>
    <c:dispBlanksAs val="gap"/>
    <c:showDLblsOverMax val="0"/>
  </c:chart>
  <c:txPr>
    <a:bodyPr/>
    <a:lstStyle/>
    <a:p>
      <a:pPr>
        <a:defRPr sz="800">
          <a:solidFill>
            <a:srgbClr val="333333"/>
          </a:solidFill>
          <a:latin typeface="Arial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$k/yr</c:v>
                </c:pt>
              </c:strCache>
            </c:strRef>
          </c:tx>
          <c:spPr>
            <a:solidFill>
              <a:srgbClr val="398025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Waste</c:v>
                </c:pt>
                <c:pt idx="1">
                  <c:v>Buying</c:v>
                </c:pt>
                <c:pt idx="2">
                  <c:v>Wkg cap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120</c:v>
                </c:pt>
                <c:pt idx="1">
                  <c:v>85</c:v>
                </c:pt>
                <c:pt idx="2">
                  <c:v>25</c:v>
                </c:pt>
              </c:numCache>
            </c:numRef>
          </c:val>
        </c:ser>
        <c:dLbls>
          <c:txPr>
            <a:bodyPr/>
            <a:lstStyle/>
            <a:p>
              <a:pPr>
                <a:defRPr sz="750" b="1">
                  <a:solidFill>
                    <a:srgbClr val="1B3E6E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75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680">
          <a:solidFill>
            <a:srgbClr val="333333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398025"/>
              </a:solidFill>
              <a:ln w="12700"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095F61"/>
              </a:solidFill>
              <a:ln w="12700">
                <a:solidFill>
                  <a:srgbClr val="FFFFFF"/>
                </a:solidFill>
              </a:ln>
            </c:spPr>
          </c:dPt>
          <c:dPt>
            <c:idx val="2"/>
            <c:spPr>
              <a:solidFill>
                <a:srgbClr val="1B3E6E"/>
              </a:solidFill>
              <a:ln w="12700">
                <a:solidFill>
                  <a:srgbClr val="FFFFFF"/>
                </a:solidFill>
              </a:ln>
            </c:spPr>
          </c:dPt>
          <c:dPt>
            <c:idx val="3"/>
            <c:spPr>
              <a:solidFill>
                <a:srgbClr val="F3C43F"/>
              </a:solidFill>
              <a:ln w="12700">
                <a:solidFill>
                  <a:srgbClr val="FFFFFF"/>
                </a:solidFill>
              </a:ln>
            </c:spPr>
          </c:dPt>
          <c:dPt>
            <c:idx val="4"/>
            <c:spPr>
              <a:solidFill>
                <a:srgbClr val="727375"/>
              </a:solidFill>
              <a:ln w="12700">
                <a:solidFill>
                  <a:srgbClr val="FFFFFF"/>
                </a:solidFill>
              </a:ln>
            </c:spPr>
          </c:dPt>
          <c:cat>
            <c:strRef>
              <c:f>Sheet1!$A$2:$A$6</c:f>
              <c:strCache>
                <c:ptCount val="5"/>
                <c:pt idx="0">
                  <c:v>Routing sw $35k</c:v>
                </c:pt>
                <c:pt idx="1">
                  <c:v>Telematics $30k</c:v>
                </c:pt>
                <c:pt idx="2">
                  <c:v>Smart locks $20k</c:v>
                </c:pt>
                <c:pt idx="3">
                  <c:v>RFID $10k</c:v>
                </c:pt>
                <c:pt idx="4">
                  <c:v>Ops $5k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35</c:v>
                </c:pt>
                <c:pt idx="1">
                  <c:v>30</c:v>
                </c:pt>
                <c:pt idx="2">
                  <c:v>20</c:v>
                </c:pt>
                <c:pt idx="3">
                  <c:v>10</c:v>
                </c:pt>
                <c:pt idx="4">
                  <c:v>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b"/>
      <c:layout/>
      <c:overlay val="0"/>
      <c:txPr>
        <a:bodyPr/>
        <a:lstStyle/>
        <a:p>
          <a:pPr>
            <a:defRPr sz="750"/>
          </a:pPr>
        </a:p>
      </c:txPr>
    </c:legend>
    <c:plotVisOnly val="1"/>
    <c:dispBlanksAs val="gap"/>
    <c:showDLblsOverMax val="0"/>
  </c:chart>
  <c:txPr>
    <a:bodyPr/>
    <a:lstStyle/>
    <a:p>
      <a:pPr>
        <a:defRPr sz="800">
          <a:solidFill>
            <a:srgbClr val="333333"/>
          </a:solidFill>
          <a:latin typeface="Arial"/>
        </a:defRPr>
      </a:pPr>
      <a:endParaRPr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$k/yr</c:v>
                </c:pt>
              </c:strCache>
            </c:strRef>
          </c:tx>
          <c:spPr>
            <a:solidFill>
              <a:srgbClr val="398025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Fuel</c:v>
                </c:pt>
                <c:pt idx="1">
                  <c:v>Vessels</c:v>
                </c:pt>
                <c:pt idx="2">
                  <c:v>Food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45</c:v>
                </c:pt>
                <c:pt idx="1">
                  <c:v>20</c:v>
                </c:pt>
                <c:pt idx="2">
                  <c:v>15</c:v>
                </c:pt>
              </c:numCache>
            </c:numRef>
          </c:val>
        </c:ser>
        <c:dLbls>
          <c:txPr>
            <a:bodyPr/>
            <a:lstStyle/>
            <a:p>
              <a:pPr>
                <a:defRPr sz="750" b="1">
                  <a:solidFill>
                    <a:srgbClr val="1B3E6E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75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680">
          <a:solidFill>
            <a:srgbClr val="333333"/>
          </a:solidFill>
          <a:latin typeface="Arial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Relationship Id="rId4" Type="http://schemas.openxmlformats.org/officeDocument/2006/relationships/chart" Target="../charts/char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Relationship Id="rId3" Type="http://schemas.openxmlformats.org/officeDocument/2006/relationships/chart" Target="../charts/char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8412480" cy="23774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8412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B3E6E"/>
                </a:solidFill>
                <a:latin typeface="Georgia"/>
              </a:rPr>
              <a:t>Who is The Akshaya Patra Foundation?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22960"/>
            <a:ext cx="84124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33333"/>
                </a:solidFill>
                <a:latin typeface="Arial"/>
              </a:rPr>
              <a:t>The world's largest NGO-run school meal programme — serving 2.3 million children every school day, so that hunger never interrupts education.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071616"/>
            <a:ext cx="8138159" cy="36576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071616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B3E6E"/>
                </a:solidFill>
                <a:latin typeface="Georgia"/>
              </a:rPr>
              <a:t>“No child shall be deprived of education because of hunger” — at a scale no other NGO matches.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1280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Goldman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Sachs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6528816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727375"/>
                </a:solidFill>
                <a:latin typeface="Arial"/>
              </a:rPr>
              <a:t>1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298448"/>
            <a:ext cx="8412480" cy="731520"/>
          </a:xfrm>
          <a:prstGeom prst="rect">
            <a:avLst/>
          </a:prstGeom>
          <a:solidFill>
            <a:srgbClr val="E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12" y="1380744"/>
            <a:ext cx="896112" cy="566928"/>
          </a:xfrm>
          <a:prstGeom prst="rect">
            <a:avLst/>
          </a:prstGeom>
          <a:solidFill>
            <a:srgbClr val="F2F2F2"/>
          </a:solidFill>
          <a:ln w="12700">
            <a:solidFill>
              <a:srgbClr val="7273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3776" y="1380744"/>
            <a:ext cx="786384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727375"/>
                </a:solidFill>
                <a:latin typeface="Arial"/>
              </a:rPr>
              <a:t>AKSHAYA PATRA
logo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81328" y="1298448"/>
            <a:ext cx="7168895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Over 1 in 3 children in India show signs of undernourishment</a:t>
            </a:r>
            <a:r>
              <a:rPr sz="800" b="0" i="0">
                <a:solidFill>
                  <a:srgbClr val="FFFFFF"/>
                </a:solidFill>
                <a:latin typeface="Arial"/>
              </a:rPr>
              <a:t> — and hunger is a leading reason children drop out of school. Founded in 2000 in Bengaluru with </a:t>
            </a:r>
            <a:r>
              <a:rPr sz="800" b="1" i="0">
                <a:solidFill>
                  <a:srgbClr val="FFFFFF"/>
                </a:solidFill>
                <a:latin typeface="Arial"/>
              </a:rPr>
              <a:t>1,500 children across 5 schools</a:t>
            </a:r>
            <a:r>
              <a:rPr sz="800" b="0" i="0">
                <a:solidFill>
                  <a:srgbClr val="FFFFFF"/>
                </a:solidFill>
                <a:latin typeface="Arial"/>
              </a:rPr>
              <a:t>, Akshaya Patra now runs the world's largest NGO-operated mid-day meal programme — a PPP with the Government of India that has served </a:t>
            </a:r>
            <a:r>
              <a:rPr sz="800" b="1" i="0">
                <a:solidFill>
                  <a:srgbClr val="FFFFFF"/>
                </a:solidFill>
                <a:latin typeface="Arial"/>
              </a:rPr>
              <a:t>4+ billion cumulative meals.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61688" y="2212848"/>
            <a:ext cx="10972" cy="368503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5760" y="2203703"/>
            <a:ext cx="54864" cy="182880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176272"/>
            <a:ext cx="38953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E6E"/>
                </a:solidFill>
                <a:latin typeface="Arial"/>
              </a:rPr>
              <a:t>Who they are &amp; why we chose them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450591"/>
            <a:ext cx="4041648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2542032"/>
            <a:ext cx="4041648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1" i="0">
                <a:solidFill>
                  <a:srgbClr val="1B3E6E"/>
                </a:solidFill>
                <a:latin typeface="Arial"/>
              </a:rPr>
              <a:t>Mission: </a:t>
            </a:r>
            <a:r>
              <a:rPr sz="800" b="0" i="0">
                <a:solidFill>
                  <a:srgbClr val="333333"/>
                </a:solidFill>
                <a:latin typeface="Arial"/>
              </a:rPr>
              <a:t>eliminate classroom hunger by implementing the Mid-Day Meal Scheme in government schools while fighting child malnutrition across India.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1" i="0">
                <a:solidFill>
                  <a:srgbClr val="1B3E6E"/>
                </a:solidFill>
                <a:latin typeface="Arial"/>
              </a:rPr>
              <a:t>Why Akshaya Patra: </a:t>
            </a:r>
            <a:r>
              <a:rPr sz="800" b="0" i="0">
                <a:solidFill>
                  <a:srgbClr val="333333"/>
                </a:solidFill>
                <a:latin typeface="Arial"/>
              </a:rPr>
              <a:t>our on-ground kitchen inspections and supply-chain review found world-class production — and </a:t>
            </a:r>
            <a:r>
              <a:rPr sz="800" b="1" i="0">
                <a:solidFill>
                  <a:srgbClr val="333333"/>
                </a:solidFill>
                <a:latin typeface="Arial"/>
              </a:rPr>
              <a:t>two clearly identified, fixable gaps</a:t>
            </a:r>
            <a:r>
              <a:rPr sz="800" b="0" i="0">
                <a:solidFill>
                  <a:srgbClr val="333333"/>
                </a:solidFill>
                <a:latin typeface="Arial"/>
              </a:rPr>
              <a:t> where $250k unlocks compounding, year-on-year impact rather than one-off sustenance.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398025"/>
                </a:solidFill>
                <a:latin typeface="Arial"/>
              </a:rPr>
              <a:t>✓ 25+ yrs of proven delivery   ✓ Govt-audited PPP   ✓ Tech-forward leadership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977640"/>
            <a:ext cx="54864" cy="182880"/>
          </a:xfrm>
          <a:prstGeom prst="rect">
            <a:avLst/>
          </a:prstGeom>
          <a:solidFill>
            <a:srgbClr val="7297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950208"/>
            <a:ext cx="38953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E6E"/>
                </a:solidFill>
                <a:latin typeface="Arial"/>
              </a:rPr>
              <a:t>The journey — daily meals served (millions)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4224528"/>
            <a:ext cx="4041648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21" name="Chart 20"/>
          <p:cNvGraphicFramePr>
            <a:graphicFrameLocks noGrp="1"/>
          </p:cNvGraphicFramePr>
          <p:nvPr/>
        </p:nvGraphicFramePr>
        <p:xfrm>
          <a:off x="365760" y="4334256"/>
          <a:ext cx="4041648" cy="129844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365760" y="5687568"/>
            <a:ext cx="40416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333333"/>
                </a:solidFill>
                <a:latin typeface="Arial"/>
              </a:rPr>
              <a:t>2012: </a:t>
            </a:r>
            <a:r>
              <a:rPr sz="680" b="0" i="0">
                <a:solidFill>
                  <a:srgbClr val="333333"/>
                </a:solidFill>
                <a:latin typeface="Arial"/>
              </a:rPr>
              <a:t>1 billionth meal   ·   </a:t>
            </a:r>
            <a:r>
              <a:rPr sz="680" b="1" i="0">
                <a:solidFill>
                  <a:srgbClr val="333333"/>
                </a:solidFill>
                <a:latin typeface="Arial"/>
              </a:rPr>
              <a:t>2019: </a:t>
            </a:r>
            <a:r>
              <a:rPr sz="680" b="0" i="0">
                <a:solidFill>
                  <a:srgbClr val="333333"/>
                </a:solidFill>
                <a:latin typeface="Arial"/>
              </a:rPr>
              <a:t>3 billionth served by Hon'ble PM   ·   </a:t>
            </a:r>
            <a:r>
              <a:rPr sz="680" b="1" i="0">
                <a:solidFill>
                  <a:srgbClr val="333333"/>
                </a:solidFill>
                <a:latin typeface="Arial"/>
              </a:rPr>
              <a:t>2024: </a:t>
            </a:r>
            <a:r>
              <a:rPr sz="680" b="0" i="0">
                <a:solidFill>
                  <a:srgbClr val="333333"/>
                </a:solidFill>
                <a:latin typeface="Arial"/>
              </a:rPr>
              <a:t>4 billion meals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90288" y="2203703"/>
            <a:ext cx="54864" cy="182880"/>
          </a:xfrm>
          <a:prstGeom prst="rect">
            <a:avLst/>
          </a:prstGeom>
          <a:solidFill>
            <a:srgbClr val="3B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36592" y="2176272"/>
            <a:ext cx="40416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E6E"/>
                </a:solidFill>
                <a:latin typeface="Arial"/>
              </a:rPr>
              <a:t>What they do — the hub-and-spoke model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90288" y="2450591"/>
            <a:ext cx="4187952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90288" y="2542032"/>
            <a:ext cx="4187952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80" b="1" i="0">
                <a:solidFill>
                  <a:srgbClr val="333333"/>
                </a:solidFill>
                <a:latin typeface="Arial"/>
              </a:rPr>
              <a:t>•  Centralised mega-kitchens </a:t>
            </a:r>
            <a:r>
              <a:rPr sz="780" b="0" i="0">
                <a:solidFill>
                  <a:srgbClr val="333333"/>
                </a:solidFill>
                <a:latin typeface="Arial"/>
              </a:rPr>
              <a:t>cook up to 100,000 meals each before 6 AM daily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80" b="1" i="0">
                <a:solidFill>
                  <a:srgbClr val="333333"/>
                </a:solidFill>
                <a:latin typeface="Arial"/>
              </a:rPr>
              <a:t>•  Hub-and-spoke delivery </a:t>
            </a:r>
            <a:r>
              <a:rPr sz="780" b="0" i="0">
                <a:solidFill>
                  <a:srgbClr val="333333"/>
                </a:solidFill>
                <a:latin typeface="Arial"/>
              </a:rPr>
              <a:t>of hot, locally-adapted menus to school doorsteps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80" b="1" i="0">
                <a:solidFill>
                  <a:srgbClr val="333333"/>
                </a:solidFill>
                <a:latin typeface="Arial"/>
              </a:rPr>
              <a:t>•  PPP funding </a:t>
            </a:r>
            <a:r>
              <a:rPr sz="780" b="0" i="0">
                <a:solidFill>
                  <a:srgbClr val="333333"/>
                </a:solidFill>
                <a:latin typeface="Arial"/>
              </a:rPr>
              <a:t>— govt subsidies + philanthropy; every $ leveraged ~3x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333333"/>
                </a:solidFill>
                <a:latin typeface="Arial"/>
              </a:rPr>
              <a:t>•  Beyond food: </a:t>
            </a:r>
            <a:r>
              <a:rPr sz="780" b="0" i="0">
                <a:solidFill>
                  <a:srgbClr val="333333"/>
                </a:solidFill>
                <a:latin typeface="Arial"/>
              </a:rPr>
              <a:t>scholarships, anganwadi feeding, disaster-relief kitchens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90288" y="3630168"/>
            <a:ext cx="54864" cy="182880"/>
          </a:xfrm>
          <a:prstGeom prst="rect">
            <a:avLst/>
          </a:prstGeom>
          <a:solidFill>
            <a:srgbClr val="E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36592" y="3602736"/>
            <a:ext cx="40416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E6E"/>
                </a:solidFill>
                <a:latin typeface="Arial"/>
              </a:rPr>
              <a:t>Scale at a glance (FY26)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90288" y="3877056"/>
            <a:ext cx="4187952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90288" y="3986783"/>
            <a:ext cx="1046988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1B3E6E"/>
                </a:solidFill>
                <a:latin typeface="Arial"/>
              </a:rPr>
              <a:t>2.3M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727375"/>
                </a:solidFill>
                <a:latin typeface="Arial"/>
              </a:rPr>
              <a:t>meals served
every day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37275" y="3986783"/>
            <a:ext cx="1046988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1B3E6E"/>
                </a:solidFill>
                <a:latin typeface="Arial"/>
              </a:rPr>
              <a:t>68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727375"/>
                </a:solidFill>
                <a:latin typeface="Arial"/>
              </a:rPr>
              <a:t>mega-kitchens
across India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84264" y="3986783"/>
            <a:ext cx="1046988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1B3E6E"/>
                </a:solidFill>
                <a:latin typeface="Arial"/>
              </a:rPr>
              <a:t>16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727375"/>
                </a:solidFill>
                <a:latin typeface="Arial"/>
              </a:rPr>
              <a:t>states &amp;
2 UTs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31252" y="3986783"/>
            <a:ext cx="1046988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1B3E6E"/>
                </a:solidFill>
                <a:latin typeface="Arial"/>
              </a:rPr>
              <a:t>24,000+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727375"/>
                </a:solidFill>
                <a:latin typeface="Arial"/>
              </a:rPr>
              <a:t>govt schools
served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90288" y="4709160"/>
            <a:ext cx="54864" cy="182880"/>
          </a:xfrm>
          <a:prstGeom prst="rect">
            <a:avLst/>
          </a:prstGeom>
          <a:solidFill>
            <a:srgbClr val="398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36592" y="4681728"/>
            <a:ext cx="40416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E6E"/>
                </a:solidFill>
                <a:latin typeface="Arial"/>
              </a:rPr>
              <a:t>Aligned to UN SDGs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90288" y="4956048"/>
            <a:ext cx="4187952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590288" y="5084064"/>
            <a:ext cx="585216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7273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645151" y="5084064"/>
            <a:ext cx="475488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727375"/>
                </a:solidFill>
                <a:latin typeface="Arial"/>
              </a:rPr>
              <a:t>SDG 2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1">
                <a:solidFill>
                  <a:srgbClr val="727375"/>
                </a:solidFill>
                <a:latin typeface="Arial"/>
              </a:rPr>
              <a:t>Zero Hunger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248655" y="5084064"/>
            <a:ext cx="585216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7273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303519" y="5084064"/>
            <a:ext cx="475488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727375"/>
                </a:solidFill>
                <a:latin typeface="Arial"/>
              </a:rPr>
              <a:t>SDG 4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1">
                <a:solidFill>
                  <a:srgbClr val="727375"/>
                </a:solidFill>
                <a:latin typeface="Arial"/>
              </a:rPr>
              <a:t>Quality Educ.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907023" y="5084064"/>
            <a:ext cx="585216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7273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961887" y="5084064"/>
            <a:ext cx="475488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727375"/>
                </a:solidFill>
                <a:latin typeface="Arial"/>
              </a:rPr>
              <a:t>SDG 17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1">
                <a:solidFill>
                  <a:srgbClr val="727375"/>
                </a:solidFill>
                <a:latin typeface="Arial"/>
              </a:rPr>
              <a:t>Partners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675119" y="5084064"/>
            <a:ext cx="210312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7273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729983" y="5084064"/>
            <a:ext cx="1993392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727375"/>
                </a:solidFill>
                <a:latin typeface="Arial"/>
              </a:rPr>
              <a:t>📷 PHOTO: children at mid-day meal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8412480" cy="23774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8412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B3E6E"/>
                </a:solidFill>
                <a:latin typeface="Georgia"/>
              </a:rPr>
              <a:t>A world-class supply chain — with two blind spots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22960"/>
            <a:ext cx="84124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33333"/>
                </a:solidFill>
                <a:latin typeface="Arial"/>
              </a:rPr>
              <a:t>We walked their kitchens, interviewed staff and mapped the end-to-end flow: production is best-in-class; the gaps sit at the first and last mile.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071616"/>
            <a:ext cx="8138159" cy="36576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071616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B3E6E"/>
                </a:solidFill>
                <a:latin typeface="Georgia"/>
              </a:rPr>
              <a:t>A Formula-1 production line — fed by guesswork, delivered on hand-drawn maps. That is where we intervene.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1280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Goldman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Sachs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6528816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727375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280160"/>
            <a:ext cx="8412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1">
                <a:solidFill>
                  <a:srgbClr val="727375"/>
                </a:solidFill>
                <a:latin typeface="Arial"/>
              </a:rPr>
              <a:t>Our diligence: 2 kitchen visits  •  12 staff interviews  •  procurement &amp; route data review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591056"/>
            <a:ext cx="27432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398025"/>
                </a:solidFill>
                <a:latin typeface="Arial"/>
              </a:rPr>
              <a:t>✓ Audited &amp; certified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333333"/>
                </a:solidFill>
                <a:latin typeface="Arial"/>
              </a:rPr>
              <a:t>FSSAI-licensed, ISO 22000-certified kitchens; govt &amp; third-party audits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46120" y="1591056"/>
            <a:ext cx="27432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398025"/>
                </a:solidFill>
                <a:latin typeface="Arial"/>
              </a:rPr>
              <a:t>✓ Global recognition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333333"/>
                </a:solidFill>
                <a:latin typeface="Arial"/>
              </a:rPr>
              <a:t>UK PM Rishi Sunak toured the Bengaluru kitchen — praised hygiene &amp; automation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1591056"/>
            <a:ext cx="26517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398025"/>
                </a:solidFill>
                <a:latin typeface="Arial"/>
              </a:rPr>
              <a:t>✓ Our on-ground audit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333333"/>
                </a:solidFill>
                <a:latin typeface="Arial"/>
              </a:rPr>
              <a:t>Gravity-flow cooking, 2-hr batch cycles, near-zero contamination risk</a:t>
            </a:r>
          </a:p>
        </p:txBody>
      </p:sp>
      <p:sp>
        <p:nvSpPr>
          <p:cNvPr id="13" name="Chevron 12"/>
          <p:cNvSpPr/>
          <p:nvPr/>
        </p:nvSpPr>
        <p:spPr>
          <a:xfrm>
            <a:off x="365760" y="2487168"/>
            <a:ext cx="1371600" cy="896112"/>
          </a:xfrm>
          <a:prstGeom prst="chevron">
            <a:avLst>
              <a:gd name="adj" fmla="val 30000"/>
            </a:avLst>
          </a:prstGeom>
          <a:solidFill>
            <a:srgbClr val="FBECEA"/>
          </a:solidFill>
          <a:ln w="19050">
            <a:solidFill>
              <a:srgbClr val="C223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560320"/>
            <a:ext cx="1078992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100"/>
              </a:spcAft>
            </a:pPr>
            <a:r>
              <a:rPr sz="780" b="1" i="0">
                <a:solidFill>
                  <a:srgbClr val="C22310"/>
                </a:solidFill>
                <a:latin typeface="Arial"/>
              </a:rPr>
              <a:t>PROCUREMENT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333333"/>
                </a:solidFill>
                <a:latin typeface="Arial"/>
              </a:rPr>
              <a:t>Grains, dairy
from mandis</a:t>
            </a:r>
          </a:p>
        </p:txBody>
      </p:sp>
      <p:sp>
        <p:nvSpPr>
          <p:cNvPr id="15" name="Chevron 14"/>
          <p:cNvSpPr/>
          <p:nvPr/>
        </p:nvSpPr>
        <p:spPr>
          <a:xfrm>
            <a:off x="1773936" y="2487168"/>
            <a:ext cx="1371600" cy="896112"/>
          </a:xfrm>
          <a:prstGeom prst="chevron">
            <a:avLst>
              <a:gd name="adj" fmla="val 30000"/>
            </a:avLst>
          </a:prstGeom>
          <a:solidFill>
            <a:srgbClr val="EEF3F9"/>
          </a:solidFill>
          <a:ln w="11430">
            <a:solidFill>
              <a:srgbClr val="3B6E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956816" y="2560320"/>
            <a:ext cx="1078992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100"/>
              </a:spcAft>
            </a:pPr>
            <a:r>
              <a:rPr sz="780" b="1" i="0">
                <a:solidFill>
                  <a:srgbClr val="1B3E6E"/>
                </a:solidFill>
                <a:latin typeface="Arial"/>
              </a:rPr>
              <a:t>STORAGE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333333"/>
                </a:solidFill>
                <a:latin typeface="Arial"/>
              </a:rPr>
              <a:t>Silos, cold
rooms; FIFO</a:t>
            </a:r>
          </a:p>
        </p:txBody>
      </p:sp>
      <p:sp>
        <p:nvSpPr>
          <p:cNvPr id="17" name="Chevron 16"/>
          <p:cNvSpPr/>
          <p:nvPr/>
        </p:nvSpPr>
        <p:spPr>
          <a:xfrm>
            <a:off x="3182112" y="2487168"/>
            <a:ext cx="1371600" cy="896112"/>
          </a:xfrm>
          <a:prstGeom prst="chevron">
            <a:avLst>
              <a:gd name="adj" fmla="val 30000"/>
            </a:avLst>
          </a:prstGeom>
          <a:solidFill>
            <a:srgbClr val="EEF3F9"/>
          </a:solidFill>
          <a:ln w="11430">
            <a:solidFill>
              <a:srgbClr val="3B6E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64992" y="2560320"/>
            <a:ext cx="1078992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100"/>
              </a:spcAft>
            </a:pPr>
            <a:r>
              <a:rPr sz="780" b="1" i="0">
                <a:solidFill>
                  <a:srgbClr val="1B3E6E"/>
                </a:solidFill>
                <a:latin typeface="Arial"/>
              </a:rPr>
              <a:t>PREPROCESS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333333"/>
                </a:solidFill>
                <a:latin typeface="Arial"/>
              </a:rPr>
              <a:t>Auto roti lines,
veg prep</a:t>
            </a:r>
          </a:p>
        </p:txBody>
      </p:sp>
      <p:sp>
        <p:nvSpPr>
          <p:cNvPr id="19" name="Chevron 18"/>
          <p:cNvSpPr/>
          <p:nvPr/>
        </p:nvSpPr>
        <p:spPr>
          <a:xfrm>
            <a:off x="4590288" y="2487168"/>
            <a:ext cx="1371600" cy="896112"/>
          </a:xfrm>
          <a:prstGeom prst="chevron">
            <a:avLst>
              <a:gd name="adj" fmla="val 30000"/>
            </a:avLst>
          </a:prstGeom>
          <a:solidFill>
            <a:srgbClr val="EEF3F9"/>
          </a:solidFill>
          <a:ln w="11430">
            <a:solidFill>
              <a:srgbClr val="3B6E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73168" y="2560320"/>
            <a:ext cx="1078992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100"/>
              </a:spcAft>
            </a:pPr>
            <a:r>
              <a:rPr sz="780" b="1" i="0">
                <a:solidFill>
                  <a:srgbClr val="1B3E6E"/>
                </a:solidFill>
                <a:latin typeface="Arial"/>
              </a:rPr>
              <a:t>COOKING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333333"/>
                </a:solidFill>
                <a:latin typeface="Arial"/>
              </a:rPr>
              <a:t>Steam cauldrons;
100k by 6 AM</a:t>
            </a:r>
          </a:p>
        </p:txBody>
      </p:sp>
      <p:sp>
        <p:nvSpPr>
          <p:cNvPr id="21" name="Chevron 20"/>
          <p:cNvSpPr/>
          <p:nvPr/>
        </p:nvSpPr>
        <p:spPr>
          <a:xfrm>
            <a:off x="5998464" y="2487168"/>
            <a:ext cx="1371600" cy="896112"/>
          </a:xfrm>
          <a:prstGeom prst="chevron">
            <a:avLst>
              <a:gd name="adj" fmla="val 30000"/>
            </a:avLst>
          </a:prstGeom>
          <a:solidFill>
            <a:srgbClr val="EEF3F9"/>
          </a:solidFill>
          <a:ln w="11430">
            <a:solidFill>
              <a:srgbClr val="3B6E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81344" y="2560320"/>
            <a:ext cx="1078992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100"/>
              </a:spcAft>
            </a:pPr>
            <a:r>
              <a:rPr sz="780" b="1" i="0">
                <a:solidFill>
                  <a:srgbClr val="1B3E6E"/>
                </a:solidFill>
                <a:latin typeface="Arial"/>
              </a:rPr>
              <a:t>QC &amp;
PACKING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333333"/>
                </a:solidFill>
                <a:latin typeface="Arial"/>
              </a:rPr>
              <a:t>Lab-tested;
sealed vessels</a:t>
            </a:r>
          </a:p>
        </p:txBody>
      </p:sp>
      <p:sp>
        <p:nvSpPr>
          <p:cNvPr id="23" name="Chevron 22"/>
          <p:cNvSpPr/>
          <p:nvPr/>
        </p:nvSpPr>
        <p:spPr>
          <a:xfrm>
            <a:off x="7406640" y="2487168"/>
            <a:ext cx="1371600" cy="896112"/>
          </a:xfrm>
          <a:prstGeom prst="chevron">
            <a:avLst>
              <a:gd name="adj" fmla="val 30000"/>
            </a:avLst>
          </a:prstGeom>
          <a:solidFill>
            <a:srgbClr val="FBECEA"/>
          </a:solidFill>
          <a:ln w="19050">
            <a:solidFill>
              <a:srgbClr val="C223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89519" y="2560320"/>
            <a:ext cx="1078992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100"/>
              </a:spcAft>
            </a:pPr>
            <a:r>
              <a:rPr sz="780" b="1" i="0">
                <a:solidFill>
                  <a:srgbClr val="C22310"/>
                </a:solidFill>
                <a:latin typeface="Arial"/>
              </a:rPr>
              <a:t>DISTRIBUTION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333333"/>
                </a:solidFill>
                <a:latin typeface="Arial"/>
              </a:rPr>
              <a:t>Van fleet to
schools by lunch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023360" y="2212848"/>
            <a:ext cx="457200" cy="237744"/>
          </a:xfrm>
          <a:prstGeom prst="curvedConnector3">
            <a:avLst/>
          </a:prstGeom>
          <a:ln w="12700">
            <a:solidFill>
              <a:srgbClr val="398025"/>
            </a:solidFill>
            <a:prstDash val="sys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6583680" y="2212848"/>
            <a:ext cx="365760" cy="237744"/>
          </a:xfrm>
          <a:prstGeom prst="curvedConnector3">
            <a:avLst/>
          </a:prstGeom>
          <a:ln w="12700">
            <a:solidFill>
              <a:srgbClr val="398025"/>
            </a:solidFill>
            <a:prstDash val="sys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365760" y="3456432"/>
            <a:ext cx="8412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398025"/>
                </a:solidFill>
                <a:latin typeface="Arial"/>
              </a:rPr>
              <a:t>Steps 2–5 are best-in-class </a:t>
            </a:r>
            <a:r>
              <a:rPr sz="850" b="0" i="0">
                <a:solidFill>
                  <a:srgbClr val="727375"/>
                </a:solidFill>
                <a:latin typeface="Arial"/>
              </a:rPr>
              <a:t>— automated, audited, built to scale. No intervention needed.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4023360"/>
            <a:ext cx="4114800" cy="1664208"/>
          </a:xfrm>
          <a:prstGeom prst="rect">
            <a:avLst/>
          </a:prstGeom>
          <a:solidFill>
            <a:srgbClr val="FFFFFF"/>
          </a:solidFill>
          <a:ln w="15875">
            <a:solidFill>
              <a:srgbClr val="C223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65760" y="4023360"/>
            <a:ext cx="4114800" cy="292608"/>
          </a:xfrm>
          <a:prstGeom prst="rect">
            <a:avLst/>
          </a:prstGeom>
          <a:solidFill>
            <a:srgbClr val="C223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5488" y="4064508"/>
            <a:ext cx="389534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Arial"/>
              </a:rPr>
              <a:t>GAP 1 — PROCUREMENT: no demand forecasting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3776" y="4407408"/>
            <a:ext cx="3858768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333333"/>
                </a:solidFill>
                <a:latin typeface="Arial"/>
              </a:rPr>
              <a:t>•  Manual estimates</a:t>
            </a:r>
            <a:r>
              <a:rPr sz="750" b="0" i="0">
                <a:solidFill>
                  <a:srgbClr val="333333"/>
                </a:solidFill>
                <a:latin typeface="Arial"/>
              </a:rPr>
              <a:t> — no view of school-level attendance, holidays or menu uptake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333333"/>
                </a:solidFill>
                <a:latin typeface="Arial"/>
              </a:rPr>
              <a:t>•  ~8–10% over-production</a:t>
            </a:r>
            <a:r>
              <a:rPr sz="750" b="0" i="0">
                <a:solidFill>
                  <a:srgbClr val="333333"/>
                </a:solidFill>
                <a:latin typeface="Arial"/>
              </a:rPr>
              <a:t> wasted on low-attendance days [dummy]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333333"/>
                </a:solidFill>
                <a:latin typeface="Arial"/>
              </a:rPr>
              <a:t>•  Reactive spot-buying</a:t>
            </a:r>
            <a:r>
              <a:rPr sz="750" b="0" i="0">
                <a:solidFill>
                  <a:srgbClr val="333333"/>
                </a:solidFill>
                <a:latin typeface="Arial"/>
              </a:rPr>
              <a:t> at mandi peak prices — up to 12% above plan [dummy]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333333"/>
                </a:solidFill>
                <a:latin typeface="Arial"/>
              </a:rPr>
              <a:t>•  No price intelligence</a:t>
            </a:r>
            <a:r>
              <a:rPr sz="750" b="0" i="0">
                <a:solidFill>
                  <a:srgbClr val="333333"/>
                </a:solidFill>
                <a:latin typeface="Arial"/>
              </a:rPr>
              <a:t> — cheapest forward-buying windows are missed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333333"/>
                </a:solidFill>
                <a:latin typeface="Arial"/>
              </a:rPr>
              <a:t>•  Result: </a:t>
            </a:r>
            <a:r>
              <a:rPr sz="750" b="0" i="0">
                <a:solidFill>
                  <a:srgbClr val="333333"/>
                </a:solidFill>
                <a:latin typeface="Arial"/>
              </a:rPr>
              <a:t>higher cost per meal → fewer children fed per donor $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1B3E6E"/>
                </a:solidFill>
                <a:latin typeface="Arial"/>
              </a:rPr>
              <a:t>→ addressed by Solution 1 ($150k)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663440" y="4023360"/>
            <a:ext cx="4114800" cy="1664208"/>
          </a:xfrm>
          <a:prstGeom prst="rect">
            <a:avLst/>
          </a:prstGeom>
          <a:solidFill>
            <a:srgbClr val="FFFFFF"/>
          </a:solidFill>
          <a:ln w="15875">
            <a:solidFill>
              <a:srgbClr val="C223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663440" y="4023360"/>
            <a:ext cx="4114800" cy="292608"/>
          </a:xfrm>
          <a:prstGeom prst="rect">
            <a:avLst/>
          </a:prstGeom>
          <a:solidFill>
            <a:srgbClr val="C223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773168" y="4064508"/>
            <a:ext cx="389534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Arial"/>
              </a:rPr>
              <a:t>GAP 2 — DISTRIBUTION: no route intelligence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91456" y="4407408"/>
            <a:ext cx="3858768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333333"/>
                </a:solidFill>
                <a:latin typeface="Arial"/>
              </a:rPr>
              <a:t>•  Static, driver-memory routes</a:t>
            </a:r>
            <a:r>
              <a:rPr sz="750" b="0" i="0">
                <a:solidFill>
                  <a:srgbClr val="333333"/>
                </a:solidFill>
                <a:latin typeface="Arial"/>
              </a:rPr>
              <a:t> — 15–30 min past the lunch bell means children stay hungry all day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333333"/>
                </a:solidFill>
                <a:latin typeface="Arial"/>
              </a:rPr>
              <a:t>•  No telematics</a:t>
            </a:r>
            <a:r>
              <a:rPr sz="750" b="0" i="0">
                <a:solidFill>
                  <a:srgbClr val="333333"/>
                </a:solidFill>
                <a:latin typeface="Arial"/>
              </a:rPr>
              <a:t> — vessels &amp; utensils untracked; losses recur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333333"/>
                </a:solidFill>
                <a:latin typeface="Arial"/>
              </a:rPr>
              <a:t>•  Adulteration / diversion risk</a:t>
            </a:r>
            <a:r>
              <a:rPr sz="750" b="0" i="0">
                <a:solidFill>
                  <a:srgbClr val="333333"/>
                </a:solidFill>
                <a:latin typeface="Arial"/>
              </a:rPr>
              <a:t> — unsealed vans can be offloaded at roadside dhabas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333333"/>
                </a:solidFill>
                <a:latin typeface="Arial"/>
              </a:rPr>
              <a:t>•  No proof-of-delivery</a:t>
            </a:r>
            <a:r>
              <a:rPr sz="750" b="0" i="0">
                <a:solidFill>
                  <a:srgbClr val="333333"/>
                </a:solidFill>
                <a:latin typeface="Arial"/>
              </a:rPr>
              <a:t> — school shortfall disputes unresolved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333333"/>
                </a:solidFill>
                <a:latin typeface="Arial"/>
              </a:rPr>
              <a:t>•  Result: </a:t>
            </a:r>
            <a:r>
              <a:rPr sz="750" b="0" i="0">
                <a:solidFill>
                  <a:srgbClr val="333333"/>
                </a:solidFill>
                <a:latin typeface="Arial"/>
              </a:rPr>
              <a:t>missed lunch windows, fuel burn, shrinkage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1B3E6E"/>
                </a:solidFill>
                <a:latin typeface="Arial"/>
              </a:rPr>
              <a:t>→ addressed by Solution 2 ($100k)</a:t>
            </a:r>
          </a:p>
        </p:txBody>
      </p:sp>
      <p:cxnSp>
        <p:nvCxnSpPr>
          <p:cNvPr id="36" name="Connector 35"/>
          <p:cNvCxnSpPr/>
          <p:nvPr/>
        </p:nvCxnSpPr>
        <p:spPr>
          <a:xfrm flipH="1" flipV="1">
            <a:off x="1051560" y="3410712"/>
            <a:ext cx="45720" cy="612648"/>
          </a:xfrm>
          <a:prstGeom prst="curvedConnector3">
            <a:avLst/>
          </a:prstGeom>
          <a:ln w="15875">
            <a:solidFill>
              <a:srgbClr val="C22310"/>
            </a:solidFill>
            <a:prstDash val="sys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H="1" flipV="1">
            <a:off x="8092440" y="3410712"/>
            <a:ext cx="137160" cy="612648"/>
          </a:xfrm>
          <a:prstGeom prst="curvedConnector3">
            <a:avLst/>
          </a:prstGeom>
          <a:ln w="15875">
            <a:solidFill>
              <a:srgbClr val="C22310"/>
            </a:solidFill>
            <a:prstDash val="sys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8412480" cy="23774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8412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B3E6E"/>
                </a:solidFill>
                <a:latin typeface="Georgia"/>
              </a:rPr>
              <a:t>Our proposal — $250k deployed on the first &amp; last mile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22960"/>
            <a:ext cx="84124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33333"/>
                </a:solidFill>
                <a:latin typeface="Arial"/>
              </a:rPr>
              <a:t>Two targeted, technology-led interventions that convert the grant into permanent capability — not one year of operating expense.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071616"/>
            <a:ext cx="8138159" cy="36576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071616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B3E6E"/>
                </a:solidFill>
                <a:latin typeface="Georgia"/>
              </a:rPr>
              <a:t>Not funding a year of operations — installing a permanent upgrade that pays for itself, every year.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1280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Goldman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Sachs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6528816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727375"/>
                </a:solidFill>
                <a:latin typeface="Arial"/>
              </a:rPr>
              <a:t>3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380744"/>
            <a:ext cx="54864" cy="182880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2064" y="1353312"/>
            <a:ext cx="82661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E6E"/>
                </a:solidFill>
                <a:latin typeface="Arial"/>
              </a:rPr>
              <a:t>Allocation of the $250,000 grant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627632"/>
            <a:ext cx="8412480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1773936"/>
            <a:ext cx="4882895" cy="438912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385815" y="1773936"/>
            <a:ext cx="3255263" cy="438912"/>
          </a:xfrm>
          <a:prstGeom prst="rect">
            <a:avLst/>
          </a:prstGeom>
          <a:solidFill>
            <a:srgbClr val="398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1773936"/>
            <a:ext cx="4882895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Arial"/>
              </a:rPr>
              <a:t>$150k — Solution 1: Predictive demand planning (60%)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85815" y="1773936"/>
            <a:ext cx="3255263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Arial"/>
              </a:rPr>
              <a:t>$100k — Solution 2:
Smart distribution (40%)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2258568"/>
            <a:ext cx="48828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727375"/>
                </a:solidFill>
                <a:latin typeface="Arial"/>
              </a:rPr>
              <a:t>Fixes the costliest gap first: waste &amp; procurement inefficiency at source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85815" y="2258568"/>
            <a:ext cx="325526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727375"/>
                </a:solidFill>
                <a:latin typeface="Arial"/>
              </a:rPr>
              <a:t>Every meal on time, intact &amp; untouched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61688" y="2715768"/>
            <a:ext cx="10972" cy="150876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" y="2697479"/>
            <a:ext cx="54864" cy="182880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2064" y="2670048"/>
            <a:ext cx="38953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3E6E"/>
                </a:solidFill>
                <a:latin typeface="Arial"/>
              </a:rPr>
              <a:t>Solution 1 — “Annapurna AI” · $150k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944368"/>
            <a:ext cx="4041648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3035808"/>
            <a:ext cx="4041648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80" b="1" i="0">
                <a:solidFill>
                  <a:srgbClr val="1B3E6E"/>
                </a:solidFill>
                <a:latin typeface="Arial"/>
              </a:rPr>
              <a:t>What: </a:t>
            </a:r>
            <a:r>
              <a:rPr sz="780" b="0" i="0">
                <a:solidFill>
                  <a:srgbClr val="333333"/>
                </a:solidFill>
                <a:latin typeface="Arial"/>
              </a:rPr>
              <a:t>ML demand-forecasting &amp; procurement-planning platform across all 68 kitchens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80" b="1" i="0">
                <a:solidFill>
                  <a:srgbClr val="1B3E6E"/>
                </a:solidFill>
                <a:latin typeface="Arial"/>
              </a:rPr>
              <a:t>How: </a:t>
            </a:r>
            <a:r>
              <a:rPr sz="780" b="0" i="0">
                <a:solidFill>
                  <a:srgbClr val="333333"/>
                </a:solidFill>
                <a:latin typeface="Arial"/>
              </a:rPr>
              <a:t>predicts school-level attendance from history, calendars &amp; seasonality; auto-generates indents and forward procurement schedules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1B3E6E"/>
                </a:solidFill>
                <a:latin typeface="Arial"/>
              </a:rPr>
              <a:t>Impact: </a:t>
            </a:r>
            <a:r>
              <a:rPr sz="780" b="0" i="0">
                <a:solidFill>
                  <a:srgbClr val="333333"/>
                </a:solidFill>
                <a:latin typeface="Arial"/>
              </a:rPr>
              <a:t>cuts food waste ~70%, buys ahead of price spikes</a:t>
            </a:r>
            <a:r>
              <a:rPr sz="780" b="1" i="0">
                <a:solidFill>
                  <a:srgbClr val="398025"/>
                </a:solidFill>
                <a:latin typeface="Arial"/>
              </a:rPr>
              <a:t>  →  est. $230k saved / yr [dummy]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90288" y="2697479"/>
            <a:ext cx="54864" cy="182880"/>
          </a:xfrm>
          <a:prstGeom prst="rect">
            <a:avLst/>
          </a:prstGeom>
          <a:solidFill>
            <a:srgbClr val="398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36592" y="2670048"/>
            <a:ext cx="40416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3E6E"/>
                </a:solidFill>
                <a:latin typeface="Arial"/>
              </a:rPr>
              <a:t>Solution 2 — “Last-Mile Shield” · $100k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90288" y="2944368"/>
            <a:ext cx="4187952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90288" y="3035808"/>
            <a:ext cx="4187952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80" b="1" i="0">
                <a:solidFill>
                  <a:srgbClr val="1B3E6E"/>
                </a:solidFill>
                <a:latin typeface="Arial"/>
              </a:rPr>
              <a:t>What: </a:t>
            </a:r>
            <a:r>
              <a:rPr sz="780" b="0" i="0">
                <a:solidFill>
                  <a:srgbClr val="333333"/>
                </a:solidFill>
                <a:latin typeface="Arial"/>
              </a:rPr>
              <a:t>AI route optimisation + van telematics (GPS, cameras, RFID tags) + geofenced smart locks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80" b="1" i="0">
                <a:solidFill>
                  <a:srgbClr val="1B3E6E"/>
                </a:solidFill>
                <a:latin typeface="Arial"/>
              </a:rPr>
              <a:t>How: </a:t>
            </a:r>
            <a:r>
              <a:rPr sz="780" b="0" i="0">
                <a:solidFill>
                  <a:srgbClr val="333333"/>
                </a:solidFill>
                <a:latin typeface="Arial"/>
              </a:rPr>
              <a:t>routes sequenced to each school's lunch bell; van doors unlock only within 150 m of a registered school — no diversion, no adulteration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1B3E6E"/>
                </a:solidFill>
                <a:latin typeface="Arial"/>
              </a:rPr>
              <a:t>Impact: </a:t>
            </a:r>
            <a:r>
              <a:rPr sz="780" b="0" i="0">
                <a:solidFill>
                  <a:srgbClr val="333333"/>
                </a:solidFill>
                <a:latin typeface="Arial"/>
              </a:rPr>
              <a:t>99%+ on-time, −18% fleet km, zero shrinkage</a:t>
            </a:r>
            <a:r>
              <a:rPr sz="780" b="1" i="0">
                <a:solidFill>
                  <a:srgbClr val="398025"/>
                </a:solidFill>
                <a:latin typeface="Arial"/>
              </a:rPr>
              <a:t>  →  est. $80k saved / yr [dummy]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4187952"/>
            <a:ext cx="54864" cy="182880"/>
          </a:xfrm>
          <a:prstGeom prst="rect">
            <a:avLst/>
          </a:prstGeom>
          <a:solidFill>
            <a:srgbClr val="E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2064" y="4160520"/>
            <a:ext cx="82661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E6E"/>
                </a:solidFill>
                <a:latin typeface="Arial"/>
              </a:rPr>
              <a:t>The savings flywheel — how impact compounds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4434840"/>
            <a:ext cx="8412480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57200" y="4562856"/>
            <a:ext cx="1691640" cy="47548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875">
            <a:solidFill>
              <a:srgbClr val="1B3E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4581144"/>
            <a:ext cx="16916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1B3E6E"/>
                </a:solidFill>
                <a:latin typeface="Arial"/>
              </a:rPr>
              <a:t>Grant funds
tech — once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560320" y="4562856"/>
            <a:ext cx="1691640" cy="47548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875">
            <a:solidFill>
              <a:srgbClr val="3980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560320" y="4581144"/>
            <a:ext cx="16916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398025"/>
                </a:solidFill>
                <a:latin typeface="Arial"/>
              </a:rPr>
              <a:t>Savings of
$310k / yr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663440" y="4562856"/>
            <a:ext cx="1691640" cy="47548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875">
            <a:solidFill>
              <a:srgbClr val="E08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663440" y="4581144"/>
            <a:ext cx="16916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E08A1E"/>
                </a:solidFill>
                <a:latin typeface="Arial"/>
              </a:rPr>
              <a:t>Reinvested in
more meals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766560" y="4562856"/>
            <a:ext cx="1691640" cy="47548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875">
            <a:solidFill>
              <a:srgbClr val="3B6E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766560" y="4581144"/>
            <a:ext cx="16916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3B6EA5"/>
                </a:solidFill>
                <a:latin typeface="Arial"/>
              </a:rPr>
              <a:t>More data →
better models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2185416" y="4800600"/>
            <a:ext cx="338328" cy="0"/>
          </a:xfrm>
          <a:prstGeom prst="line">
            <a:avLst/>
          </a:prstGeom>
          <a:ln w="13970">
            <a:solidFill>
              <a:srgbClr val="727375"/>
            </a:solidFill>
            <a:prstDash val="sys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4288536" y="4800600"/>
            <a:ext cx="338328" cy="0"/>
          </a:xfrm>
          <a:prstGeom prst="line">
            <a:avLst/>
          </a:prstGeom>
          <a:ln w="13970">
            <a:solidFill>
              <a:srgbClr val="727375"/>
            </a:solidFill>
            <a:prstDash val="sys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6391656" y="4800600"/>
            <a:ext cx="338328" cy="0"/>
          </a:xfrm>
          <a:prstGeom prst="line">
            <a:avLst/>
          </a:prstGeom>
          <a:ln w="13970">
            <a:solidFill>
              <a:srgbClr val="727375"/>
            </a:solidFill>
            <a:prstDash val="sys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365760" y="5074920"/>
            <a:ext cx="8412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1">
                <a:solidFill>
                  <a:srgbClr val="727375"/>
                </a:solidFill>
                <a:latin typeface="Arial"/>
              </a:rPr>
              <a:t>…and the cycle repeats — every year, without further funding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65760" y="5276088"/>
            <a:ext cx="54864" cy="182880"/>
          </a:xfrm>
          <a:prstGeom prst="rect">
            <a:avLst/>
          </a:prstGeom>
          <a:solidFill>
            <a:srgbClr val="398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12064" y="5248656"/>
            <a:ext cx="82661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E6E"/>
                </a:solidFill>
                <a:latin typeface="Arial"/>
              </a:rPr>
              <a:t>What the grant unlocks — every year, in perpetuity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65760" y="5522976"/>
            <a:ext cx="8412480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5760" y="5559552"/>
            <a:ext cx="168249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 i="0">
                <a:solidFill>
                  <a:srgbClr val="1B3E6E"/>
                </a:solidFill>
                <a:latin typeface="Arial"/>
              </a:rPr>
              <a:t>$310k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727375"/>
                </a:solidFill>
                <a:latin typeface="Arial"/>
              </a:rPr>
              <a:t>combined annual
savings (1.24x grant)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048255" y="5559552"/>
            <a:ext cx="168249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 i="0">
                <a:solidFill>
                  <a:srgbClr val="1B3E6E"/>
                </a:solidFill>
                <a:latin typeface="Arial"/>
              </a:rPr>
              <a:t>+105,000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727375"/>
                </a:solidFill>
                <a:latin typeface="Arial"/>
              </a:rPr>
              <a:t>additional children
fed per year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730752" y="5559552"/>
            <a:ext cx="168249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 i="0">
                <a:solidFill>
                  <a:srgbClr val="1B3E6E"/>
                </a:solidFill>
                <a:latin typeface="Arial"/>
              </a:rPr>
              <a:t>~70%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727375"/>
                </a:solidFill>
                <a:latin typeface="Arial"/>
              </a:rPr>
              <a:t>reduction in
food wastage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13248" y="5559552"/>
            <a:ext cx="168249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 i="0">
                <a:solidFill>
                  <a:srgbClr val="1B3E6E"/>
                </a:solidFill>
                <a:latin typeface="Arial"/>
              </a:rPr>
              <a:t>99%+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727375"/>
                </a:solidFill>
                <a:latin typeface="Arial"/>
              </a:rPr>
              <a:t>meals inside the
lunch window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95744" y="5559552"/>
            <a:ext cx="168249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 i="0">
                <a:solidFill>
                  <a:srgbClr val="1B3E6E"/>
                </a:solidFill>
                <a:latin typeface="Arial"/>
              </a:rPr>
              <a:t>&lt;10 mo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727375"/>
                </a:solidFill>
                <a:latin typeface="Arial"/>
              </a:rPr>
              <a:t>payback on the
full $250k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8412480" cy="23774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8412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B3E6E"/>
                </a:solidFill>
                <a:latin typeface="Georgia"/>
              </a:rPr>
              <a:t>Solution 1 — “Annapurna AI”: predict demand, buy smart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22960"/>
            <a:ext cx="84124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33333"/>
                </a:solidFill>
                <a:latin typeface="Arial"/>
              </a:rPr>
              <a:t>$150k builds a demand-forecasting and procurement-planning engine that ends over-production and peak-price buying across all 68 kitchens.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071616"/>
            <a:ext cx="8138159" cy="36576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071616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B3E6E"/>
                </a:solidFill>
                <a:latin typeface="Georgia"/>
              </a:rPr>
              <a:t>Every rupee not wasted is a meal served — forecasting turns waste into 105,000 more children fed each year.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1280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Goldman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Sachs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6528816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727375"/>
                </a:solidFill>
                <a:latin typeface="Arial"/>
              </a:rPr>
              <a:t>4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380744"/>
            <a:ext cx="54864" cy="182880"/>
          </a:xfrm>
          <a:prstGeom prst="rect">
            <a:avLst/>
          </a:prstGeom>
          <a:solidFill>
            <a:srgbClr val="C223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2064" y="1353312"/>
            <a:ext cx="30083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E6E"/>
                </a:solidFill>
                <a:latin typeface="Arial"/>
              </a:rPr>
              <a:t>The problem today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627632"/>
            <a:ext cx="3154680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1719072"/>
            <a:ext cx="315468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60" b="1" i="0">
                <a:solidFill>
                  <a:srgbClr val="333333"/>
                </a:solidFill>
                <a:latin typeface="Arial"/>
              </a:rPr>
              <a:t>•  Manual, gut-feel indenting</a:t>
            </a:r>
            <a:r>
              <a:rPr sz="760" b="0" i="0">
                <a:solidFill>
                  <a:srgbClr val="333333"/>
                </a:solidFill>
                <a:latin typeface="Arial"/>
              </a:rPr>
              <a:t> 3 days ahead — blind to attendance swings &amp; holidays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60" b="1" i="0">
                <a:solidFill>
                  <a:srgbClr val="333333"/>
                </a:solidFill>
                <a:latin typeface="Arial"/>
              </a:rPr>
              <a:t>•  Spot purchases</a:t>
            </a:r>
            <a:r>
              <a:rPr sz="760" b="0" i="0">
                <a:solidFill>
                  <a:srgbClr val="333333"/>
                </a:solidFill>
                <a:latin typeface="Arial"/>
              </a:rPr>
              <a:t> at mandi peak prices when stocks run short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333333"/>
                </a:solidFill>
                <a:latin typeface="Arial"/>
              </a:rPr>
              <a:t>•  No feedback loop</a:t>
            </a:r>
            <a:r>
              <a:rPr sz="760" b="0" i="0">
                <a:solidFill>
                  <a:srgbClr val="333333"/>
                </a:solidFill>
                <a:latin typeface="Arial"/>
              </a:rPr>
              <a:t> from schools on actual meal uptake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51760"/>
            <a:ext cx="15773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C22310"/>
                </a:solidFill>
                <a:latin typeface="Arial"/>
              </a:rPr>
              <a:t>8–10%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727375"/>
                </a:solidFill>
                <a:latin typeface="Arial"/>
              </a:rPr>
              <a:t>meals over-produced
&amp; wasted [dummy]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43100" y="2651760"/>
            <a:ext cx="15773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C22310"/>
                </a:solidFill>
                <a:latin typeface="Arial"/>
              </a:rPr>
              <a:t>+12%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727375"/>
                </a:solidFill>
                <a:latin typeface="Arial"/>
              </a:rPr>
              <a:t>paid over plan on
spot buys [dummy]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227832"/>
            <a:ext cx="54864" cy="182880"/>
          </a:xfrm>
          <a:prstGeom prst="rect">
            <a:avLst/>
          </a:prstGeom>
          <a:solidFill>
            <a:srgbClr val="E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" y="3200400"/>
            <a:ext cx="30083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E6E"/>
                </a:solidFill>
                <a:latin typeface="Arial"/>
              </a:rPr>
              <a:t>Rollout plan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474720"/>
            <a:ext cx="3154680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3566160"/>
            <a:ext cx="31546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40" b="1" i="0">
                <a:solidFill>
                  <a:srgbClr val="1B3E6E"/>
                </a:solidFill>
                <a:latin typeface="Arial"/>
              </a:rPr>
              <a:t>Mo 1–4: </a:t>
            </a:r>
            <a:r>
              <a:rPr sz="740" b="0" i="0">
                <a:solidFill>
                  <a:srgbClr val="333333"/>
                </a:solidFill>
                <a:latin typeface="Arial"/>
              </a:rPr>
              <a:t>pilot in 3 Bengaluru kitchens; baseline waste audit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40" b="1" i="0">
                <a:solidFill>
                  <a:srgbClr val="1B3E6E"/>
                </a:solidFill>
                <a:latin typeface="Arial"/>
              </a:rPr>
              <a:t>Mo 5–8: </a:t>
            </a:r>
            <a:r>
              <a:rPr sz="740" b="0" i="0">
                <a:solidFill>
                  <a:srgbClr val="333333"/>
                </a:solidFill>
                <a:latin typeface="Arial"/>
              </a:rPr>
              <a:t>model tuning; procurement-ERP integration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1B3E6E"/>
                </a:solidFill>
                <a:latin typeface="Arial"/>
              </a:rPr>
              <a:t>Mo 9–12: </a:t>
            </a:r>
            <a:r>
              <a:rPr sz="740" b="0" i="0">
                <a:solidFill>
                  <a:srgbClr val="333333"/>
                </a:solidFill>
                <a:latin typeface="Arial"/>
              </a:rPr>
              <a:t>scale to all 68 kitchens; hand over to in-house tech team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4361688"/>
            <a:ext cx="54864" cy="182880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2064" y="4334256"/>
            <a:ext cx="30083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3E6E"/>
                </a:solidFill>
                <a:latin typeface="Arial"/>
              </a:rPr>
              <a:t>Food waste — % of production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608576"/>
            <a:ext cx="3154680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22" name="Chart 21"/>
          <p:cNvGraphicFramePr>
            <a:graphicFrameLocks noGrp="1"/>
          </p:cNvGraphicFramePr>
          <p:nvPr/>
        </p:nvGraphicFramePr>
        <p:xfrm>
          <a:off x="365760" y="4700016"/>
          <a:ext cx="3154680" cy="1188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3" name="Rectangle 22"/>
          <p:cNvSpPr/>
          <p:nvPr/>
        </p:nvSpPr>
        <p:spPr>
          <a:xfrm>
            <a:off x="3611880" y="1417320"/>
            <a:ext cx="10972" cy="448056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794760" y="1380744"/>
            <a:ext cx="54864" cy="182880"/>
          </a:xfrm>
          <a:prstGeom prst="rect">
            <a:avLst/>
          </a:prstGeom>
          <a:solidFill>
            <a:srgbClr val="3B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941064" y="1353312"/>
            <a:ext cx="48371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E6E"/>
                </a:solidFill>
                <a:latin typeface="Arial"/>
              </a:rPr>
              <a:t>How it works — from signals to indents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94760" y="1627632"/>
            <a:ext cx="4983479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794760" y="1755648"/>
            <a:ext cx="4983479" cy="603504"/>
          </a:xfrm>
          <a:prstGeom prst="roundRect">
            <a:avLst>
              <a:gd name="adj" fmla="val 8000"/>
            </a:avLst>
          </a:prstGeom>
          <a:solidFill>
            <a:srgbClr val="EEF3F9"/>
          </a:solidFill>
          <a:ln w="11430">
            <a:solidFill>
              <a:srgbClr val="3B6E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904488" y="1801368"/>
            <a:ext cx="4764023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1B3E6E"/>
                </a:solidFill>
                <a:latin typeface="Arial"/>
              </a:rPr>
              <a:t>1 · DATA INPUTS   </a:t>
            </a:r>
            <a:r>
              <a:rPr sz="740" b="0" i="0">
                <a:solidFill>
                  <a:srgbClr val="333333"/>
                </a:solidFill>
                <a:latin typeface="Arial"/>
              </a:rPr>
              <a:t>school attendance feeds • academic calendars &amp; holidays • menu cycles • mandi price APIs • weather &amp; seasonality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286500" y="2377440"/>
            <a:ext cx="0" cy="164592"/>
          </a:xfrm>
          <a:prstGeom prst="line">
            <a:avLst/>
          </a:prstGeom>
          <a:ln w="15875">
            <a:solidFill>
              <a:srgbClr val="3B6EA5"/>
            </a:solidFill>
            <a:prstDash val="sys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3794760" y="2560320"/>
            <a:ext cx="4983479" cy="603504"/>
          </a:xfrm>
          <a:prstGeom prst="roundRect">
            <a:avLst>
              <a:gd name="adj" fmla="val 8000"/>
            </a:avLst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04488" y="2606040"/>
            <a:ext cx="4764023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FFFFFF"/>
                </a:solidFill>
                <a:latin typeface="Arial"/>
              </a:rPr>
              <a:t>2 · ML FORECASTING ENGINE   </a:t>
            </a:r>
            <a:r>
              <a:rPr sz="740" b="0" i="0">
                <a:solidFill>
                  <a:srgbClr val="FFFFFF"/>
                </a:solidFill>
                <a:latin typeface="Arial"/>
              </a:rPr>
              <a:t>kitchen-wise meal-demand prediction (±2% target) • price-trend models flag the cheapest buying windows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286500" y="3182112"/>
            <a:ext cx="0" cy="164592"/>
          </a:xfrm>
          <a:prstGeom prst="line">
            <a:avLst/>
          </a:prstGeom>
          <a:ln w="15875">
            <a:solidFill>
              <a:srgbClr val="3B6EA5"/>
            </a:solidFill>
            <a:prstDash val="sys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3794760" y="3364991"/>
            <a:ext cx="4983479" cy="731520"/>
          </a:xfrm>
          <a:prstGeom prst="roundRect">
            <a:avLst>
              <a:gd name="adj" fmla="val 8000"/>
            </a:avLst>
          </a:prstGeom>
          <a:solidFill>
            <a:srgbClr val="EAF3E6"/>
          </a:solidFill>
          <a:ln w="11430">
            <a:solidFill>
              <a:srgbClr val="3980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04488" y="3419856"/>
            <a:ext cx="4764023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398025"/>
                </a:solidFill>
                <a:latin typeface="Arial"/>
              </a:rPr>
              <a:t>3 · OUTPUTS   </a:t>
            </a:r>
            <a:r>
              <a:rPr sz="740" b="0" i="0">
                <a:solidFill>
                  <a:srgbClr val="333333"/>
                </a:solidFill>
                <a:latin typeface="Arial"/>
              </a:rPr>
              <a:t>auto-generated daily indents per kitchen • forward procurement schedule &amp; contract calendar • live waste dashboard • monthly savings report to donors (incl. GS)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794760" y="4361688"/>
            <a:ext cx="54864" cy="182880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941064" y="4334256"/>
            <a:ext cx="236829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B3E6E"/>
                </a:solidFill>
                <a:latin typeface="Arial"/>
              </a:rPr>
              <a:t>Where the $150k goes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794760" y="4608576"/>
            <a:ext cx="2514600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38" name="Chart 37"/>
          <p:cNvGraphicFramePr>
            <a:graphicFrameLocks noGrp="1"/>
          </p:cNvGraphicFramePr>
          <p:nvPr/>
        </p:nvGraphicFramePr>
        <p:xfrm>
          <a:off x="3749040" y="4663440"/>
          <a:ext cx="2606040" cy="13533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39" name="Rectangle 38"/>
          <p:cNvSpPr/>
          <p:nvPr/>
        </p:nvSpPr>
        <p:spPr>
          <a:xfrm>
            <a:off x="6537960" y="4361688"/>
            <a:ext cx="54864" cy="182880"/>
          </a:xfrm>
          <a:prstGeom prst="rect">
            <a:avLst/>
          </a:prstGeom>
          <a:solidFill>
            <a:srgbClr val="398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84264" y="4334256"/>
            <a:ext cx="20939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B3E6E"/>
                </a:solidFill>
                <a:latin typeface="Arial"/>
              </a:rPr>
              <a:t>Annual savings ($k)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37960" y="4608576"/>
            <a:ext cx="2240279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2" name="Chart 41"/>
          <p:cNvGraphicFramePr>
            <a:graphicFrameLocks noGrp="1"/>
          </p:cNvGraphicFramePr>
          <p:nvPr/>
        </p:nvGraphicFramePr>
        <p:xfrm>
          <a:off x="6492240" y="4700016"/>
          <a:ext cx="2331719" cy="1170432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43" name="TextBox 42"/>
          <p:cNvSpPr txBox="1"/>
          <p:nvPr/>
        </p:nvSpPr>
        <p:spPr>
          <a:xfrm>
            <a:off x="6492240" y="5907024"/>
            <a:ext cx="233171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398025"/>
                </a:solidFill>
                <a:latin typeface="Arial"/>
              </a:rPr>
              <a:t>= $230k/yr → +105,000 children [dummy]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8412480" cy="23774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8412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B3E6E"/>
                </a:solidFill>
                <a:latin typeface="Georgia"/>
              </a:rPr>
              <a:t>Solution 2 — “Last-Mile Shield”: on time, intact, untouched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22960"/>
            <a:ext cx="84124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33333"/>
                </a:solidFill>
                <a:latin typeface="Arial"/>
              </a:rPr>
              <a:t>$100k puts every van on an intelligent route and seals the last mile with telematics and geofenced locks — diversion becomes physically impossible.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071616"/>
            <a:ext cx="8138159" cy="36576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071616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B3E6E"/>
                </a:solidFill>
                <a:latin typeface="Georgia"/>
              </a:rPr>
              <a:t>Every meal arrives on time, intact and untouched — by design, not by luck.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1280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Goldman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Sachs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6528816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727375"/>
                </a:solidFill>
                <a:latin typeface="Arial"/>
              </a:rPr>
              <a:t>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380744"/>
            <a:ext cx="54864" cy="182880"/>
          </a:xfrm>
          <a:prstGeom prst="rect">
            <a:avLst/>
          </a:prstGeom>
          <a:solidFill>
            <a:srgbClr val="C223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2064" y="1353312"/>
            <a:ext cx="30083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E6E"/>
                </a:solidFill>
                <a:latin typeface="Arial"/>
              </a:rPr>
              <a:t>The problem today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627632"/>
            <a:ext cx="3154680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1719072"/>
            <a:ext cx="31546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60" b="1" i="0">
                <a:solidFill>
                  <a:srgbClr val="333333"/>
                </a:solidFill>
                <a:latin typeface="Arial"/>
              </a:rPr>
              <a:t>•  Missed lunch windows: </a:t>
            </a:r>
            <a:r>
              <a:rPr sz="760" b="0" i="0">
                <a:solidFill>
                  <a:srgbClr val="333333"/>
                </a:solidFill>
                <a:latin typeface="Arial"/>
              </a:rPr>
              <a:t>15–30 min late means children go hungry all day — non-negotiable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60" b="1" i="0">
                <a:solidFill>
                  <a:srgbClr val="333333"/>
                </a:solidFill>
                <a:latin typeface="Arial"/>
              </a:rPr>
              <a:t>•  Static routes</a:t>
            </a:r>
            <a:r>
              <a:rPr sz="760" b="0" i="0">
                <a:solidFill>
                  <a:srgbClr val="333333"/>
                </a:solidFill>
                <a:latin typeface="Arial"/>
              </a:rPr>
              <a:t> from driver memory — no live traffic, no lunch-bell sequencing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60" b="1" i="0">
                <a:solidFill>
                  <a:srgbClr val="333333"/>
                </a:solidFill>
                <a:latin typeface="Arial"/>
              </a:rPr>
              <a:t>•  Untracked vessels</a:t>
            </a:r>
            <a:r>
              <a:rPr sz="760" b="0" i="0">
                <a:solidFill>
                  <a:srgbClr val="333333"/>
                </a:solidFill>
                <a:latin typeface="Arial"/>
              </a:rPr>
              <a:t> leave daily with no tagging; losses recur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333333"/>
                </a:solidFill>
                <a:latin typeface="Arial"/>
              </a:rPr>
              <a:t>•  Open vans</a:t>
            </a:r>
            <a:r>
              <a:rPr sz="760" b="0" i="0">
                <a:solidFill>
                  <a:srgbClr val="333333"/>
                </a:solidFill>
                <a:latin typeface="Arial"/>
              </a:rPr>
              <a:t> — meals can be offloaded / adulterated at dhabas en route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3017520"/>
            <a:ext cx="15773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C22310"/>
                </a:solidFill>
                <a:latin typeface="Arial"/>
              </a:rPr>
              <a:t>6.2%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727375"/>
                </a:solidFill>
                <a:latin typeface="Arial"/>
              </a:rPr>
              <a:t>deliveries miss the
lunch window [dummy]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43100" y="3017520"/>
            <a:ext cx="15773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C22310"/>
                </a:solidFill>
                <a:latin typeface="Arial"/>
              </a:rPr>
              <a:t>$35k/yr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727375"/>
                </a:solidFill>
                <a:latin typeface="Arial"/>
              </a:rPr>
              <a:t>vessel &amp; shrinkage
losses [dummy]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666744"/>
            <a:ext cx="54864" cy="182880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" y="3639312"/>
            <a:ext cx="30083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B3E6E"/>
                </a:solidFill>
                <a:latin typeface="Arial"/>
              </a:rPr>
              <a:t>Route redesign — 1 hub, 40 schools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913632"/>
            <a:ext cx="3154680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5760" y="4023359"/>
            <a:ext cx="3154680" cy="1234440"/>
          </a:xfrm>
          <a:prstGeom prst="rect">
            <a:avLst/>
          </a:prstGeom>
          <a:solidFill>
            <a:srgbClr val="F2F2F2"/>
          </a:solidFill>
          <a:ln w="12700">
            <a:solidFill>
              <a:srgbClr val="7273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0624" y="4023359"/>
            <a:ext cx="3044952" cy="1234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727375"/>
                </a:solidFill>
                <a:latin typeface="Arial"/>
              </a:rPr>
              <a:t>🗺 MAP: before vs after routes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1">
                <a:solidFill>
                  <a:srgbClr val="727375"/>
                </a:solidFill>
                <a:latin typeface="Arial"/>
              </a:rPr>
              <a:t>(insert optimised-route schematic; −18% km)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5303520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398025"/>
                </a:solidFill>
                <a:latin typeface="Arial"/>
              </a:rPr>
              <a:t>3 vans freed per hub </a:t>
            </a:r>
            <a:r>
              <a:rPr sz="700" b="0" i="0">
                <a:solidFill>
                  <a:srgbClr val="333333"/>
                </a:solidFill>
                <a:latin typeface="Arial"/>
              </a:rPr>
              <a:t>→ redeployed to 12 new schools [dummy]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11880" y="1417320"/>
            <a:ext cx="10972" cy="448056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794760" y="1380744"/>
            <a:ext cx="54864" cy="182880"/>
          </a:xfrm>
          <a:prstGeom prst="rect">
            <a:avLst/>
          </a:prstGeom>
          <a:solidFill>
            <a:srgbClr val="398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941064" y="1353312"/>
            <a:ext cx="48371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E6E"/>
                </a:solidFill>
                <a:latin typeface="Arial"/>
              </a:rPr>
              <a:t>The fix — three integrated layers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94760" y="1627632"/>
            <a:ext cx="4983479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794760" y="1755648"/>
            <a:ext cx="4983479" cy="713232"/>
          </a:xfrm>
          <a:prstGeom prst="roundRect">
            <a:avLst>
              <a:gd name="adj" fmla="val 7000"/>
            </a:avLst>
          </a:prstGeom>
          <a:solidFill>
            <a:srgbClr val="EEF3F9"/>
          </a:solidFill>
          <a:ln w="11430">
            <a:solidFill>
              <a:srgbClr val="3B6E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904488" y="1810512"/>
            <a:ext cx="4764023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780" b="1" i="0">
                <a:solidFill>
                  <a:srgbClr val="1B3E6E"/>
                </a:solidFill>
                <a:latin typeface="Arial"/>
              </a:rPr>
              <a:t>1 · ROUTE INTELLIGENCE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333333"/>
                </a:solidFill>
                <a:latin typeface="Arial"/>
              </a:rPr>
              <a:t>AI planner sequences every drop to each school's lunch bell • live traffic re-routing • delay alerts to school + kitchen 30 min ahead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794760" y="2523744"/>
            <a:ext cx="4983479" cy="713232"/>
          </a:xfrm>
          <a:prstGeom prst="roundRect">
            <a:avLst>
              <a:gd name="adj" fmla="val 7000"/>
            </a:avLst>
          </a:prstGeom>
          <a:solidFill>
            <a:srgbClr val="FDF6E0"/>
          </a:solidFill>
          <a:ln w="11430">
            <a:solidFill>
              <a:srgbClr val="E08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904488" y="2578608"/>
            <a:ext cx="4764023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780" b="1" i="0">
                <a:solidFill>
                  <a:srgbClr val="1B3E6E"/>
                </a:solidFill>
                <a:latin typeface="Arial"/>
              </a:rPr>
              <a:t>2 · VEHICLE TELEMATICS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333333"/>
                </a:solidFill>
                <a:latin typeface="Arial"/>
              </a:rPr>
              <a:t>GPS + in-van cameras on every vehicle • RFID tags on all vessels &amp; utensils • automated end-of-day reconciliation — zero missing inventory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794760" y="3291839"/>
            <a:ext cx="4983479" cy="713232"/>
          </a:xfrm>
          <a:prstGeom prst="roundRect">
            <a:avLst>
              <a:gd name="adj" fmla="val 7000"/>
            </a:avLst>
          </a:prstGeom>
          <a:solidFill>
            <a:srgbClr val="EAF3E6"/>
          </a:solidFill>
          <a:ln w="11430">
            <a:solidFill>
              <a:srgbClr val="3980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904488" y="3346703"/>
            <a:ext cx="4764023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780" b="1" i="0">
                <a:solidFill>
                  <a:srgbClr val="1B3E6E"/>
                </a:solidFill>
                <a:latin typeface="Arial"/>
              </a:rPr>
              <a:t>3 · GEOFENCED INTEGRITY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333333"/>
                </a:solidFill>
                <a:latin typeface="Arial"/>
              </a:rPr>
              <a:t>Smart-locked doors open only within 150 m of a registered school • real-time tamper alerts • en-route offloading &amp; adulteration made impossible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94760" y="4078223"/>
            <a:ext cx="49834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B3E6E"/>
                </a:solidFill>
                <a:latin typeface="Arial"/>
              </a:rPr>
              <a:t>After implementation:  </a:t>
            </a:r>
            <a:r>
              <a:rPr sz="819" b="1" i="0">
                <a:solidFill>
                  <a:srgbClr val="398025"/>
                </a:solidFill>
                <a:latin typeface="Arial"/>
              </a:rPr>
              <a:t>99.5% in lunch window   ·   −18% fleet km   ·   0 unaccounted vessels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794760" y="4361688"/>
            <a:ext cx="54864" cy="182880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41064" y="4334256"/>
            <a:ext cx="236829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B3E6E"/>
                </a:solidFill>
                <a:latin typeface="Arial"/>
              </a:rPr>
              <a:t>Where the $100k goes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794760" y="4608576"/>
            <a:ext cx="2514600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35" name="Chart 34"/>
          <p:cNvGraphicFramePr>
            <a:graphicFrameLocks noGrp="1"/>
          </p:cNvGraphicFramePr>
          <p:nvPr/>
        </p:nvGraphicFramePr>
        <p:xfrm>
          <a:off x="3749040" y="4663440"/>
          <a:ext cx="2606040" cy="135331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6" name="Rectangle 35"/>
          <p:cNvSpPr/>
          <p:nvPr/>
        </p:nvSpPr>
        <p:spPr>
          <a:xfrm>
            <a:off x="6537960" y="4361688"/>
            <a:ext cx="54864" cy="182880"/>
          </a:xfrm>
          <a:prstGeom prst="rect">
            <a:avLst/>
          </a:prstGeom>
          <a:solidFill>
            <a:srgbClr val="398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84264" y="4334256"/>
            <a:ext cx="20939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B3E6E"/>
                </a:solidFill>
                <a:latin typeface="Arial"/>
              </a:rPr>
              <a:t>Annual savings ($k)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37960" y="4608576"/>
            <a:ext cx="2240279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39" name="Chart 38"/>
          <p:cNvGraphicFramePr>
            <a:graphicFrameLocks noGrp="1"/>
          </p:cNvGraphicFramePr>
          <p:nvPr/>
        </p:nvGraphicFramePr>
        <p:xfrm>
          <a:off x="6492240" y="4700016"/>
          <a:ext cx="2331719" cy="117043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0" name="TextBox 39"/>
          <p:cNvSpPr txBox="1"/>
          <p:nvPr/>
        </p:nvSpPr>
        <p:spPr>
          <a:xfrm>
            <a:off x="6492240" y="5907024"/>
            <a:ext cx="233171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398025"/>
                </a:solidFill>
                <a:latin typeface="Arial"/>
              </a:rPr>
              <a:t>= $80k/yr + trust that is priceless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8412480" cy="23774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8412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B3E6E"/>
                </a:solidFill>
                <a:latin typeface="Georgia"/>
              </a:rPr>
              <a:t>Conclusion — why Akshaya Patra, and why this proposal wins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22960"/>
            <a:ext cx="84124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33333"/>
                </a:solidFill>
                <a:latin typeface="Arial"/>
              </a:rPr>
              <a:t>A proven engine of social mobility, a grant that compounds instead of depletes, and a partnership only Goldman Sachs can power.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071616"/>
            <a:ext cx="8138159" cy="36576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071616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B3E6E"/>
                </a:solidFill>
                <a:latin typeface="Georgia"/>
              </a:rPr>
              <a:t>$250k that doesn't feed children for a year — it upgrades the engine that feeds them forever.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1280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Goldman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Sachs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6528816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727375"/>
                </a:solidFill>
                <a:latin typeface="Arial"/>
              </a:rPr>
              <a:t>6</a:t>
            </a:r>
          </a:p>
        </p:txBody>
      </p:sp>
      <p:sp>
        <p:nvSpPr>
          <p:cNvPr id="9" name="Rectangle 8"/>
          <p:cNvSpPr/>
          <p:nvPr/>
        </p:nvSpPr>
        <p:spPr>
          <a:xfrm>
            <a:off x="4361688" y="1417320"/>
            <a:ext cx="10972" cy="448056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1380744"/>
            <a:ext cx="54864" cy="182880"/>
          </a:xfrm>
          <a:prstGeom prst="rect">
            <a:avLst/>
          </a:prstGeom>
          <a:solidFill>
            <a:srgbClr val="E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353312"/>
            <a:ext cx="38953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E6E"/>
                </a:solidFill>
                <a:latin typeface="Arial"/>
              </a:rPr>
              <a:t>Proven pathway out of poverty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1627632"/>
            <a:ext cx="4041648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5760" y="1737360"/>
            <a:ext cx="868680" cy="1005840"/>
          </a:xfrm>
          <a:prstGeom prst="rect">
            <a:avLst/>
          </a:prstGeom>
          <a:solidFill>
            <a:srgbClr val="F2F2F2"/>
          </a:solidFill>
          <a:ln w="12700">
            <a:solidFill>
              <a:srgbClr val="7273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624" y="1737360"/>
            <a:ext cx="758952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727375"/>
                </a:solidFill>
                <a:latin typeface="Arial"/>
              </a:rPr>
              <a:t>📷
Krishna
Kumar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353312" y="1737360"/>
            <a:ext cx="3054096" cy="1005840"/>
          </a:xfrm>
          <a:prstGeom prst="roundRect">
            <a:avLst>
              <a:gd name="adj" fmla="val 10000"/>
            </a:avLst>
          </a:prstGeom>
          <a:solidFill>
            <a:srgbClr val="FDF6E0"/>
          </a:solidFill>
          <a:ln w="11430">
            <a:solidFill>
              <a:srgbClr val="E08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63040" y="1801368"/>
            <a:ext cx="2852928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40" b="0" i="1">
                <a:solidFill>
                  <a:srgbClr val="333333"/>
                </a:solidFill>
                <a:latin typeface="Arial"/>
              </a:rPr>
              <a:t>“The mid-day meal was the reason I stayed in school. Today I manage portfolios instead of an empty stomach.”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1B3E6E"/>
                </a:solidFill>
                <a:latin typeface="Arial"/>
              </a:rPr>
              <a:t>— Krishna Kumar, </a:t>
            </a:r>
            <a:r>
              <a:rPr sz="700" b="0" i="0">
                <a:solidFill>
                  <a:srgbClr val="727375"/>
                </a:solidFill>
                <a:latin typeface="Arial"/>
              </a:rPr>
              <a:t>AVP, HSBC — former mid-day meal beneficiary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2852928"/>
            <a:ext cx="4041648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1B3E6E"/>
                </a:solidFill>
                <a:latin typeface="Arial"/>
              </a:rPr>
              <a:t>Beneficiary outcomes [dummy]:  </a:t>
            </a:r>
            <a:r>
              <a:rPr sz="760" b="0" i="0">
                <a:solidFill>
                  <a:srgbClr val="333333"/>
                </a:solidFill>
                <a:latin typeface="Arial"/>
              </a:rPr>
              <a:t>+18% enrolment &amp; +12% attendance after programme entry  ·  </a:t>
            </a:r>
            <a:r>
              <a:rPr sz="760" b="1" i="0">
                <a:solidFill>
                  <a:srgbClr val="333333"/>
                </a:solidFill>
                <a:latin typeface="Arial"/>
              </a:rPr>
              <a:t>92% secondary completion</a:t>
            </a:r>
            <a:r>
              <a:rPr sz="760" b="0" i="0">
                <a:solidFill>
                  <a:srgbClr val="333333"/>
                </a:solidFill>
                <a:latin typeface="Arial"/>
              </a:rPr>
              <a:t> vs 74% national avg  ·  alumni across banking, engineering, civil services &amp; medicine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547872"/>
            <a:ext cx="54864" cy="182880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520440"/>
            <a:ext cx="38953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E6E"/>
                </a:solidFill>
                <a:latin typeface="Arial"/>
              </a:rPr>
              <a:t>Recognition &amp; acknowledgements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3794760"/>
            <a:ext cx="4041648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3886200"/>
            <a:ext cx="404164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60" b="1" i="0">
                <a:solidFill>
                  <a:srgbClr val="333333"/>
                </a:solidFill>
                <a:latin typeface="Arial"/>
              </a:rPr>
              <a:t>•  Padma Shri (2016)</a:t>
            </a:r>
            <a:r>
              <a:rPr sz="760" b="0" i="0">
                <a:solidFill>
                  <a:srgbClr val="333333"/>
                </a:solidFill>
                <a:latin typeface="Arial"/>
              </a:rPr>
              <a:t> — Chairman Madhu Pandit Dasa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60" b="1" i="0">
                <a:solidFill>
                  <a:srgbClr val="333333"/>
                </a:solidFill>
                <a:latin typeface="Arial"/>
              </a:rPr>
              <a:t>•  World's largest NGO school-lunch programme</a:t>
            </a:r>
            <a:r>
              <a:rPr sz="760" b="0" i="0">
                <a:solidFill>
                  <a:srgbClr val="333333"/>
                </a:solidFill>
                <a:latin typeface="Arial"/>
              </a:rPr>
              <a:t> — global record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60" b="1" i="0">
                <a:solidFill>
                  <a:srgbClr val="333333"/>
                </a:solidFill>
                <a:latin typeface="Arial"/>
              </a:rPr>
              <a:t>•  4-billionth meal</a:t>
            </a:r>
            <a:r>
              <a:rPr sz="760" b="0" i="0">
                <a:solidFill>
                  <a:srgbClr val="333333"/>
                </a:solidFill>
                <a:latin typeface="Arial"/>
              </a:rPr>
              <a:t> milestone celebrated with Hon'ble PM of India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333333"/>
                </a:solidFill>
                <a:latin typeface="Arial"/>
              </a:rPr>
              <a:t>•  UK PM Rishi Sunak's kitchen visit</a:t>
            </a:r>
            <a:r>
              <a:rPr sz="760" b="0" i="0">
                <a:solidFill>
                  <a:srgbClr val="333333"/>
                </a:solidFill>
                <a:latin typeface="Arial"/>
              </a:rPr>
              <a:t> — lauded hygiene &amp; scale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4892040"/>
            <a:ext cx="54864" cy="182880"/>
          </a:xfrm>
          <a:prstGeom prst="rect">
            <a:avLst/>
          </a:prstGeom>
          <a:solidFill>
            <a:srgbClr val="09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864608"/>
            <a:ext cx="38953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E6E"/>
                </a:solidFill>
                <a:latin typeface="Arial"/>
              </a:rPr>
              <a:t>Trusted by leading corporates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5138928"/>
            <a:ext cx="4041648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65760" y="5248656"/>
            <a:ext cx="627888" cy="438912"/>
          </a:xfrm>
          <a:prstGeom prst="rect">
            <a:avLst/>
          </a:prstGeom>
          <a:solidFill>
            <a:srgbClr val="F2F2F2"/>
          </a:solidFill>
          <a:ln w="12700">
            <a:solidFill>
              <a:srgbClr val="7273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624" y="5248656"/>
            <a:ext cx="51816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727375"/>
                </a:solidFill>
                <a:latin typeface="Arial"/>
              </a:rPr>
              <a:t>Infosys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48511" y="5248656"/>
            <a:ext cx="627888" cy="438912"/>
          </a:xfrm>
          <a:prstGeom prst="rect">
            <a:avLst/>
          </a:prstGeom>
          <a:solidFill>
            <a:srgbClr val="F2F2F2"/>
          </a:solidFill>
          <a:ln w="12700">
            <a:solidFill>
              <a:srgbClr val="7273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03376" y="5248656"/>
            <a:ext cx="51816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727375"/>
                </a:solidFill>
                <a:latin typeface="Arial"/>
              </a:rPr>
              <a:t>TCS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731263" y="5248656"/>
            <a:ext cx="627888" cy="438912"/>
          </a:xfrm>
          <a:prstGeom prst="rect">
            <a:avLst/>
          </a:prstGeom>
          <a:solidFill>
            <a:srgbClr val="F2F2F2"/>
          </a:solidFill>
          <a:ln w="12700">
            <a:solidFill>
              <a:srgbClr val="7273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786127" y="5248656"/>
            <a:ext cx="51816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727375"/>
                </a:solidFill>
                <a:latin typeface="Arial"/>
              </a:rPr>
              <a:t>HDFC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414015" y="5248656"/>
            <a:ext cx="627888" cy="438912"/>
          </a:xfrm>
          <a:prstGeom prst="rect">
            <a:avLst/>
          </a:prstGeom>
          <a:solidFill>
            <a:srgbClr val="F2F2F2"/>
          </a:solidFill>
          <a:ln w="12700">
            <a:solidFill>
              <a:srgbClr val="7273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468879" y="5248656"/>
            <a:ext cx="51816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727375"/>
                </a:solidFill>
                <a:latin typeface="Arial"/>
              </a:rPr>
              <a:t>Amazon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096767" y="5248656"/>
            <a:ext cx="627888" cy="438912"/>
          </a:xfrm>
          <a:prstGeom prst="rect">
            <a:avLst/>
          </a:prstGeom>
          <a:solidFill>
            <a:srgbClr val="F2F2F2"/>
          </a:solidFill>
          <a:ln w="12700">
            <a:solidFill>
              <a:srgbClr val="7273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151631" y="5248656"/>
            <a:ext cx="51816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727375"/>
                </a:solidFill>
                <a:latin typeface="Arial"/>
              </a:rPr>
              <a:t>Airbus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779519" y="5248656"/>
            <a:ext cx="627888" cy="438912"/>
          </a:xfrm>
          <a:prstGeom prst="rect">
            <a:avLst/>
          </a:prstGeom>
          <a:solidFill>
            <a:srgbClr val="F2F2F2"/>
          </a:solidFill>
          <a:ln w="12700">
            <a:solidFill>
              <a:srgbClr val="7273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834383" y="5248656"/>
            <a:ext cx="51816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727375"/>
                </a:solidFill>
                <a:latin typeface="Arial"/>
              </a:rPr>
              <a:t>SBI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5742432"/>
            <a:ext cx="40416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 i="1">
                <a:solidFill>
                  <a:srgbClr val="727375"/>
                </a:solidFill>
                <a:latin typeface="Arial"/>
              </a:rPr>
              <a:t>+ 200 corporate &amp; institutional donors [replace with logos]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90288" y="1380744"/>
            <a:ext cx="54864" cy="182880"/>
          </a:xfrm>
          <a:prstGeom prst="rect">
            <a:avLst/>
          </a:prstGeom>
          <a:solidFill>
            <a:srgbClr val="3B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736592" y="1353312"/>
            <a:ext cx="40416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E6E"/>
                </a:solidFill>
                <a:latin typeface="Arial"/>
              </a:rPr>
              <a:t>The partnership equation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90288" y="1627632"/>
            <a:ext cx="4187952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4681727" y="1810512"/>
            <a:ext cx="969264" cy="841248"/>
          </a:xfrm>
          <a:prstGeom prst="ellipse">
            <a:avLst/>
          </a:prstGeom>
          <a:solidFill>
            <a:srgbClr val="EEF3F9"/>
          </a:solidFill>
          <a:ln w="13970">
            <a:solidFill>
              <a:srgbClr val="1B3E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681727" y="1920240"/>
            <a:ext cx="969264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1B3E6E"/>
                </a:solidFill>
                <a:latin typeface="Arial"/>
              </a:rPr>
              <a:t>GS $250k
catalytic
capital</a:t>
            </a:r>
          </a:p>
        </p:txBody>
      </p:sp>
      <p:sp>
        <p:nvSpPr>
          <p:cNvPr id="43" name="Plus 42"/>
          <p:cNvSpPr/>
          <p:nvPr/>
        </p:nvSpPr>
        <p:spPr>
          <a:xfrm>
            <a:off x="5760720" y="2112264"/>
            <a:ext cx="237744" cy="237744"/>
          </a:xfrm>
          <a:prstGeom prst="mathPlus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108192" y="1810512"/>
            <a:ext cx="969264" cy="841248"/>
          </a:xfrm>
          <a:prstGeom prst="ellipse">
            <a:avLst/>
          </a:prstGeom>
          <a:solidFill>
            <a:srgbClr val="FDF6E0"/>
          </a:solidFill>
          <a:ln w="13970">
            <a:solidFill>
              <a:srgbClr val="E08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108192" y="1920240"/>
            <a:ext cx="969264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E08A1E"/>
                </a:solidFill>
                <a:latin typeface="Arial"/>
              </a:rPr>
              <a:t>AP's 2.3M
meals-a-day
engine</a:t>
            </a:r>
          </a:p>
        </p:txBody>
      </p:sp>
      <p:sp>
        <p:nvSpPr>
          <p:cNvPr id="46" name="Equal 45"/>
          <p:cNvSpPr/>
          <p:nvPr/>
        </p:nvSpPr>
        <p:spPr>
          <a:xfrm>
            <a:off x="7187184" y="2112264"/>
            <a:ext cx="237744" cy="237744"/>
          </a:xfrm>
          <a:prstGeom prst="mathEqual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7534656" y="1810512"/>
            <a:ext cx="969264" cy="841248"/>
          </a:xfrm>
          <a:prstGeom prst="ellipse">
            <a:avLst/>
          </a:prstGeom>
          <a:solidFill>
            <a:srgbClr val="EAF3E6"/>
          </a:solidFill>
          <a:ln w="13970">
            <a:solidFill>
              <a:srgbClr val="3980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534656" y="1920240"/>
            <a:ext cx="969264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398025"/>
                </a:solidFill>
                <a:latin typeface="Arial"/>
              </a:rPr>
              <a:t>Impact that
compounds
yearly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90288" y="2724912"/>
            <a:ext cx="418795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333333"/>
                </a:solidFill>
                <a:latin typeface="Arial"/>
              </a:rPr>
              <a:t>One-time capital → permanent capability → recurring savings → more children in school, every year after Year 1.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90288" y="2971800"/>
            <a:ext cx="54864" cy="182880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736592" y="2944368"/>
            <a:ext cx="40416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E6E"/>
                </a:solidFill>
                <a:latin typeface="Arial"/>
              </a:rPr>
              <a:t>Why the GS grant stands out here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590288" y="3218688"/>
            <a:ext cx="4187952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590288" y="3310128"/>
            <a:ext cx="4187952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1B3E6E"/>
                </a:solidFill>
                <a:latin typeface="Arial"/>
              </a:rPr>
              <a:t>1 · Structural, not sustenance: </a:t>
            </a:r>
            <a:r>
              <a:rPr sz="750" b="0" i="0">
                <a:solidFill>
                  <a:srgbClr val="333333"/>
                </a:solidFill>
                <a:latin typeface="Arial"/>
              </a:rPr>
              <a:t>others fund meals for a year; GS funds the technology that makes every future meal cheaper.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1B3E6E"/>
                </a:solidFill>
                <a:latin typeface="Arial"/>
              </a:rPr>
              <a:t>2 · Plays to GS DNA: </a:t>
            </a:r>
            <a:r>
              <a:rPr sz="750" b="0" i="0">
                <a:solidFill>
                  <a:srgbClr val="333333"/>
                </a:solidFill>
                <a:latin typeface="Arial"/>
              </a:rPr>
              <a:t>forecasting, optimisation &amp; risk controls — GS engineering can mentor the build pro bono.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1B3E6E"/>
                </a:solidFill>
                <a:latin typeface="Arial"/>
              </a:rPr>
              <a:t>3 · Measurable ROI: </a:t>
            </a:r>
            <a:r>
              <a:rPr sz="750" b="0" i="0">
                <a:solidFill>
                  <a:srgbClr val="333333"/>
                </a:solidFill>
                <a:latin typeface="Arial"/>
              </a:rPr>
              <a:t>$310k/yr audited savings; KPI dashboard shared quarterly with GS.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1B3E6E"/>
                </a:solidFill>
                <a:latin typeface="Arial"/>
              </a:rPr>
              <a:t>4 · Scalable blueprint: </a:t>
            </a:r>
            <a:r>
              <a:rPr sz="750" b="0" i="0">
                <a:solidFill>
                  <a:srgbClr val="333333"/>
                </a:solidFill>
                <a:latin typeface="Arial"/>
              </a:rPr>
              <a:t>proven once, extends to school-feeding programmes across South Asia &amp; Africa.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90288" y="4855464"/>
            <a:ext cx="54864" cy="182880"/>
          </a:xfrm>
          <a:prstGeom prst="rect">
            <a:avLst/>
          </a:prstGeom>
          <a:solidFill>
            <a:srgbClr val="398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736592" y="4828032"/>
            <a:ext cx="40416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E6E"/>
                </a:solidFill>
                <a:latin typeface="Arial"/>
              </a:rPr>
              <a:t>The ask &amp; next steps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590288" y="5102352"/>
            <a:ext cx="4187952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590288" y="5193792"/>
            <a:ext cx="418795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1B3E6E"/>
                </a:solidFill>
                <a:latin typeface="Arial"/>
              </a:rPr>
              <a:t>The ask: </a:t>
            </a:r>
            <a:r>
              <a:rPr sz="750" b="0" i="0">
                <a:solidFill>
                  <a:srgbClr val="333333"/>
                </a:solidFill>
                <a:latin typeface="Arial"/>
              </a:rPr>
              <a:t>$250,000 over 12 months in milestone-based tranches; joint GS–AP steering committee &amp; quarterly KPI reviews.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98025"/>
                </a:solidFill>
                <a:latin typeface="Arial"/>
              </a:rPr>
              <a:t>Month 12: </a:t>
            </a:r>
            <a:r>
              <a:rPr sz="750" b="1" i="0">
                <a:solidFill>
                  <a:srgbClr val="333333"/>
                </a:solidFill>
                <a:latin typeface="Arial"/>
              </a:rPr>
              <a:t>both platforms live in all 68 kitchens — the savings flywheel spinning on its own.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8412480" cy="23774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8412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B3E6E"/>
                </a:solidFill>
                <a:latin typeface="Georgia"/>
              </a:rPr>
              <a:t>Conclusion — why Akshaya Patra, and why this proposal wins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22960"/>
            <a:ext cx="84124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33333"/>
                </a:solidFill>
                <a:latin typeface="Arial"/>
              </a:rPr>
              <a:t>A proven engine of social mobility, a grant that compounds instead of depletes, and a partnership only Goldman Sachs can power.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071616"/>
            <a:ext cx="8138159" cy="36576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071616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B3E6E"/>
                </a:solidFill>
                <a:latin typeface="Georgia"/>
              </a:rPr>
              <a:t>$250k that doesn't feed children for a year — it upgrades the engine that feeds them forever.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1280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Goldman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Sachs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6528816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727375"/>
                </a:solidFill>
                <a:latin typeface="Arial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54864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727375"/>
                </a:solidFill>
                <a:latin typeface="Arial"/>
              </a:rPr>
              <a:t>LAYOUT OPTION A — diagram-led, symmetric</a:t>
            </a:r>
          </a:p>
        </p:txBody>
      </p:sp>
      <p:sp>
        <p:nvSpPr>
          <p:cNvPr id="10" name="Oval 9"/>
          <p:cNvSpPr/>
          <p:nvPr/>
        </p:nvSpPr>
        <p:spPr>
          <a:xfrm>
            <a:off x="2231136" y="1389888"/>
            <a:ext cx="1207008" cy="950976"/>
          </a:xfrm>
          <a:prstGeom prst="ellipse">
            <a:avLst/>
          </a:prstGeom>
          <a:solidFill>
            <a:srgbClr val="EEF3F9"/>
          </a:solidFill>
          <a:ln w="15875">
            <a:solidFill>
              <a:srgbClr val="1B3E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31136" y="1517904"/>
            <a:ext cx="1207008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1B3E6E"/>
                </a:solidFill>
                <a:latin typeface="Arial"/>
              </a:rPr>
              <a:t>GS $250k
catalytic
capital</a:t>
            </a:r>
          </a:p>
        </p:txBody>
      </p:sp>
      <p:sp>
        <p:nvSpPr>
          <p:cNvPr id="12" name="Plus 11"/>
          <p:cNvSpPr/>
          <p:nvPr/>
        </p:nvSpPr>
        <p:spPr>
          <a:xfrm>
            <a:off x="3566160" y="1746504"/>
            <a:ext cx="274320" cy="237744"/>
          </a:xfrm>
          <a:prstGeom prst="mathPlus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968496" y="1389888"/>
            <a:ext cx="1207008" cy="950976"/>
          </a:xfrm>
          <a:prstGeom prst="ellipse">
            <a:avLst/>
          </a:prstGeom>
          <a:solidFill>
            <a:srgbClr val="FDF6E0"/>
          </a:solidFill>
          <a:ln w="15875">
            <a:solidFill>
              <a:srgbClr val="E08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68496" y="1517904"/>
            <a:ext cx="1207008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E08A1E"/>
                </a:solidFill>
                <a:latin typeface="Arial"/>
              </a:rPr>
              <a:t>AP's 2.3M
meals-a-day
engine</a:t>
            </a:r>
          </a:p>
        </p:txBody>
      </p:sp>
      <p:sp>
        <p:nvSpPr>
          <p:cNvPr id="15" name="Equal 14"/>
          <p:cNvSpPr/>
          <p:nvPr/>
        </p:nvSpPr>
        <p:spPr>
          <a:xfrm>
            <a:off x="5303520" y="1746504"/>
            <a:ext cx="274320" cy="237744"/>
          </a:xfrm>
          <a:prstGeom prst="mathEqual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705856" y="1389888"/>
            <a:ext cx="1207008" cy="950976"/>
          </a:xfrm>
          <a:prstGeom prst="ellipse">
            <a:avLst/>
          </a:prstGeom>
          <a:solidFill>
            <a:srgbClr val="EAF3E6"/>
          </a:solidFill>
          <a:ln w="15875">
            <a:solidFill>
              <a:srgbClr val="3980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05856" y="1517904"/>
            <a:ext cx="1207008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398025"/>
                </a:solidFill>
                <a:latin typeface="Arial"/>
              </a:rPr>
              <a:t>Impact that
compounds
yearly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2414016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727375"/>
                </a:solidFill>
                <a:latin typeface="Arial"/>
              </a:rPr>
              <a:t>One-time capital → permanent capability → recurring savings → more children in school, every year after Year 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2834640"/>
            <a:ext cx="8412480" cy="1481328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5760" y="2834640"/>
            <a:ext cx="8412480" cy="41148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916936"/>
            <a:ext cx="8412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3E6E"/>
                </a:solidFill>
                <a:latin typeface="Arial"/>
              </a:rPr>
              <a:t>WHY THE GOLDMAN SACHS GRANT STANDS OUT HERE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218688"/>
            <a:ext cx="180136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7297C5"/>
                </a:solidFill>
                <a:latin typeface="Georgia"/>
              </a:rPr>
              <a:t>1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B3E6E"/>
                </a:solidFill>
                <a:latin typeface="Arial"/>
              </a:rPr>
              <a:t>Structural, not sustenance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333333"/>
                </a:solidFill>
                <a:latin typeface="Arial"/>
              </a:rPr>
              <a:t>others fund meals for a year; GS funds the technology that makes every future meal cheaper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06039" y="3218688"/>
            <a:ext cx="180136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7297C5"/>
                </a:solidFill>
                <a:latin typeface="Georgia"/>
              </a:rPr>
              <a:t>2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B3E6E"/>
                </a:solidFill>
                <a:latin typeface="Arial"/>
              </a:rPr>
              <a:t>Plays to GS DNA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333333"/>
                </a:solidFill>
                <a:latin typeface="Arial"/>
              </a:rPr>
              <a:t>forecasting, optimisation &amp; risk controls — GS engineering mentors the build pro bono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3218688"/>
            <a:ext cx="180136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7297C5"/>
                </a:solidFill>
                <a:latin typeface="Georgia"/>
              </a:rPr>
              <a:t>3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B3E6E"/>
                </a:solidFill>
                <a:latin typeface="Arial"/>
              </a:rPr>
              <a:t>Measurable ROI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333333"/>
                </a:solidFill>
                <a:latin typeface="Arial"/>
              </a:rPr>
              <a:t>$310k/yr audited savings; KPI dashboard shared quarterly with GS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7959" y="3218688"/>
            <a:ext cx="180136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7297C5"/>
                </a:solidFill>
                <a:latin typeface="Georgia"/>
              </a:rPr>
              <a:t>4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B3E6E"/>
                </a:solidFill>
                <a:latin typeface="Arial"/>
              </a:rPr>
              <a:t>Scalable blueprint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333333"/>
                </a:solidFill>
                <a:latin typeface="Arial"/>
              </a:rPr>
              <a:t>proven once, extends to school-feeding programmes across South Asia &amp; Africa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53712" y="4572000"/>
            <a:ext cx="10972" cy="132588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4553712"/>
            <a:ext cx="3977639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333333"/>
                </a:solidFill>
                <a:latin typeface="Arial"/>
              </a:rPr>
              <a:t>“The mid-day meal was the reason I stayed in school. Today I manage portfolios instead of an empty stomach.”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1" i="0">
                <a:solidFill>
                  <a:srgbClr val="1B3E6E"/>
                </a:solidFill>
                <a:latin typeface="Arial"/>
              </a:rPr>
              <a:t>— Krishna Kumar, </a:t>
            </a:r>
            <a:r>
              <a:rPr sz="750" b="0" i="0">
                <a:solidFill>
                  <a:srgbClr val="727375"/>
                </a:solidFill>
                <a:latin typeface="Arial"/>
              </a:rPr>
              <a:t>AVP, HSBC — former mid-day meal beneficiary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98025"/>
                </a:solidFill>
                <a:latin typeface="Arial"/>
              </a:rPr>
              <a:t>92% secondary-school completion </a:t>
            </a:r>
            <a:r>
              <a:rPr sz="750" b="0" i="0">
                <a:solidFill>
                  <a:srgbClr val="727375"/>
                </a:solidFill>
                <a:latin typeface="Arial"/>
              </a:rPr>
              <a:t>among beneficiaries vs 74% national avg [dummy]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00600" y="4553712"/>
            <a:ext cx="3977639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 i="0">
                <a:solidFill>
                  <a:srgbClr val="1B3E6E"/>
                </a:solidFill>
                <a:latin typeface="Arial"/>
              </a:rPr>
              <a:t>Recognised &amp; trusted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50"/>
              </a:spcAft>
            </a:pPr>
            <a:r>
              <a:rPr sz="720" b="0" i="0">
                <a:solidFill>
                  <a:srgbClr val="333333"/>
                </a:solidFill>
                <a:latin typeface="Arial"/>
              </a:rPr>
              <a:t>•  Padma Shri (2016) — Chairman Madhu Pandit Dasa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50"/>
              </a:spcAft>
            </a:pPr>
            <a:r>
              <a:rPr sz="720" b="0" i="0">
                <a:solidFill>
                  <a:srgbClr val="333333"/>
                </a:solidFill>
                <a:latin typeface="Arial"/>
              </a:rPr>
              <a:t>•  World's largest NGO school-lunch programme — global record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50"/>
              </a:spcAft>
            </a:pPr>
            <a:r>
              <a:rPr sz="720" b="0" i="0">
                <a:solidFill>
                  <a:srgbClr val="333333"/>
                </a:solidFill>
                <a:latin typeface="Arial"/>
              </a:rPr>
              <a:t>•  4-billionth meal celebrated with Hon'ble PM of India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1B3E6E"/>
                </a:solidFill>
                <a:latin typeface="Arial"/>
              </a:rPr>
              <a:t>Partners: </a:t>
            </a:r>
            <a:r>
              <a:rPr sz="720" b="0" i="0">
                <a:solidFill>
                  <a:srgbClr val="727375"/>
                </a:solidFill>
                <a:latin typeface="Arial"/>
              </a:rPr>
              <a:t>Infosys Foundation · TCS · HDFC · Amazon · Airbus · SBI + 200 more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8412480" cy="23774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8412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B3E6E"/>
                </a:solidFill>
                <a:latin typeface="Georgia"/>
              </a:rPr>
              <a:t>Conclusion — why Akshaya Patra, and why this proposal wins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22960"/>
            <a:ext cx="84124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33333"/>
                </a:solidFill>
                <a:latin typeface="Arial"/>
              </a:rPr>
              <a:t>A proven engine of social mobility, a grant that compounds instead of depletes, and a partnership only Goldman Sachs can power.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071616"/>
            <a:ext cx="8138159" cy="36576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071616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B3E6E"/>
                </a:solidFill>
                <a:latin typeface="Georgia"/>
              </a:rPr>
              <a:t>$250k that doesn't feed children for a year — it upgrades the engine that feeds them forever.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1280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Goldman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Sachs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6528816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727375"/>
                </a:solidFill>
                <a:latin typeface="Arial"/>
              </a:rPr>
              <a:t>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54864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727375"/>
                </a:solidFill>
                <a:latin typeface="Arial"/>
              </a:rPr>
              <a:t>LAYOUT OPTION B — typographic, ranked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481328"/>
            <a:ext cx="23774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2400" b="1" i="0">
                <a:solidFill>
                  <a:srgbClr val="1B3E6E"/>
                </a:solidFill>
                <a:latin typeface="Georgia"/>
              </a:rPr>
              <a:t>$250k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27375"/>
                </a:solidFill>
                <a:latin typeface="Arial"/>
              </a:rPr>
              <a:t>one-time grant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2231136"/>
            <a:ext cx="0" cy="274320"/>
          </a:xfrm>
          <a:prstGeom prst="line">
            <a:avLst/>
          </a:prstGeom>
          <a:ln w="12700">
            <a:solidFill>
              <a:srgbClr val="BFBFBF"/>
            </a:solidFill>
            <a:prstDash val="sys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365760" y="2596896"/>
            <a:ext cx="23774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900" b="1" i="0">
                <a:solidFill>
                  <a:srgbClr val="398025"/>
                </a:solidFill>
                <a:latin typeface="Georgia"/>
              </a:rPr>
              <a:t>$310k / yr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27375"/>
                </a:solidFill>
                <a:latin typeface="Arial"/>
              </a:rPr>
              <a:t>returned in audited savings — every single year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3346703"/>
            <a:ext cx="0" cy="274321"/>
          </a:xfrm>
          <a:prstGeom prst="line">
            <a:avLst/>
          </a:prstGeom>
          <a:ln w="12700">
            <a:solidFill>
              <a:srgbClr val="BFBFBF"/>
            </a:solidFill>
            <a:prstDash val="sys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365760" y="3712463"/>
            <a:ext cx="23774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900" b="1" i="0">
                <a:solidFill>
                  <a:srgbClr val="1B3E6E"/>
                </a:solidFill>
                <a:latin typeface="Georgia"/>
              </a:rPr>
              <a:t>+105,000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27375"/>
                </a:solidFill>
                <a:latin typeface="Arial"/>
              </a:rPr>
              <a:t>children fed per year at zero extra cost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5800" y="4462272"/>
            <a:ext cx="0" cy="274320"/>
          </a:xfrm>
          <a:prstGeom prst="line">
            <a:avLst/>
          </a:prstGeom>
          <a:ln w="12700">
            <a:solidFill>
              <a:srgbClr val="BFBFBF"/>
            </a:solidFill>
            <a:prstDash val="sys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65760" y="4828031"/>
            <a:ext cx="23774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1" i="0">
                <a:solidFill>
                  <a:srgbClr val="E08A1E"/>
                </a:solidFill>
                <a:latin typeface="Georgia"/>
              </a:rPr>
              <a:t>&lt; 10 months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27375"/>
                </a:solidFill>
                <a:latin typeface="Arial"/>
              </a:rPr>
              <a:t>payback on the full grant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880360" y="1463040"/>
            <a:ext cx="10972" cy="443484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154680" y="1444752"/>
            <a:ext cx="310896" cy="310896"/>
          </a:xfrm>
          <a:prstGeom prst="ellipse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154680" y="1458468"/>
            <a:ext cx="31089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93592" y="1408176"/>
            <a:ext cx="518464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B3E6E"/>
                </a:solidFill>
                <a:latin typeface="Arial"/>
              </a:rPr>
              <a:t>Structural, not sustenance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33333"/>
                </a:solidFill>
                <a:latin typeface="Arial"/>
              </a:rPr>
              <a:t>others fund meals for a year; GS funds the technology that makes every future meal cheaper</a:t>
            </a:r>
          </a:p>
        </p:txBody>
      </p:sp>
      <p:sp>
        <p:nvSpPr>
          <p:cNvPr id="21" name="Oval 20"/>
          <p:cNvSpPr/>
          <p:nvPr/>
        </p:nvSpPr>
        <p:spPr>
          <a:xfrm>
            <a:off x="3154680" y="2048256"/>
            <a:ext cx="310896" cy="310896"/>
          </a:xfrm>
          <a:prstGeom prst="ellipse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154680" y="2061972"/>
            <a:ext cx="31089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93592" y="2011680"/>
            <a:ext cx="518464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B3E6E"/>
                </a:solidFill>
                <a:latin typeface="Arial"/>
              </a:rPr>
              <a:t>Plays to GS DNA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33333"/>
                </a:solidFill>
                <a:latin typeface="Arial"/>
              </a:rPr>
              <a:t>forecasting, optimisation &amp; risk controls — GS engineering mentors the build pro bono</a:t>
            </a:r>
          </a:p>
        </p:txBody>
      </p:sp>
      <p:sp>
        <p:nvSpPr>
          <p:cNvPr id="24" name="Oval 23"/>
          <p:cNvSpPr/>
          <p:nvPr/>
        </p:nvSpPr>
        <p:spPr>
          <a:xfrm>
            <a:off x="3154680" y="2651760"/>
            <a:ext cx="310896" cy="310896"/>
          </a:xfrm>
          <a:prstGeom prst="ellipse">
            <a:avLst/>
          </a:prstGeom>
          <a:solidFill>
            <a:srgbClr val="3B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154680" y="2665476"/>
            <a:ext cx="31089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93592" y="2615184"/>
            <a:ext cx="518464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B3E6E"/>
                </a:solidFill>
                <a:latin typeface="Arial"/>
              </a:rPr>
              <a:t>Measurable ROI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33333"/>
                </a:solidFill>
                <a:latin typeface="Arial"/>
              </a:rPr>
              <a:t>$310k/yr audited savings; KPI dashboard shared quarterly with GS</a:t>
            </a:r>
          </a:p>
        </p:txBody>
      </p:sp>
      <p:sp>
        <p:nvSpPr>
          <p:cNvPr id="27" name="Oval 26"/>
          <p:cNvSpPr/>
          <p:nvPr/>
        </p:nvSpPr>
        <p:spPr>
          <a:xfrm>
            <a:off x="3154680" y="3255264"/>
            <a:ext cx="310896" cy="310896"/>
          </a:xfrm>
          <a:prstGeom prst="ellipse">
            <a:avLst/>
          </a:prstGeom>
          <a:solidFill>
            <a:srgbClr val="3B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154680" y="3268980"/>
            <a:ext cx="31089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93592" y="3218688"/>
            <a:ext cx="518464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B3E6E"/>
                </a:solidFill>
                <a:latin typeface="Arial"/>
              </a:rPr>
              <a:t>Scalable blueprint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33333"/>
                </a:solidFill>
                <a:latin typeface="Arial"/>
              </a:rPr>
              <a:t>proven once, extends to school-feeding programmes across South Asia &amp; Africa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54680" y="3950208"/>
            <a:ext cx="562355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B3E6E"/>
                </a:solidFill>
                <a:latin typeface="Arial"/>
              </a:rPr>
              <a:t>A typical $250k grant  vs  this proposal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54680" y="4498848"/>
            <a:ext cx="5623559" cy="9144"/>
          </a:xfrm>
          <a:prstGeom prst="rect">
            <a:avLst/>
          </a:prstGeom>
          <a:solidFill>
            <a:srgbClr val="E5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154680" y="4242816"/>
            <a:ext cx="258683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30" b="0" i="0">
                <a:solidFill>
                  <a:srgbClr val="727375"/>
                </a:solidFill>
                <a:latin typeface="Arial"/>
              </a:rPr>
              <a:t>Feeds children for ~1 year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66460" y="4242816"/>
            <a:ext cx="28117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30" b="1" i="0">
                <a:solidFill>
                  <a:srgbClr val="1B3E6E"/>
                </a:solidFill>
                <a:latin typeface="Arial"/>
              </a:rPr>
              <a:t>✓  Feeds 105,000 more children — every year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154680" y="4828032"/>
            <a:ext cx="5623559" cy="9144"/>
          </a:xfrm>
          <a:prstGeom prst="rect">
            <a:avLst/>
          </a:prstGeom>
          <a:solidFill>
            <a:srgbClr val="E5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154680" y="4572000"/>
            <a:ext cx="258683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30" b="0" i="0">
                <a:solidFill>
                  <a:srgbClr val="727375"/>
                </a:solidFill>
                <a:latin typeface="Arial"/>
              </a:rPr>
              <a:t>Impact ends when funds end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66460" y="4572000"/>
            <a:ext cx="28117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30" b="1" i="0">
                <a:solidFill>
                  <a:srgbClr val="1B3E6E"/>
                </a:solidFill>
                <a:latin typeface="Arial"/>
              </a:rPr>
              <a:t>✓  Savings outlive the cheque: 1.24x returned / yr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54680" y="5157216"/>
            <a:ext cx="5623559" cy="9144"/>
          </a:xfrm>
          <a:prstGeom prst="rect">
            <a:avLst/>
          </a:prstGeom>
          <a:solidFill>
            <a:srgbClr val="E5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154680" y="4901184"/>
            <a:ext cx="258683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30" b="0" i="0">
                <a:solidFill>
                  <a:srgbClr val="727375"/>
                </a:solidFill>
                <a:latin typeface="Arial"/>
              </a:rPr>
              <a:t>Comes back for renewal next year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66460" y="4901184"/>
            <a:ext cx="28117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30" b="1" i="0">
                <a:solidFill>
                  <a:srgbClr val="1B3E6E"/>
                </a:solidFill>
                <a:latin typeface="Arial"/>
              </a:rPr>
              <a:t>✓  Self-funding flywheel from month 10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154680" y="5266944"/>
            <a:ext cx="562355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730" b="0" i="1">
                <a:solidFill>
                  <a:srgbClr val="333333"/>
                </a:solidFill>
                <a:latin typeface="Arial"/>
              </a:rPr>
              <a:t>“The mid-day meal was the reason I stayed in school. Today I manage portfolios instead of an empty stomach.” 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1B3E6E"/>
                </a:solidFill>
                <a:latin typeface="Arial"/>
              </a:rPr>
              <a:t>— Krishna Kumar, </a:t>
            </a:r>
            <a:r>
              <a:rPr sz="700" b="0" i="0">
                <a:solidFill>
                  <a:srgbClr val="727375"/>
                </a:solidFill>
                <a:latin typeface="Arial"/>
              </a:rPr>
              <a:t>AVP, HSBC — former mid-day meal beneficiary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8412480" cy="23774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8412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B3E6E"/>
                </a:solidFill>
                <a:latin typeface="Georgia"/>
              </a:rPr>
              <a:t>Conclusion — why Akshaya Patra, and why this proposal wins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22960"/>
            <a:ext cx="84124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33333"/>
                </a:solidFill>
                <a:latin typeface="Arial"/>
              </a:rPr>
              <a:t>A proven engine of social mobility, a grant that compounds instead of depletes, and a partnership only Goldman Sachs can power.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071616"/>
            <a:ext cx="8138159" cy="36576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071616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B3E6E"/>
                </a:solidFill>
                <a:latin typeface="Georgia"/>
              </a:rPr>
              <a:t>$250k that doesn't feed children for a year — it upgrades the engine that feeds them forever.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1280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Goldman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Sachs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6528816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727375"/>
                </a:solidFill>
                <a:latin typeface="Arial"/>
              </a:rPr>
              <a:t>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54864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727375"/>
                </a:solidFill>
                <a:latin typeface="Arial"/>
              </a:rPr>
              <a:t>LAYOUT OPTION C — timeline narrative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417320"/>
            <a:ext cx="2697480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1B3E6E"/>
                </a:solidFill>
                <a:latin typeface="Arial"/>
              </a:rPr>
              <a:t>Two decades of delivery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50"/>
              </a:spcAft>
            </a:pPr>
            <a:r>
              <a:rPr sz="720" b="0" i="0">
                <a:solidFill>
                  <a:srgbClr val="333333"/>
                </a:solidFill>
                <a:latin typeface="Arial"/>
              </a:rPr>
              <a:t>•  Padma Shri (2016) — Chairman Madhu Pandit Dasa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50"/>
              </a:spcAft>
            </a:pPr>
            <a:r>
              <a:rPr sz="720" b="0" i="0">
                <a:solidFill>
                  <a:srgbClr val="333333"/>
                </a:solidFill>
                <a:latin typeface="Arial"/>
              </a:rPr>
              <a:t>•  World's largest NGO school-lunch programme — global record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50"/>
              </a:spcAft>
            </a:pPr>
            <a:r>
              <a:rPr sz="720" b="0" i="0">
                <a:solidFill>
                  <a:srgbClr val="333333"/>
                </a:solidFill>
                <a:latin typeface="Arial"/>
              </a:rPr>
              <a:t>•  4-billionth meal celebrated with Hon'ble PM of India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1">
                <a:solidFill>
                  <a:srgbClr val="333333"/>
                </a:solidFill>
                <a:latin typeface="Arial"/>
              </a:rPr>
              <a:t>“…I manage portfolios instead of an empty stomach.” </a:t>
            </a:r>
            <a:r>
              <a:rPr sz="700" b="1" i="1">
                <a:solidFill>
                  <a:srgbClr val="727375"/>
                </a:solidFill>
                <a:latin typeface="Arial"/>
              </a:rPr>
              <a:t>— Krishna Kumar, AVP HSBC, beneficiary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46120" y="1417320"/>
            <a:ext cx="2697480" cy="1847088"/>
          </a:xfrm>
          <a:prstGeom prst="roundRect">
            <a:avLst>
              <a:gd name="adj" fmla="val 6000"/>
            </a:avLst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92424" y="1536192"/>
            <a:ext cx="2404872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FFFFFF"/>
                </a:solidFill>
                <a:latin typeface="Georgia"/>
              </a:rPr>
              <a:t>$250,000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 i="0">
                <a:solidFill>
                  <a:srgbClr val="FFFFFF"/>
                </a:solidFill>
                <a:latin typeface="Arial"/>
              </a:rPr>
              <a:t>over 12 months · milestone-based tranches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720" b="0" i="0">
                <a:solidFill>
                  <a:srgbClr val="FFFFFF"/>
                </a:solidFill>
                <a:latin typeface="Arial"/>
              </a:rPr>
              <a:t>•  Joint GS–AP steering committee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720" b="0" i="0">
                <a:solidFill>
                  <a:srgbClr val="FFFFFF"/>
                </a:solidFill>
                <a:latin typeface="Arial"/>
              </a:rPr>
              <a:t>•  Quarterly KPI reviews with GS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720" b="0" i="0">
                <a:solidFill>
                  <a:srgbClr val="FFFFFF"/>
                </a:solidFill>
                <a:latin typeface="Arial"/>
              </a:rPr>
              <a:t>•  Independent waste &amp; delivery audits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FFFFFF"/>
                </a:solidFill>
                <a:latin typeface="Arial"/>
              </a:rPr>
              <a:t>•  GS volunteering &amp; engineering mentorship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1417320"/>
            <a:ext cx="2697480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1B3E6E"/>
                </a:solidFill>
                <a:latin typeface="Arial"/>
              </a:rPr>
              <a:t>What compounds after Year 1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50"/>
              </a:spcAft>
            </a:pPr>
            <a:r>
              <a:rPr sz="740" b="1" i="0">
                <a:solidFill>
                  <a:srgbClr val="398025"/>
                </a:solidFill>
                <a:latin typeface="Arial"/>
              </a:rPr>
              <a:t>$310k/yr </a:t>
            </a:r>
            <a:r>
              <a:rPr sz="740" b="0" i="0">
                <a:solidFill>
                  <a:srgbClr val="333333"/>
                </a:solidFill>
                <a:latin typeface="Arial"/>
              </a:rPr>
              <a:t>audited savings — every year, in perpetuity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50"/>
              </a:spcAft>
            </a:pPr>
            <a:r>
              <a:rPr sz="740" b="1" i="0">
                <a:solidFill>
                  <a:srgbClr val="398025"/>
                </a:solidFill>
                <a:latin typeface="Arial"/>
              </a:rPr>
              <a:t>+105,000 </a:t>
            </a:r>
            <a:r>
              <a:rPr sz="740" b="0" i="0">
                <a:solidFill>
                  <a:srgbClr val="333333"/>
                </a:solidFill>
                <a:latin typeface="Arial"/>
              </a:rPr>
              <a:t>children fed annually at zero extra donor cost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50"/>
              </a:spcAft>
            </a:pPr>
            <a:r>
              <a:rPr sz="740" b="1" i="0">
                <a:solidFill>
                  <a:srgbClr val="398025"/>
                </a:solidFill>
                <a:latin typeface="Arial"/>
              </a:rPr>
              <a:t>~70% </a:t>
            </a:r>
            <a:r>
              <a:rPr sz="740" b="0" i="0">
                <a:solidFill>
                  <a:srgbClr val="333333"/>
                </a:solidFill>
                <a:latin typeface="Arial"/>
              </a:rPr>
              <a:t>less food waste; 99%+ on-time delivery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398025"/>
                </a:solidFill>
                <a:latin typeface="Arial"/>
              </a:rPr>
              <a:t>Blueprint </a:t>
            </a:r>
            <a:r>
              <a:rPr sz="740" b="0" i="0">
                <a:solidFill>
                  <a:srgbClr val="333333"/>
                </a:solidFill>
                <a:latin typeface="Arial"/>
              </a:rPr>
              <a:t>extends to school-feeding programmes across South Asia &amp; Africa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65760" y="3456432"/>
            <a:ext cx="8412480" cy="310896"/>
          </a:xfrm>
          <a:prstGeom prst="rightArrow">
            <a:avLst>
              <a:gd name="adj1" fmla="val 55000"/>
              <a:gd name="adj2" fmla="val 4500"/>
            </a:avLst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3506724"/>
            <a:ext cx="2697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E08A1E"/>
                </a:solidFill>
                <a:latin typeface="Arial"/>
              </a:rPr>
              <a:t>PROVEN PAST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46120" y="3506724"/>
            <a:ext cx="2697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1B3E6E"/>
                </a:solidFill>
                <a:latin typeface="Arial"/>
              </a:rPr>
              <a:t>THE ASK — TODAY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3506724"/>
            <a:ext cx="2697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398025"/>
                </a:solidFill>
                <a:latin typeface="Arial"/>
              </a:rPr>
              <a:t>COMPOUNDING FUTURE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99692" y="3858768"/>
            <a:ext cx="14630" cy="164592"/>
          </a:xfrm>
          <a:prstGeom prst="rect">
            <a:avLst/>
          </a:prstGeom>
          <a:solidFill>
            <a:srgbClr val="7273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80" y="4059936"/>
            <a:ext cx="159105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1B3E6E"/>
                </a:solidFill>
                <a:latin typeface="Arial"/>
              </a:rPr>
              <a:t>Mo 0</a:t>
            </a:r>
          </a:p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727375"/>
                </a:solidFill>
                <a:latin typeface="Arial"/>
              </a:rPr>
              <a:t>grant signed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882188" y="3858768"/>
            <a:ext cx="14630" cy="164592"/>
          </a:xfrm>
          <a:prstGeom prst="rect">
            <a:avLst/>
          </a:prstGeom>
          <a:solidFill>
            <a:srgbClr val="7273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093975" y="4059936"/>
            <a:ext cx="159105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1B3E6E"/>
                </a:solidFill>
                <a:latin typeface="Arial"/>
              </a:rPr>
              <a:t>Mo 4</a:t>
            </a:r>
          </a:p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727375"/>
                </a:solidFill>
                <a:latin typeface="Arial"/>
              </a:rPr>
              <a:t>pilot live in 3 kitchens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64684" y="3858768"/>
            <a:ext cx="14630" cy="164592"/>
          </a:xfrm>
          <a:prstGeom prst="rect">
            <a:avLst/>
          </a:prstGeom>
          <a:solidFill>
            <a:srgbClr val="7273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776472" y="4059936"/>
            <a:ext cx="159105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1B3E6E"/>
                </a:solidFill>
                <a:latin typeface="Arial"/>
              </a:rPr>
              <a:t>Mo 12</a:t>
            </a:r>
          </a:p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727375"/>
                </a:solidFill>
                <a:latin typeface="Arial"/>
              </a:rPr>
              <a:t>both platforms in all 68 kitchens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47180" y="3858768"/>
            <a:ext cx="14630" cy="164592"/>
          </a:xfrm>
          <a:prstGeom prst="rect">
            <a:avLst/>
          </a:prstGeom>
          <a:solidFill>
            <a:srgbClr val="7273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58968" y="4059936"/>
            <a:ext cx="159105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1B3E6E"/>
                </a:solidFill>
                <a:latin typeface="Arial"/>
              </a:rPr>
              <a:t>Yr 2</a:t>
            </a:r>
          </a:p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727375"/>
                </a:solidFill>
                <a:latin typeface="Arial"/>
              </a:rPr>
              <a:t>flywheel self-funding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929676" y="3858768"/>
            <a:ext cx="14630" cy="164592"/>
          </a:xfrm>
          <a:prstGeom prst="rect">
            <a:avLst/>
          </a:prstGeom>
          <a:solidFill>
            <a:srgbClr val="7273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41464" y="4059936"/>
            <a:ext cx="159105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1B3E6E"/>
                </a:solidFill>
                <a:latin typeface="Arial"/>
              </a:rPr>
              <a:t>Yr 3+</a:t>
            </a:r>
          </a:p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727375"/>
                </a:solidFill>
                <a:latin typeface="Arial"/>
              </a:rPr>
              <a:t>blueprint scales abroad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4736592"/>
            <a:ext cx="8412480" cy="10972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5760" y="4846320"/>
            <a:ext cx="84124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B3E6E"/>
                </a:solidFill>
                <a:latin typeface="Arial"/>
              </a:rPr>
              <a:t>Why GS stands out:  </a:t>
            </a:r>
            <a:r>
              <a:rPr sz="800" b="0" i="0">
                <a:solidFill>
                  <a:srgbClr val="333333"/>
                </a:solidFill>
                <a:latin typeface="Arial"/>
              </a:rPr>
              <a:t>structural fix, not sustenance  ·  plays to GS forecasting &amp; optimisation DNA  ·  $310k/yr measurable ROI  ·  a blueprint the firm can scale globally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" y="5413248"/>
            <a:ext cx="8412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1">
                <a:solidFill>
                  <a:srgbClr val="727375"/>
                </a:solidFill>
                <a:latin typeface="Arial"/>
              </a:rPr>
              <a:t>In the company of: </a:t>
            </a:r>
            <a:r>
              <a:rPr sz="720" b="0" i="1">
                <a:solidFill>
                  <a:srgbClr val="727375"/>
                </a:solidFill>
                <a:latin typeface="Arial"/>
              </a:rPr>
              <a:t>Infosys Foundation · TCS · HDFC Bank · Amazon · Airbus · SBI Foundation + 200 corporate donors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8412480" cy="23774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8412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B3E6E"/>
                </a:solidFill>
                <a:latin typeface="Georgia"/>
              </a:rPr>
              <a:t>Conclusion — why Akshaya Patra, and why this proposal wins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22960"/>
            <a:ext cx="84124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33333"/>
                </a:solidFill>
                <a:latin typeface="Arial"/>
              </a:rPr>
              <a:t>A proven engine of social mobility, a grant that compounds instead of depletes, and a partnership only Goldman Sachs can power.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071616"/>
            <a:ext cx="8138159" cy="36576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071616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B3E6E"/>
                </a:solidFill>
                <a:latin typeface="Georgia"/>
              </a:rPr>
              <a:t>$250k that doesn't feed children for a year — it upgrades the engine that feeds them forever.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1280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Goldman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Sachs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6528816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727375"/>
                </a:solidFill>
                <a:latin typeface="Arial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54864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727375"/>
                </a:solidFill>
                <a:latin typeface="Arial"/>
              </a:rPr>
              <a:t>LAYOUT OPTION D — sidebar emphasis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371600"/>
            <a:ext cx="2331720" cy="4572000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1536192"/>
            <a:ext cx="2002536" cy="4297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F3C43F"/>
                </a:solidFill>
                <a:latin typeface="Arial"/>
              </a:rPr>
              <a:t>THE ASK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 i="0">
                <a:solidFill>
                  <a:srgbClr val="FFFFFF"/>
                </a:solidFill>
                <a:latin typeface="Georgia"/>
              </a:rPr>
              <a:t>$250,000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750" b="0" i="0">
                <a:solidFill>
                  <a:srgbClr val="FFFFFF"/>
                </a:solidFill>
                <a:latin typeface="Arial"/>
              </a:rPr>
              <a:t>over 12 months, in milestone-based tranches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720" b="0" i="0">
                <a:solidFill>
                  <a:srgbClr val="DCE6F1"/>
                </a:solidFill>
                <a:latin typeface="Arial"/>
              </a:rPr>
              <a:t>Joint GS–AP steering committee  ·  quarterly KPI reviews  ·  independent waste &amp; delivery audits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F3C43F"/>
                </a:solidFill>
                <a:latin typeface="Arial"/>
              </a:rPr>
              <a:t>WHAT IT RETURNS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$310k / yr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720" b="0" i="0">
                <a:solidFill>
                  <a:srgbClr val="DCE6F1"/>
                </a:solidFill>
                <a:latin typeface="Arial"/>
              </a:rPr>
              <a:t>audited savings, every year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+105,000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720" b="0" i="0">
                <a:solidFill>
                  <a:srgbClr val="DCE6F1"/>
                </a:solidFill>
                <a:latin typeface="Arial"/>
              </a:rPr>
              <a:t>children fed annually, zero extra cost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&lt; 10 months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DCE6F1"/>
                </a:solidFill>
                <a:latin typeface="Arial"/>
              </a:rPr>
              <a:t>payback on the full grant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1389888"/>
            <a:ext cx="56692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B3E6E"/>
                </a:solidFill>
                <a:latin typeface="Arial"/>
              </a:rPr>
              <a:t>Why Goldman Sachs — and only Goldman Sachs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08960" y="1682496"/>
            <a:ext cx="5669279" cy="12801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08960" y="1792224"/>
            <a:ext cx="566927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398025"/>
                </a:solidFill>
                <a:latin typeface="Arial"/>
              </a:rPr>
              <a:t>✓  Structural, not sustenance:  </a:t>
            </a:r>
            <a:r>
              <a:rPr sz="830" b="0" i="0">
                <a:solidFill>
                  <a:srgbClr val="333333"/>
                </a:solidFill>
                <a:latin typeface="Arial"/>
              </a:rPr>
              <a:t>others fund meals for a year; GS funds the technology that makes every future meal cheaper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0" y="2267712"/>
            <a:ext cx="566927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398025"/>
                </a:solidFill>
                <a:latin typeface="Arial"/>
              </a:rPr>
              <a:t>✓  Plays to GS DNA:  </a:t>
            </a:r>
            <a:r>
              <a:rPr sz="830" b="0" i="0">
                <a:solidFill>
                  <a:srgbClr val="333333"/>
                </a:solidFill>
                <a:latin typeface="Arial"/>
              </a:rPr>
              <a:t>forecasting, optimisation &amp; risk controls — GS engineering mentors the build pro bono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08960" y="2743200"/>
            <a:ext cx="566927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398025"/>
                </a:solidFill>
                <a:latin typeface="Arial"/>
              </a:rPr>
              <a:t>✓  Measurable ROI:  </a:t>
            </a:r>
            <a:r>
              <a:rPr sz="830" b="0" i="0">
                <a:solidFill>
                  <a:srgbClr val="333333"/>
                </a:solidFill>
                <a:latin typeface="Arial"/>
              </a:rPr>
              <a:t>$310k/yr audited savings; KPI dashboard shared quarterly with 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08960" y="3218688"/>
            <a:ext cx="566927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398025"/>
                </a:solidFill>
                <a:latin typeface="Arial"/>
              </a:rPr>
              <a:t>✓  Scalable blueprint:  </a:t>
            </a:r>
            <a:r>
              <a:rPr sz="830" b="0" i="0">
                <a:solidFill>
                  <a:srgbClr val="333333"/>
                </a:solidFill>
                <a:latin typeface="Arial"/>
              </a:rPr>
              <a:t>proven once, extends to school-feeding programmes across South Asia &amp; Africa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108960" y="3803904"/>
            <a:ext cx="731520" cy="868680"/>
          </a:xfrm>
          <a:prstGeom prst="rect">
            <a:avLst/>
          </a:prstGeom>
          <a:solidFill>
            <a:srgbClr val="F2F2F2"/>
          </a:solidFill>
          <a:ln w="12700">
            <a:solidFill>
              <a:srgbClr val="7273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163824" y="3803904"/>
            <a:ext cx="621792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727375"/>
                </a:solidFill>
                <a:latin typeface="Arial"/>
              </a:rPr>
              <a:t>📷
Krishna
Kumar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77639" y="3822191"/>
            <a:ext cx="48005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1">
                <a:solidFill>
                  <a:srgbClr val="333333"/>
                </a:solidFill>
                <a:latin typeface="Arial"/>
              </a:rPr>
              <a:t>“The mid-day meal was the reason I stayed in school. Today I manage portfolios instead of an empty stomach.”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1B3E6E"/>
                </a:solidFill>
                <a:latin typeface="Arial"/>
              </a:rPr>
              <a:t>— Krishna Kumar, </a:t>
            </a:r>
            <a:r>
              <a:rPr sz="720" b="0" i="0">
                <a:solidFill>
                  <a:srgbClr val="727375"/>
                </a:solidFill>
                <a:latin typeface="Arial"/>
              </a:rPr>
              <a:t>AVP, HSBC — former mid-day meal beneficiary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108960" y="4809744"/>
            <a:ext cx="5669279" cy="10972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108960" y="4882896"/>
            <a:ext cx="56692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1B3E6E"/>
                </a:solidFill>
                <a:latin typeface="Arial"/>
              </a:rPr>
              <a:t>Recognition:  </a:t>
            </a:r>
            <a:r>
              <a:rPr sz="720" b="0" i="0">
                <a:solidFill>
                  <a:srgbClr val="333333"/>
                </a:solidFill>
                <a:latin typeface="Arial"/>
              </a:rPr>
              <a:t>Padma Shri (2016) · world's largest school-lunch programme · 4-billionth meal with Hon'ble PM · UK PM Sunak's kitchen visit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08960" y="5376672"/>
            <a:ext cx="899160" cy="384048"/>
          </a:xfrm>
          <a:prstGeom prst="rect">
            <a:avLst/>
          </a:prstGeom>
          <a:solidFill>
            <a:srgbClr val="F2F2F2"/>
          </a:solidFill>
          <a:ln w="12700">
            <a:solidFill>
              <a:srgbClr val="7273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63824" y="5376672"/>
            <a:ext cx="78943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727375"/>
                </a:solidFill>
                <a:latin typeface="Arial"/>
              </a:rPr>
              <a:t>Infosys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062984" y="5376672"/>
            <a:ext cx="899160" cy="384048"/>
          </a:xfrm>
          <a:prstGeom prst="rect">
            <a:avLst/>
          </a:prstGeom>
          <a:solidFill>
            <a:srgbClr val="F2F2F2"/>
          </a:solidFill>
          <a:ln w="12700">
            <a:solidFill>
              <a:srgbClr val="7273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7847" y="5376672"/>
            <a:ext cx="78943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727375"/>
                </a:solidFill>
                <a:latin typeface="Arial"/>
              </a:rPr>
              <a:t>TCS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17008" y="5376672"/>
            <a:ext cx="899160" cy="384048"/>
          </a:xfrm>
          <a:prstGeom prst="rect">
            <a:avLst/>
          </a:prstGeom>
          <a:solidFill>
            <a:srgbClr val="F2F2F2"/>
          </a:solidFill>
          <a:ln w="12700">
            <a:solidFill>
              <a:srgbClr val="7273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71871" y="5376672"/>
            <a:ext cx="78943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727375"/>
                </a:solidFill>
                <a:latin typeface="Arial"/>
              </a:rPr>
              <a:t>HDFC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71031" y="5376672"/>
            <a:ext cx="899160" cy="384048"/>
          </a:xfrm>
          <a:prstGeom prst="rect">
            <a:avLst/>
          </a:prstGeom>
          <a:solidFill>
            <a:srgbClr val="F2F2F2"/>
          </a:solidFill>
          <a:ln w="12700">
            <a:solidFill>
              <a:srgbClr val="7273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25895" y="5376672"/>
            <a:ext cx="78943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727375"/>
                </a:solidFill>
                <a:latin typeface="Arial"/>
              </a:rPr>
              <a:t>Amazon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925055" y="5376672"/>
            <a:ext cx="899160" cy="384048"/>
          </a:xfrm>
          <a:prstGeom prst="rect">
            <a:avLst/>
          </a:prstGeom>
          <a:solidFill>
            <a:srgbClr val="F2F2F2"/>
          </a:solidFill>
          <a:ln w="12700">
            <a:solidFill>
              <a:srgbClr val="7273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79919" y="5376672"/>
            <a:ext cx="78943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727375"/>
                </a:solidFill>
                <a:latin typeface="Arial"/>
              </a:rPr>
              <a:t>Airbus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879079" y="5376672"/>
            <a:ext cx="899160" cy="384048"/>
          </a:xfrm>
          <a:prstGeom prst="rect">
            <a:avLst/>
          </a:prstGeom>
          <a:solidFill>
            <a:srgbClr val="F2F2F2"/>
          </a:solidFill>
          <a:ln w="12700">
            <a:solidFill>
              <a:srgbClr val="7273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933943" y="5376672"/>
            <a:ext cx="78943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727375"/>
                </a:solidFill>
                <a:latin typeface="Arial"/>
              </a:rPr>
              <a:t>SBI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8412480" cy="23774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8412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B3E6E"/>
                </a:solidFill>
                <a:latin typeface="Georgia"/>
              </a:rPr>
              <a:t>Conclusion — why Akshaya Patra, and why this proposal wins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22960"/>
            <a:ext cx="84124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33333"/>
                </a:solidFill>
                <a:latin typeface="Arial"/>
              </a:rPr>
              <a:t>A proven engine of social mobility, a grant that compounds instead of depletes, and a partnership only Goldman Sachs can power.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071616"/>
            <a:ext cx="8138159" cy="36576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071616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B3E6E"/>
                </a:solidFill>
                <a:latin typeface="Georgia"/>
              </a:rPr>
              <a:t>$250k that doesn't feed children for a year — it upgrades the engine that feeds them forever.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1280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Goldman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Sachs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6528816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727375"/>
                </a:solidFill>
                <a:latin typeface="Arial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54864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727375"/>
                </a:solidFill>
                <a:latin typeface="Arial"/>
              </a:rPr>
              <a:t>LAYOUT OPTION E — combined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389888"/>
            <a:ext cx="2331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B3E6E"/>
                </a:solidFill>
                <a:latin typeface="Arial"/>
              </a:rPr>
              <a:t>THE FUND &amp; ITS IMPACT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645920"/>
            <a:ext cx="2331720" cy="12801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1810512"/>
            <a:ext cx="233172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2300" b="1" i="0">
                <a:solidFill>
                  <a:srgbClr val="1B3E6E"/>
                </a:solidFill>
                <a:latin typeface="Georgia"/>
              </a:rPr>
              <a:t>$250k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727375"/>
                </a:solidFill>
                <a:latin typeface="Arial"/>
              </a:rPr>
              <a:t>one-time grant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67512" y="2505456"/>
            <a:ext cx="0" cy="256032"/>
          </a:xfrm>
          <a:prstGeom prst="line">
            <a:avLst/>
          </a:prstGeom>
          <a:ln w="12700">
            <a:solidFill>
              <a:srgbClr val="BFBFBF"/>
            </a:solidFill>
            <a:prstDash val="sys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365760" y="2852928"/>
            <a:ext cx="233172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398025"/>
                </a:solidFill>
                <a:latin typeface="Georgia"/>
              </a:rPr>
              <a:t>$310k / yr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727375"/>
                </a:solidFill>
                <a:latin typeface="Arial"/>
              </a:rPr>
              <a:t>returned in audited savings — every single year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67512" y="3547872"/>
            <a:ext cx="0" cy="256032"/>
          </a:xfrm>
          <a:prstGeom prst="line">
            <a:avLst/>
          </a:prstGeom>
          <a:ln w="12700">
            <a:solidFill>
              <a:srgbClr val="BFBFBF"/>
            </a:solidFill>
            <a:prstDash val="sys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65760" y="3895344"/>
            <a:ext cx="233172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1B3E6E"/>
                </a:solidFill>
                <a:latin typeface="Georgia"/>
              </a:rPr>
              <a:t>+105,000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727375"/>
                </a:solidFill>
                <a:latin typeface="Arial"/>
              </a:rPr>
              <a:t>children fed per year at zero extra cost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67512" y="4590288"/>
            <a:ext cx="0" cy="256032"/>
          </a:xfrm>
          <a:prstGeom prst="line">
            <a:avLst/>
          </a:prstGeom>
          <a:ln w="12700">
            <a:solidFill>
              <a:srgbClr val="BFBFBF"/>
            </a:solidFill>
            <a:prstDash val="sys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65760" y="4937759"/>
            <a:ext cx="233172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E08A1E"/>
                </a:solidFill>
                <a:latin typeface="Georgia"/>
              </a:rPr>
              <a:t>&lt; 10 months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727375"/>
                </a:solidFill>
                <a:latin typeface="Arial"/>
              </a:rPr>
              <a:t>payback on the full grant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88920" y="1417320"/>
            <a:ext cx="10972" cy="448056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063240" y="1399032"/>
            <a:ext cx="54864" cy="182880"/>
          </a:xfrm>
          <a:prstGeom prst="rect">
            <a:avLst/>
          </a:prstGeom>
          <a:solidFill>
            <a:srgbClr val="3B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09544" y="1371600"/>
            <a:ext cx="556869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3E6E"/>
                </a:solidFill>
                <a:latin typeface="Arial"/>
              </a:rPr>
              <a:t>The partnership equation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063240" y="1645920"/>
            <a:ext cx="5715000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009644" y="1755648"/>
            <a:ext cx="969264" cy="822960"/>
          </a:xfrm>
          <a:prstGeom prst="ellipse">
            <a:avLst/>
          </a:prstGeom>
          <a:solidFill>
            <a:srgbClr val="EEF3F9"/>
          </a:solidFill>
          <a:ln w="13970">
            <a:solidFill>
              <a:srgbClr val="1B3E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09644" y="1856231"/>
            <a:ext cx="969264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1B3E6E"/>
                </a:solidFill>
                <a:latin typeface="Arial"/>
              </a:rPr>
              <a:t>GS $250k
catalytic
capital</a:t>
            </a:r>
          </a:p>
        </p:txBody>
      </p:sp>
      <p:sp>
        <p:nvSpPr>
          <p:cNvPr id="25" name="Plus 24"/>
          <p:cNvSpPr/>
          <p:nvPr/>
        </p:nvSpPr>
        <p:spPr>
          <a:xfrm>
            <a:off x="5088636" y="2057400"/>
            <a:ext cx="237744" cy="219456"/>
          </a:xfrm>
          <a:prstGeom prst="mathPlus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436108" y="1755648"/>
            <a:ext cx="969264" cy="822960"/>
          </a:xfrm>
          <a:prstGeom prst="ellipse">
            <a:avLst/>
          </a:prstGeom>
          <a:solidFill>
            <a:srgbClr val="FDF6E0"/>
          </a:solidFill>
          <a:ln w="13970">
            <a:solidFill>
              <a:srgbClr val="E08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36108" y="1856231"/>
            <a:ext cx="969264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E08A1E"/>
                </a:solidFill>
                <a:latin typeface="Arial"/>
              </a:rPr>
              <a:t>AP's 2.3M
meals-a-day
engine</a:t>
            </a:r>
          </a:p>
        </p:txBody>
      </p:sp>
      <p:sp>
        <p:nvSpPr>
          <p:cNvPr id="28" name="Equal 27"/>
          <p:cNvSpPr/>
          <p:nvPr/>
        </p:nvSpPr>
        <p:spPr>
          <a:xfrm>
            <a:off x="6515100" y="2057400"/>
            <a:ext cx="237744" cy="219456"/>
          </a:xfrm>
          <a:prstGeom prst="mathEqual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862572" y="1755648"/>
            <a:ext cx="969264" cy="822960"/>
          </a:xfrm>
          <a:prstGeom prst="ellipse">
            <a:avLst/>
          </a:prstGeom>
          <a:solidFill>
            <a:srgbClr val="EAF3E6"/>
          </a:solidFill>
          <a:ln w="13970">
            <a:solidFill>
              <a:srgbClr val="3980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62572" y="1856231"/>
            <a:ext cx="969264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398025"/>
                </a:solidFill>
                <a:latin typeface="Arial"/>
              </a:rPr>
              <a:t>Impact that
compounds
yearly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063240" y="2633472"/>
            <a:ext cx="5715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1">
                <a:solidFill>
                  <a:srgbClr val="727375"/>
                </a:solidFill>
                <a:latin typeface="Arial"/>
              </a:rPr>
              <a:t>One-time capital → permanent capability → recurring savings → more children in school, every year after Year 1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063240" y="3063239"/>
            <a:ext cx="54864" cy="182880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209544" y="3035808"/>
            <a:ext cx="556869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3E6E"/>
                </a:solidFill>
                <a:latin typeface="Arial"/>
              </a:rPr>
              <a:t>Why the GS grant stands out here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063240" y="3310127"/>
            <a:ext cx="5715000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063240" y="3401568"/>
            <a:ext cx="57150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398025"/>
                </a:solidFill>
                <a:latin typeface="Arial"/>
              </a:rPr>
              <a:t>✓  Structural, not sustenance:  </a:t>
            </a:r>
            <a:r>
              <a:rPr sz="800" b="0" i="0">
                <a:solidFill>
                  <a:srgbClr val="333333"/>
                </a:solidFill>
                <a:latin typeface="Arial"/>
              </a:rPr>
              <a:t>others fund meals for a year; GS funds the technology that makes every future meal cheaper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063240" y="3753611"/>
            <a:ext cx="57150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398025"/>
                </a:solidFill>
                <a:latin typeface="Arial"/>
              </a:rPr>
              <a:t>✓  Plays to GS DNA:  </a:t>
            </a:r>
            <a:r>
              <a:rPr sz="800" b="0" i="0">
                <a:solidFill>
                  <a:srgbClr val="333333"/>
                </a:solidFill>
                <a:latin typeface="Arial"/>
              </a:rPr>
              <a:t>forecasting, optimisation &amp; risk controls — GS engineering mentors the build pro bono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063240" y="4105655"/>
            <a:ext cx="57150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398025"/>
                </a:solidFill>
                <a:latin typeface="Arial"/>
              </a:rPr>
              <a:t>✓  Measurable ROI:  </a:t>
            </a:r>
            <a:r>
              <a:rPr sz="800" b="0" i="0">
                <a:solidFill>
                  <a:srgbClr val="333333"/>
                </a:solidFill>
                <a:latin typeface="Arial"/>
              </a:rPr>
              <a:t>$310k/yr audited savings; KPI dashboard shared quarterly with GS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063240" y="4457699"/>
            <a:ext cx="57150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398025"/>
                </a:solidFill>
                <a:latin typeface="Arial"/>
              </a:rPr>
              <a:t>✓  Scalable blueprint:  </a:t>
            </a:r>
            <a:r>
              <a:rPr sz="800" b="0" i="0">
                <a:solidFill>
                  <a:srgbClr val="333333"/>
                </a:solidFill>
                <a:latin typeface="Arial"/>
              </a:rPr>
              <a:t>proven once, extends to school-feeding programmes across South Asia &amp; Africa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063240" y="4937759"/>
            <a:ext cx="5715000" cy="10972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063240" y="5029199"/>
            <a:ext cx="658368" cy="841248"/>
          </a:xfrm>
          <a:prstGeom prst="rect">
            <a:avLst/>
          </a:prstGeom>
          <a:solidFill>
            <a:srgbClr val="F2F2F2"/>
          </a:solidFill>
          <a:ln w="12700">
            <a:solidFill>
              <a:srgbClr val="7273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118104" y="5029199"/>
            <a:ext cx="54864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727375"/>
                </a:solidFill>
                <a:latin typeface="Arial"/>
              </a:rPr>
              <a:t>📷
Krishna
Kumar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49624" y="5047487"/>
            <a:ext cx="2212848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20" b="0" i="1">
                <a:solidFill>
                  <a:srgbClr val="333333"/>
                </a:solidFill>
                <a:latin typeface="Arial"/>
              </a:rPr>
              <a:t>“The mid-day meal was the reason I stayed in school. Today I manage portfolios instead of an empty stomach.”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1B3E6E"/>
                </a:solidFill>
                <a:latin typeface="Arial"/>
              </a:rPr>
              <a:t>— Krishna Kumar, </a:t>
            </a:r>
            <a:r>
              <a:rPr sz="680" b="0" i="0">
                <a:solidFill>
                  <a:srgbClr val="727375"/>
                </a:solidFill>
                <a:latin typeface="Arial"/>
              </a:rPr>
              <a:t>AVP, HSBC — former beneficiary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227064" y="5029199"/>
            <a:ext cx="10972" cy="86868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373368" y="5029199"/>
            <a:ext cx="24048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B3E6E"/>
                </a:solidFill>
                <a:latin typeface="Arial"/>
              </a:rPr>
              <a:t>Trusted by leading corporates </a:t>
            </a:r>
            <a:r>
              <a:rPr sz="819" b="0" i="0">
                <a:solidFill>
                  <a:srgbClr val="727375"/>
                </a:solidFill>
                <a:latin typeface="Arial"/>
              </a:rPr>
              <a:t>(+200 more)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73368" y="5266943"/>
            <a:ext cx="765047" cy="292608"/>
          </a:xfrm>
          <a:prstGeom prst="rect">
            <a:avLst/>
          </a:prstGeom>
          <a:solidFill>
            <a:srgbClr val="F2F2F2"/>
          </a:solidFill>
          <a:ln w="12700">
            <a:solidFill>
              <a:srgbClr val="7273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28232" y="5266943"/>
            <a:ext cx="655319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727375"/>
                </a:solidFill>
                <a:latin typeface="Arial"/>
              </a:rPr>
              <a:t>Infosys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193280" y="5266943"/>
            <a:ext cx="765047" cy="292608"/>
          </a:xfrm>
          <a:prstGeom prst="rect">
            <a:avLst/>
          </a:prstGeom>
          <a:solidFill>
            <a:srgbClr val="F2F2F2"/>
          </a:solidFill>
          <a:ln w="12700">
            <a:solidFill>
              <a:srgbClr val="7273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248144" y="5266943"/>
            <a:ext cx="655319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727375"/>
                </a:solidFill>
                <a:latin typeface="Arial"/>
              </a:rPr>
              <a:t>TCS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013192" y="5266943"/>
            <a:ext cx="765047" cy="292608"/>
          </a:xfrm>
          <a:prstGeom prst="rect">
            <a:avLst/>
          </a:prstGeom>
          <a:solidFill>
            <a:srgbClr val="F2F2F2"/>
          </a:solidFill>
          <a:ln w="12700">
            <a:solidFill>
              <a:srgbClr val="7273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068056" y="5266943"/>
            <a:ext cx="655319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727375"/>
                </a:solidFill>
                <a:latin typeface="Arial"/>
              </a:rPr>
              <a:t>HDFC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373368" y="5614415"/>
            <a:ext cx="765047" cy="292608"/>
          </a:xfrm>
          <a:prstGeom prst="rect">
            <a:avLst/>
          </a:prstGeom>
          <a:solidFill>
            <a:srgbClr val="F2F2F2"/>
          </a:solidFill>
          <a:ln w="12700">
            <a:solidFill>
              <a:srgbClr val="7273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28232" y="5614415"/>
            <a:ext cx="655319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727375"/>
                </a:solidFill>
                <a:latin typeface="Arial"/>
              </a:rPr>
              <a:t>Amazon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193280" y="5614415"/>
            <a:ext cx="765047" cy="292608"/>
          </a:xfrm>
          <a:prstGeom prst="rect">
            <a:avLst/>
          </a:prstGeom>
          <a:solidFill>
            <a:srgbClr val="F2F2F2"/>
          </a:solidFill>
          <a:ln w="12700">
            <a:solidFill>
              <a:srgbClr val="7273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248144" y="5614415"/>
            <a:ext cx="655319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727375"/>
                </a:solidFill>
                <a:latin typeface="Arial"/>
              </a:rPr>
              <a:t>Airbus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013192" y="5614415"/>
            <a:ext cx="765047" cy="292608"/>
          </a:xfrm>
          <a:prstGeom prst="rect">
            <a:avLst/>
          </a:prstGeom>
          <a:solidFill>
            <a:srgbClr val="F2F2F2"/>
          </a:solidFill>
          <a:ln w="12700">
            <a:solidFill>
              <a:srgbClr val="7273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068056" y="5614415"/>
            <a:ext cx="655319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727375"/>
                </a:solidFill>
                <a:latin typeface="Arial"/>
              </a:rPr>
              <a:t>SBI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