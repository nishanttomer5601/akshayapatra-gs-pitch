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GS funding</c:v>
                </c:pt>
              </c:strCache>
            </c:strRef>
          </c:tx>
          <c:spPr>
            <a:solidFill>
              <a:srgbClr val="E08A1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</c:v>
                </c:pt>
                <c:pt idx="1">
                  <c:v>11.4</c:v>
                </c:pt>
                <c:pt idx="2">
                  <c:v>12.0</c:v>
                </c:pt>
                <c:pt idx="3">
                  <c:v>12.6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GS funding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9.4</c:v>
                </c:pt>
                <c:pt idx="1">
                  <c:v>9.2</c:v>
                </c:pt>
                <c:pt idx="2">
                  <c:v>9.1</c:v>
                </c:pt>
                <c:pt idx="3">
                  <c:v>9.0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0&quot;M&quot;" sourceLinked="0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0.0015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GS funding</c:v>
                </c:pt>
              </c:strCache>
            </c:strRef>
          </c:tx>
          <c:spPr>
            <a:solidFill>
              <a:srgbClr val="E08A1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</c:v>
                </c:pt>
                <c:pt idx="1">
                  <c:v>11.4</c:v>
                </c:pt>
                <c:pt idx="2">
                  <c:v>12.0</c:v>
                </c:pt>
                <c:pt idx="3">
                  <c:v>12.6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GS funding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9.4</c:v>
                </c:pt>
                <c:pt idx="1">
                  <c:v>9.2</c:v>
                </c:pt>
                <c:pt idx="2">
                  <c:v>9.1</c:v>
                </c:pt>
                <c:pt idx="3">
                  <c:v>9.0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0&quot;M&quot;" sourceLinked="0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highlighted in the supply chain, the grant that closes them, and the solution we build for each — all in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blind to attendance swings, exams &amp; holidays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at mandi peak prices; no price intelligence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0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8–10% meals over-produced · +12% spot premium [dummy]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late vans mean children stay hungry all day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00" b="0" i="0">
                <a:solidFill>
                  <a:srgbClr val="333333"/>
                </a:solidFill>
                <a:latin typeface="Arial"/>
              </a:rPr>
              <a:t>; adulteration &amp; diversion risk en route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6.2% miss the lunch window · $35k/yr shrinkage [dummy]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ML demand-forecasting &amp; procurement planning across all 68 kitchens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predicts school-level attendance; auto-generates daily indents &amp; forward buying schedules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~70% less food waste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$230k saved / yr [dummy]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AI route optimisation + telematics (GPS, cameras, RFID) + geofenced smart locks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drops sequenced to each school's lunch bell; doors unlock only near a registered school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 vans freed per hub redeployed to reach new schools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99%+ on-time · −18% fleet km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$80k saved / yr [dummy]</a:t>
            </a:r>
          </a:p>
        </p:txBody>
      </p:sp>
      <p:sp>
        <p:nvSpPr>
          <p:cNvPr id="25" name="Oval 24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520440" y="483717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8600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727375"/>
                </a:solidFill>
                <a:latin typeface="Arial"/>
              </a:rPr>
              <a:t>60 / 40 — weighted to the costlier gap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the AI-enabled planning &amp; procurement build ($150k)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Connecting real-time demand signals to kitchen production and procurement — the technology that closes Gap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“Feeding more children with the same rupee” — AI plus GS capital makes it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35024"/>
            <a:ext cx="4133087" cy="27432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1 — Predictive Demand Forecasting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5152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35024"/>
            <a:ext cx="4133087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2 — Spatial-Temporal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Predicts exact meal &amp; ingredient needs per centre by ingesting: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Attendance &amp; enrolment trends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estimate how many meals each centre should prepare daily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Holiday calendars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capture local demand spikes or dips before production quantities are finalised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Menu consumption history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converts expected meals into ingredient quantities for key staples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Weather signals &amp; feedback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continuously refine the next centre-level 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Decides when and where to buy each commodity to minimise total landed cost: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Seasonal price troughs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when each commodity should be bought before prices rise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Surplus-region signals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where each commodity can be sourced at lower landed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Logistics, handling &amp; storage costs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included in every sourcing recommendation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Quality grades &amp; shelf-life rules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locked into the final buying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44951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The self-learning operations loop — sharper every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75103" y="3785615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75103" y="380390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 · INGEST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7943" y="34381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pulls live prices,
weather &amp; attendance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820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820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 · FORECAST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3660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ingredient-level
demand per centre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5080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05080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 · OPTIMIZE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7920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computes when &amp;
where to buy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5127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45127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 · RECOMMEND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7967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actionable buying
sheet for kitchens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9387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A64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9387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 · LEARN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2227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outcome feedback
trains the model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17220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03090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294711" y="5364980"/>
            <a:ext cx="275185" cy="0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174867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924758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29383" y="45994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↻  runs daily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45152" y="3044951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91456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Rice procurement cost — with vs. without GS funding ($M)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45152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4645152" y="3364991"/>
          <a:ext cx="4133087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4645152" y="5212079"/>
            <a:ext cx="4133087" cy="621792"/>
          </a:xfrm>
          <a:prstGeom prst="roundRect">
            <a:avLst>
              <a:gd name="adj" fmla="val 1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5248656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CUMULATIVE 2026–29 IMPACT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~$10.1M saved  |  21.6% reduction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FFFFFF"/>
                </a:solidFill>
                <a:latin typeface="Arial"/>
              </a:rPr>
              <a:t>freed capital feeds more children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2.35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in India shall be deprived of education because of hunger” — 5 billion meals over 25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1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6492240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Team: Nishant Tomer · Pratham Goenka · Aadithya Muralidharan · Somya Sethi · Mohajit Neog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Founded in 2000 serving 1,500 children, </a:t>
            </a:r>
            <a:r>
              <a:rPr sz="800" b="0" i="0">
                <a:solidFill>
                  <a:srgbClr val="FFFFFF"/>
                </a:solidFill>
                <a:latin typeface="Arial"/>
              </a:rPr>
              <a:t>Akshaya Patra is a Government-partnered PPP that has grown into the world's largest NGO-run school meal programme — </a:t>
            </a:r>
            <a:r>
              <a:rPr sz="800" b="1" i="0">
                <a:solidFill>
                  <a:srgbClr val="FFFFFF"/>
                </a:solidFill>
                <a:latin typeface="Arial"/>
              </a:rPr>
              <a:t>5 billion cumulative meals over 25 years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 milestone celebrated with the Hon'ble President of India in March 2026.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serve mid-day meals to 3 million children every day and achieve 3 million servings of morning nutrition.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that TAPF itself ranks as its top technology priorities, where $250k unlocks compounding year-on-year impact.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25 yrs of proven delivery   ✓ Govt-audited PPP   ✓ Tech-forward ops (ERP, OS1 dispatch, kitchen automation)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5687568"/>
            <a:ext cx="4041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Mar 2026: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5-billionth meal celebrated by the Hon'ble President of India  ·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Apr 2026: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80th kitchen opens in Pune (Deutsche Bank CSR)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rice for 1,000 students in 15 min; 40,000 rotis/hour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1,100+ vehicles move 2 lakh+ insulated vessels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economics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funds ₹8.56 of every ₹17 meal; donors bridge ₹6.56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lunch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morning nutrition, school rejuvenation, scholarships (NEST)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2.35M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80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kitchens across
81 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16+3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union territories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25,000+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opportunity — India context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0288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of India's 130M govt-
school children reached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9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8.2%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secondary dropout
rate (UDISE+)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8271" y="5065776"/>
            <a:ext cx="10241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102/123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India, Global Hunger
Index 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2127" y="5084064"/>
            <a:ext cx="896112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084064"/>
            <a:ext cx="78638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
at mid-day meal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sit exactly where TAPF's own leadership says they are — its top-ranked technology priorities, confirmed in writing.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both at the top of TAPF's own priority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3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1792224"/>
            <a:ext cx="2788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Periodic, manual planning</a:t>
            </a:r>
            <a:r>
              <a:rPr sz="780" b="0" i="0">
                <a:solidFill>
                  <a:srgbClr val="333333"/>
                </a:solidFill>
                <a:latin typeface="Arial"/>
              </a:rPr>
              <a:t> vs demand that shifts daily — weather, off-season supply, attendance swings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buffer day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a planning miss is a same-day miss for children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Complexity: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₹450 Cr+ food spend · 700 items · 655 vendors · 78 buyers, 145 approvers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Today: 4–5.6% monthly vegetable wastage · spot buys above seasonal price troughs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1792224"/>
            <a:ext cx="2788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real-time vehicle location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schools phone kitchens to confirm deliveries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No maintenance or driver-safety data</a:t>
            </a:r>
            <a:r>
              <a:rPr sz="780" b="0" i="0">
                <a:solidFill>
                  <a:srgbClr val="333333"/>
                </a:solidFill>
                <a:latin typeface="Arial"/>
              </a:rPr>
              <a:t> — issues surface only after incidents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4-hour cook-to-consume window</a:t>
            </a:r>
            <a:r>
              <a:rPr sz="780" b="0" i="0">
                <a:solidFill>
                  <a:srgbClr val="333333"/>
                </a:solidFill>
                <a:latin typeface="Arial"/>
              </a:rPr>
              <a:t> at 65°C across ~70 km routes — zero slack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TAPF's #1 strategic headwind: last-mile traceability &amp; food-safety 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demand forecasting &amp; procurement planning across all 80 kitchens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attendance, calendars, menus &amp; weather → daily indents; buy-timing tuned to seasonal price troughs across 655 vendors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cuts veg wastage toward ~1–2%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savings recur every year (team est.)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AIS-140 GPS + BLE door sensors fleet-wide; geofenced delivery confirmation; smart locks on high-risk routes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accelerates TAPF's own in-house blueprint (Traccar + DOUP) — auto delivery confirmation to schools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on-time within the 4-hr window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→  maintenance &amp; driver-safety telemetry included</a:t>
            </a:r>
          </a:p>
        </p:txBody>
      </p:sp>
      <p:sp>
        <p:nvSpPr>
          <p:cNvPr id="27" name="Oval 26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3406140" y="483717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6140" y="4860036"/>
            <a:ext cx="23317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1">
                <a:solidFill>
                  <a:srgbClr val="727375"/>
                </a:solidFill>
                <a:latin typeface="Arial"/>
              </a:rPr>
              <a:t>both gaps: TAPF's self-ranked top priorities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the AI-enabled planning &amp; procurement build ($150k)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Connecting real-time demand signals to kitchen production and procurement — the technology that closes Gap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“Feeding more children with the same rupee” — AI plus GS capital makes it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4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35024"/>
            <a:ext cx="4133087" cy="170078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35024"/>
            <a:ext cx="4133087" cy="27432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1 — Predictive Demand Forecasting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5152" y="1335024"/>
            <a:ext cx="4133087" cy="170078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335024"/>
            <a:ext cx="4133087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2 — Spatial-Temporal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1700784"/>
            <a:ext cx="3877056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727375"/>
                </a:solidFill>
                <a:latin typeface="Arial"/>
              </a:rPr>
              <a:t>Predicts exact meal &amp; ingredient needs per centre by ingesting: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Attendance &amp; enrolment trends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estimate how many meals each centre should prepare daily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Holiday calendars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capture local demand spikes or dips before production is finalised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Menu consumption history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converts expected meals into ingredient quantities for key staples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Weather &amp; consumption feedback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continuously refine the next centre-level forecast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Perishables (veg, dairy) </a:t>
            </a:r>
            <a:r>
              <a:rPr sz="740" b="0" i="0">
                <a:solidFill>
                  <a:srgbClr val="333333"/>
                </a:solidFill>
                <a:latin typeface="Arial"/>
              </a:rPr>
              <a:t>get shorter forecast cycles than staples (grains, dhals, oils)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700784"/>
            <a:ext cx="3877056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727375"/>
                </a:solidFill>
                <a:latin typeface="Arial"/>
              </a:rPr>
              <a:t>Decides when and where to buy each commodity to minimise total landed cost: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Seasonal price troughs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identify when each commodity should be bought before prices rise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Surplus-region signals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identify where each commodity can be sourced at lower landed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Logistics, handling &amp; storage costs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are included in every sourcing recommendation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Quality grades &amp; shelf-life rules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are locked into the final buying plan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33333"/>
                </a:solidFill>
                <a:latin typeface="Arial"/>
              </a:rPr>
              <a:t>•  Full procure-to-pay coverage </a:t>
            </a:r>
            <a:r>
              <a:rPr sz="740" b="0" i="0">
                <a:solidFill>
                  <a:srgbClr val="333333"/>
                </a:solidFill>
                <a:latin typeface="Arial"/>
              </a:rPr>
              <a:t>— requisition → PO → goods receipt → invoice → payment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Annual volumes:  </a:t>
            </a:r>
            <a:r>
              <a:rPr sz="740" b="0" i="0">
                <a:solidFill>
                  <a:srgbClr val="727375"/>
                </a:solidFill>
                <a:latin typeface="Arial"/>
              </a:rPr>
              <a:t>120 T vegetables · 55 T dhals · 20 T dairy · 18 T oils · 6 T spices — against ₹450 Cr+ annual food spend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741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46704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The self-learning operations loop — sharper every 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21024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75103" y="4023360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5103" y="404164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 · 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37943" y="3689604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pulls live prices,
weather &amp; attendance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18642" y="4490917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18642" y="4509205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 · FORECAST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1482" y="4888681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ingredient-level
demand per centre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2832" y="5247442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2832" y="526573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 · OPTIMIZE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5672" y="5645206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computes when &amp;
where to buy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7375" y="5247442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7375" y="526573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 · RECOMMEND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0215" y="5645206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actionable buying
sheet for kitchens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31565" y="4490917"/>
            <a:ext cx="914400" cy="329184"/>
          </a:xfrm>
          <a:prstGeom prst="roundRect">
            <a:avLst>
              <a:gd name="adj" fmla="val 30000"/>
            </a:avLst>
          </a:prstGeom>
          <a:solidFill>
            <a:srgbClr val="A64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31565" y="4509205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 · LEARN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4405" y="4888681"/>
            <a:ext cx="11887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outcome feedback
trains the model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99479" y="4280342"/>
            <a:ext cx="205932" cy="14961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991875" y="4938158"/>
            <a:ext cx="78659" cy="242088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305030" y="5494330"/>
            <a:ext cx="254547" cy="0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1794073" y="4938158"/>
            <a:ext cx="78659" cy="242088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59196" y="4280342"/>
            <a:ext cx="205932" cy="14961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9383" y="477316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↻  runs daily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45152" y="3374136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91456" y="3346704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Rice procurement cost — with vs. without GS funding ($M)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45152" y="3621024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4645152" y="3694176"/>
          <a:ext cx="4133087" cy="15361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4645152" y="5303520"/>
            <a:ext cx="4133087" cy="603504"/>
          </a:xfrm>
          <a:prstGeom prst="roundRect">
            <a:avLst>
              <a:gd name="adj" fmla="val 1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5340096"/>
            <a:ext cx="395020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CUMULATIVE 2026–29 IMPACT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~$10.1M saved  |  21.6% reduction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FFFFFF"/>
                </a:solidFill>
                <a:latin typeface="Arial"/>
              </a:rPr>
              <a:t>team estimate on TAPF's ₹450 Cr+ annual food spend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economics where every donor rupee is matched by government subsidy, and a grant that compounds.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54864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FINAL CONTENT — SLIDE 6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6547104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Source: The Akshaya Patra Foundation — official 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9222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one-time grant ≈ ₹2.1 Cr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239572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266090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398025"/>
                </a:solidFill>
                <a:latin typeface="Georgia"/>
              </a:rPr>
              <a:t>₹6.56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donor cost per meal — govt funds ₹8.56 of every ₹17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326440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352958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3E6E"/>
                </a:solidFill>
                <a:latin typeface="Georgia"/>
              </a:rPr>
              <a:t>₹1,500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feeds one child for a full year (232 school days)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7512" y="4133088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60" y="4398264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E08A1E"/>
                </a:solidFill>
                <a:latin typeface="Georgia"/>
              </a:rPr>
              <a:t>14,000+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27375"/>
                </a:solidFill>
                <a:latin typeface="Arial"/>
              </a:rPr>
              <a:t>children fed for a year by the grant alone — before savings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1417320"/>
            <a:ext cx="10972" cy="3447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6" name="Plus 25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2.35M
meals-a-day
engine</a:t>
            </a:r>
          </a:p>
        </p:txBody>
      </p:sp>
      <p:sp>
        <p:nvSpPr>
          <p:cNvPr id="29" name="Equal 28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63240" y="325526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TAPF's own words: restricted funds “deliver meals today” but cannot build “the systems behind every meal” — GS funds exactly those systems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362102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Co-designed priorities: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forecasting &amp; real-time fleet visibility are TAPF's self-declared top tech gaps; logistics tech ranked #1 for grant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398678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forecasting, optimisation &amp; risk controls — with GS engineering mentorship pro bono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435254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audited savings against a ₹450 Cr+ procurement base; quarterly KPI dashboard to 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3240" y="4718304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98025"/>
                </a:solidFill>
                <a:latin typeface="Arial"/>
              </a:rPr>
              <a:t>✓  Compounding &amp; green: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savings recur yearly and support TAPF's 50% renewable-by-2030 and EV-fleet-by-2035 goals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0017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497433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24865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376672"/>
            <a:ext cx="502920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5376672"/>
            <a:ext cx="393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0" i="1">
                <a:solidFill>
                  <a:srgbClr val="333333"/>
                </a:solidFill>
                <a:latin typeface="Arial"/>
              </a:rPr>
              <a:t>“Everybody used to get enough food and it was very tasty.”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60" b="0" i="0">
                <a:solidFill>
                  <a:srgbClr val="727375"/>
                </a:solidFill>
                <a:latin typeface="Arial"/>
              </a:rPr>
              <a:t>AVP, HSBC — programme alumnus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01568" y="5376672"/>
            <a:ext cx="10972" cy="658367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547872" y="5376672"/>
            <a:ext cx="502920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02736" y="5376672"/>
            <a:ext cx="393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51376" y="5376672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90" b="0" i="1">
                <a:solidFill>
                  <a:srgbClr val="333333"/>
                </a:solidFill>
                <a:latin typeface="Arial"/>
              </a:rPr>
              <a:t>“My dream is to become financially strong so I can support others the way I was supported.”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— Suma, </a:t>
            </a:r>
            <a:r>
              <a:rPr sz="660" b="0" i="0">
                <a:solidFill>
                  <a:srgbClr val="727375"/>
                </a:solidFill>
                <a:latin typeface="Arial"/>
              </a:rPr>
              <a:t>Purchasing Analyst, Palo Alto Networks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10528" y="5376672"/>
            <a:ext cx="10972" cy="658367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2" y="5358384"/>
            <a:ext cx="212140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Recognition: </a:t>
            </a:r>
            <a:r>
              <a:rPr sz="660" b="0" i="0">
                <a:solidFill>
                  <a:srgbClr val="333333"/>
                </a:solidFill>
                <a:latin typeface="Arial"/>
              </a:rPr>
              <a:t>Padma Shri · Gandhi Peace Prize 2016 · BBC Global Champion · Nikkei Asia Award · CII Food Safety 2026 · HBS case study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B3E6E"/>
                </a:solidFill>
                <a:latin typeface="Arial"/>
              </a:rPr>
              <a:t>Partners incl.: </a:t>
            </a:r>
            <a:r>
              <a:rPr sz="660" b="0" i="0">
                <a:solidFill>
                  <a:srgbClr val="333333"/>
                </a:solidFill>
                <a:latin typeface="Arial"/>
              </a:rPr>
              <a:t>Deutsche Bank (Pune kitchen '26) · IOCL (solar) + leading corporates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