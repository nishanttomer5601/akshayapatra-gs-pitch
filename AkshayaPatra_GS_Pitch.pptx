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Unpacking the gaps highlighted in the supply chain: what is broken today, how the grant splits across them, and the solution we build for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3 —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5331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Procurement: demand is guesswork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3 days ahead — blind to attendance swings, exams &amp; holidays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19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24912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8–10% meals over-produced  ·  +12% paid on 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135331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Distribution: the last mile is blind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627632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1719072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daily losses add to operating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724912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6.2% deliveries miss lunch  ·  $35k/yr shrinkage [dummy]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2666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99923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the $250,000 grant splits across the two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73551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383279"/>
            <a:ext cx="4882895" cy="402336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85815" y="3383279"/>
            <a:ext cx="3255263" cy="402336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83279"/>
            <a:ext cx="48828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$150k — Gap 1: Procurement (60%)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3383279"/>
            <a:ext cx="325526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$100k — Gap 2: Distribution (40%)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13048"/>
            <a:ext cx="488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 costlier gap first — waste &amp; over-priced buying start at the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813048"/>
            <a:ext cx="32552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Then seal the last mile — on time, intact, untouched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400300" y="4023359"/>
            <a:ext cx="544068" cy="164593"/>
          </a:xfrm>
          <a:prstGeom prst="curvedConnector3">
            <a:avLst/>
          </a:prstGeom>
          <a:ln w="15875">
            <a:solidFill>
              <a:srgbClr val="1B3E6E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743700" y="4023359"/>
            <a:ext cx="269747" cy="164593"/>
          </a:xfrm>
          <a:prstGeom prst="curvedConnector3">
            <a:avLst/>
          </a:prstGeom>
          <a:ln w="15875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65760" y="4224528"/>
            <a:ext cx="4069080" cy="1664208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306824"/>
            <a:ext cx="381304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 ·  $150k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daily indents &amp; forward buying schedules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~70% less food waste  ·  est. $230k saved / yr [dummy]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09160" y="4224528"/>
            <a:ext cx="4069080" cy="1664208"/>
          </a:xfrm>
          <a:prstGeom prst="roundRect">
            <a:avLst>
              <a:gd name="adj" fmla="val 5000"/>
            </a:avLst>
          </a:prstGeom>
          <a:solidFill>
            <a:srgbClr val="EAF3E6"/>
          </a:solidFill>
          <a:ln w="1270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4306824"/>
            <a:ext cx="381304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398025"/>
                </a:solidFill>
                <a:latin typeface="Arial"/>
              </a:rPr>
              <a:t>SOLUTION 2 — “Last-Mile Shield”  ·  $100k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routes sequenced to each school's lunch bell; doors unlock only within 150 m of a registered school — diversion becomes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hardware amortises over 5+ yrs; 3 vans freed per hub reach new schools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99%+ on-time  ·  −18% fleet km  ·  est. $80k saved / yr [dummy]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highlighted in the supply chain, the grant that closes them, and the solution we build for each — all in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3 — v3 (pie quadrant)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blind to attendance swings, exams &amp; holidays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at mandi peak prices; no price intelligence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0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8–10% meals over-produced · +12% spot premium [dummy]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late vans mean children stay hungry all day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00" b="0" i="0">
                <a:solidFill>
                  <a:srgbClr val="333333"/>
                </a:solidFill>
                <a:latin typeface="Arial"/>
              </a:rPr>
              <a:t>; adulteration &amp; diversion risk en route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6.2% miss the lunch window · $35k/yr shrinkage [dummy]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ML demand-forecasting &amp; procurement planning across all 68 kitchens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predicts school-level attendance; auto-generates daily indents &amp; forward buying schedules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~70% less food waste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AI route optimisation + telematics (GPS, cameras, RFID) + geofenced smart locks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drops sequenced to each school's lunch bell; doors unlock only near a registered school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 vans freed per hub redeployed to reach new schools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99%+ on-time · −18% fleet km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$80k saved / yr [dummy]</a:t>
            </a:r>
          </a:p>
        </p:txBody>
      </p:sp>
      <p:sp>
        <p:nvSpPr>
          <p:cNvPr id="26" name="Oval 25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3520440" y="483717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8600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727375"/>
                </a:solidFill>
                <a:latin typeface="Arial"/>
              </a:rPr>
              <a:t>60 / 40 — weighted to the costlier gap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